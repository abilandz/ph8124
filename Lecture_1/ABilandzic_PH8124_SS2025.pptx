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88" r:id="rId1"/>
  </p:sldMasterIdLst>
  <p:notesMasterIdLst>
    <p:notesMasterId r:id="rId38"/>
  </p:notesMasterIdLst>
  <p:handoutMasterIdLst>
    <p:handoutMasterId r:id="rId39"/>
  </p:handoutMasterIdLst>
  <p:sldIdLst>
    <p:sldId id="785" r:id="rId2"/>
    <p:sldId id="1160" r:id="rId3"/>
    <p:sldId id="1163" r:id="rId4"/>
    <p:sldId id="1250" r:id="rId5"/>
    <p:sldId id="1255" r:id="rId6"/>
    <p:sldId id="1256" r:id="rId7"/>
    <p:sldId id="1164" r:id="rId8"/>
    <p:sldId id="1165" r:id="rId9"/>
    <p:sldId id="1167" r:id="rId10"/>
    <p:sldId id="1226" r:id="rId11"/>
    <p:sldId id="1243" r:id="rId12"/>
    <p:sldId id="1228" r:id="rId13"/>
    <p:sldId id="1225" r:id="rId14"/>
    <p:sldId id="1230" r:id="rId15"/>
    <p:sldId id="1231" r:id="rId16"/>
    <p:sldId id="1252" r:id="rId17"/>
    <p:sldId id="1258" r:id="rId18"/>
    <p:sldId id="1259" r:id="rId19"/>
    <p:sldId id="1232" r:id="rId20"/>
    <p:sldId id="1257" r:id="rId21"/>
    <p:sldId id="1247" r:id="rId22"/>
    <p:sldId id="1229" r:id="rId23"/>
    <p:sldId id="1233" r:id="rId24"/>
    <p:sldId id="1234" r:id="rId25"/>
    <p:sldId id="1238" r:id="rId26"/>
    <p:sldId id="1235" r:id="rId27"/>
    <p:sldId id="1236" r:id="rId28"/>
    <p:sldId id="1244" r:id="rId29"/>
    <p:sldId id="1253" r:id="rId30"/>
    <p:sldId id="1254" r:id="rId31"/>
    <p:sldId id="1227" r:id="rId32"/>
    <p:sldId id="1239" r:id="rId33"/>
    <p:sldId id="1240" r:id="rId34"/>
    <p:sldId id="1245" r:id="rId35"/>
    <p:sldId id="1242" r:id="rId36"/>
    <p:sldId id="1158" r:id="rId3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FF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35" autoAdjust="0"/>
    <p:restoredTop sz="84014" autoAdjust="0"/>
  </p:normalViewPr>
  <p:slideViewPr>
    <p:cSldViewPr>
      <p:cViewPr varScale="1">
        <p:scale>
          <a:sx n="74" d="100"/>
          <a:sy n="74" d="100"/>
        </p:scale>
        <p:origin x="1240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500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29CBCE-E64B-4074-AF48-7FACC033E4C9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C6A9F9-D224-445E-81A0-6F35CA4CE5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48221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57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757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57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417EDA05-EA9F-415A-8831-732C41A9BAF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4449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71A8D7B-0D86-4A44-803B-95714DFFD043}" type="slidenum">
              <a:rPr lang="en-US" smtClean="0"/>
              <a:pPr/>
              <a:t>1</a:t>
            </a:fld>
            <a:endParaRPr lang="en-US" dirty="0" smtClean="0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da-DK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104CDDBA-CA9C-4B9E-A469-01F6E1F88F1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65760" indent="-256032"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sz="2400"/>
            </a:lvl1pPr>
            <a:lvl2pPr marL="658368" indent="-246888">
              <a:buSzPct val="90000"/>
              <a:buFont typeface="Courier New" panose="02070309020205020404" pitchFamily="49" charset="0"/>
              <a:buChar char="o"/>
              <a:defRPr sz="2200"/>
            </a:lvl2pPr>
            <a:lvl3pPr>
              <a:defRPr sz="1800"/>
            </a:lvl3pPr>
            <a:lvl4pPr>
              <a:defRPr sz="1400"/>
            </a:lvl4pPr>
            <a:lvl5pPr>
              <a:defRPr sz="1400"/>
            </a:lvl5pPr>
          </a:lstStyle>
          <a:p>
            <a:pPr lvl="0" eaLnBrk="1" latinLnBrk="0" hangingPunct="1"/>
            <a:r>
              <a:rPr lang="en-US" dirty="0" smtClean="0"/>
              <a:t>Click to edit Master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6477000"/>
            <a:ext cx="762000" cy="365760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7" name="Picture 4" descr="http://www.cdtm.de/wp-content/uploads/tum-logo.gi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477000"/>
            <a:ext cx="533400" cy="280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9BDACA-D2CE-451A-85DD-854488BD987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889718-E319-434D-B5FC-0EEDDAC15CA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>
              <a:defRPr/>
            </a:pPr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>
              <a:defRPr/>
            </a:pPr>
            <a:fld id="{46AF5403-7044-4204-997E-5058D10977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pPr>
              <a:defRPr/>
            </a:pPr>
            <a:fld id="{A1F5EF5F-AF56-4F36-BDCD-7B3CD0D77B7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21D816-5B1B-4C44-B98A-C0E904DC0ED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8DF71C-C909-4954-B404-384DA610BED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2BF0E0-CCD0-405B-949F-4B99F361AF3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6F44AC-69C0-4E96-8A84-D71A1F0592C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165527-9FED-4606-9920-D2906CAFEE2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dirty="0" smtClean="0"/>
              <a:t>Click to edit Master text styles</a:t>
            </a:r>
          </a:p>
          <a:p>
            <a:pPr lvl="1" eaLnBrk="1" latinLnBrk="0" hangingPunct="1"/>
            <a:r>
              <a:rPr kumimoji="0" lang="en-US" dirty="0" smtClean="0"/>
              <a:t>Second level</a:t>
            </a:r>
          </a:p>
          <a:p>
            <a:pPr lvl="2" eaLnBrk="1" latinLnBrk="0" hangingPunct="1"/>
            <a:r>
              <a:rPr kumimoji="0" lang="en-US" dirty="0" smtClean="0"/>
              <a:t>Third level</a:t>
            </a:r>
          </a:p>
          <a:p>
            <a:pPr lvl="3" eaLnBrk="1" latinLnBrk="0" hangingPunct="1"/>
            <a:r>
              <a:rPr kumimoji="0" lang="en-US" dirty="0" smtClean="0"/>
              <a:t>Fourth level</a:t>
            </a:r>
          </a:p>
          <a:p>
            <a:pPr lvl="4" eaLnBrk="1" latinLnBrk="0" hangingPunct="1"/>
            <a:r>
              <a:rPr kumimoji="0" lang="en-US" dirty="0" smtClean="0"/>
              <a:t>Fifth level</a:t>
            </a:r>
            <a:endParaRPr kumimoji="0"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3373942E-D30E-48EE-AF6D-153445E4841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89" r:id="rId1"/>
    <p:sldLayoutId id="2147484290" r:id="rId2"/>
    <p:sldLayoutId id="2147484291" r:id="rId3"/>
    <p:sldLayoutId id="2147484292" r:id="rId4"/>
    <p:sldLayoutId id="2147484293" r:id="rId5"/>
    <p:sldLayoutId id="2147484294" r:id="rId6"/>
    <p:sldLayoutId id="2147484295" r:id="rId7"/>
    <p:sldLayoutId id="2147484296" r:id="rId8"/>
    <p:sldLayoutId id="2147484297" r:id="rId9"/>
    <p:sldLayoutId id="2147484298" r:id="rId10"/>
    <p:sldLayoutId id="2147484299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Helvetica" pitchFamily="34" charset="0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Helvetica" pitchFamily="34" charset="0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Helvetica" pitchFamily="34" charset="0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Helvetica" pitchFamily="34" charset="0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Helvetica" pitchFamily="34" charset="0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nav.tum.de/room/5101.EG.024" TargetMode="External"/><Relationship Id="rId2" Type="http://schemas.openxmlformats.org/officeDocument/2006/relationships/hyperlink" Target="https://academics.nat.tum.de/org/mh/details/mod/PH8124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nav.tum.de/room/5101.EG.101" TargetMode="External"/><Relationship Id="rId4" Type="http://schemas.openxmlformats.org/officeDocument/2006/relationships/hyperlink" Target="mailto:ante.bilandzic@tum.de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tum-conf.zoom.us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bilandz.gitbook.io/ss2025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bilandz.github.io/PH8124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root.cern/manual/" TargetMode="External"/><Relationship Id="rId2" Type="http://schemas.openxmlformats.org/officeDocument/2006/relationships/hyperlink" Target="http://tldp.org/LDP/abs/abs-guide.pdf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academics.nat.tum.de/en/msc/ph/nonphys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istrowatch.com/" TargetMode="External"/><Relationship Id="rId2" Type="http://schemas.openxmlformats.org/officeDocument/2006/relationships/hyperlink" Target="https://distrowatch.com/images/other/distro-family-tree.png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tty.org/" TargetMode="External"/><Relationship Id="rId2" Type="http://schemas.openxmlformats.org/officeDocument/2006/relationships/hyperlink" Target="https://learn.microsoft.com/en-gb/windows/wsl/about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://git.savannah.gnu.org/cgit/bash.git" TargetMode="External"/><Relationship Id="rId2" Type="http://schemas.openxmlformats.org/officeDocument/2006/relationships/hyperlink" Target="https://www.gnu.org/software/bash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www.tiobe.com/tiobe-index/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www.tiobe.com/tiobe-index/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root-forum.cern.ch/" TargetMode="External"/><Relationship Id="rId2" Type="http://schemas.openxmlformats.org/officeDocument/2006/relationships/hyperlink" Target="https://root.cern.ch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hyperlink" Target="https://github.com/root-project/root" TargetMode="Externa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81200"/>
            <a:ext cx="7772400" cy="1555750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en-US" sz="3800" dirty="0" smtClean="0"/>
              <a:t>Scientific computing in </a:t>
            </a:r>
            <a:br>
              <a:rPr lang="en-US" sz="3800" dirty="0" smtClean="0"/>
            </a:br>
            <a:r>
              <a:rPr lang="en-US" sz="3800" dirty="0" smtClean="0"/>
              <a:t>high-energy physics</a:t>
            </a:r>
            <a:br>
              <a:rPr lang="en-US" sz="3800" dirty="0" smtClean="0"/>
            </a:br>
            <a:r>
              <a:rPr lang="en-US" sz="2400" dirty="0" smtClean="0"/>
              <a:t>Lecture 1, </a:t>
            </a:r>
            <a:r>
              <a:rPr lang="en-DE" sz="2400" dirty="0" smtClean="0"/>
              <a:t>24.</a:t>
            </a:r>
            <a:r>
              <a:rPr lang="en-US" sz="2400" dirty="0" smtClean="0"/>
              <a:t>04.202</a:t>
            </a:r>
            <a:r>
              <a:rPr lang="en-DE" sz="2400" dirty="0" smtClean="0"/>
              <a:t>5</a:t>
            </a:r>
            <a:endParaRPr lang="en-US" sz="2400" dirty="0" smtClean="0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90592B-5274-44DA-8083-FD1DFDCEF72C}" type="slidenum">
              <a:rPr lang="en-US">
                <a:solidFill>
                  <a:schemeClr val="accent1"/>
                </a:solidFill>
              </a:rPr>
              <a:pPr>
                <a:defRPr/>
              </a:pPr>
              <a:t>1</a:t>
            </a:fld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838200" y="4114800"/>
            <a:ext cx="73152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/>
          <a:p>
            <a:pPr algn="ctr" eaLnBrk="1" hangingPunct="1">
              <a:defRPr/>
            </a:pPr>
            <a:r>
              <a:rPr lang="en-US" sz="2000" dirty="0">
                <a:latin typeface="Helvetica" pitchFamily="34" charset="0"/>
              </a:rPr>
              <a:t>Ante </a:t>
            </a:r>
            <a:r>
              <a:rPr lang="en-US" sz="2000" dirty="0" smtClean="0">
                <a:latin typeface="Helvetica" pitchFamily="34" charset="0"/>
              </a:rPr>
              <a:t>Bilandzic</a:t>
            </a:r>
          </a:p>
          <a:p>
            <a:pPr algn="ctr" eaLnBrk="1" hangingPunct="1">
              <a:defRPr/>
            </a:pPr>
            <a:r>
              <a:rPr lang="en-US" sz="2000" dirty="0">
                <a:latin typeface="Helvetica" pitchFamily="34" charset="0"/>
              </a:rPr>
              <a:t>(E62, Dense and Strange Hadronic Matter)</a:t>
            </a:r>
          </a:p>
        </p:txBody>
      </p:sp>
      <p:sp>
        <p:nvSpPr>
          <p:cNvPr id="74760" name="AutoShape 8" descr="2011-Nov-24-ALICE_logo_WhiteOut_Black_WithoutStrapline"/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endParaRPr lang="da-DK"/>
          </a:p>
        </p:txBody>
      </p:sp>
      <p:sp>
        <p:nvSpPr>
          <p:cNvPr id="2" name="AutoShape 2" descr="Inline image 1"/>
          <p:cNvSpPr>
            <a:spLocks noChangeAspect="1" noChangeArrowheads="1"/>
          </p:cNvSpPr>
          <p:nvPr/>
        </p:nvSpPr>
        <p:spPr bwMode="auto">
          <a:xfrm>
            <a:off x="155575" y="-327025"/>
            <a:ext cx="1285875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Inline image 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4340" name="Picture 4" descr="http://www.cdtm.de/wp-content/uploads/tum-logo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7400" y="5299800"/>
            <a:ext cx="1368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8834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106680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effectLst/>
              </a:rPr>
              <a:t>Outline of today’s lecture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5029200"/>
          </a:xfrm>
        </p:spPr>
        <p:txBody>
          <a:bodyPr>
            <a:normAutofit/>
          </a:bodyPr>
          <a:lstStyle/>
          <a:p>
            <a:r>
              <a:rPr lang="da-DK" dirty="0" smtClean="0"/>
              <a:t>Course trivia</a:t>
            </a:r>
          </a:p>
          <a:p>
            <a:r>
              <a:rPr lang="da-DK" dirty="0" smtClean="0"/>
              <a:t>Free adverts</a:t>
            </a:r>
          </a:p>
          <a:p>
            <a:pPr lvl="1"/>
            <a:r>
              <a:rPr lang="da-DK" dirty="0" smtClean="0"/>
              <a:t>Linux</a:t>
            </a:r>
          </a:p>
          <a:p>
            <a:pPr lvl="1"/>
            <a:r>
              <a:rPr lang="da-DK" dirty="0" smtClean="0"/>
              <a:t>Bash</a:t>
            </a:r>
          </a:p>
          <a:p>
            <a:pPr lvl="1"/>
            <a:r>
              <a:rPr lang="da-DK" dirty="0" smtClean="0"/>
              <a:t>ROOT</a:t>
            </a:r>
          </a:p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4114800"/>
            <a:ext cx="8058564" cy="1136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91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1066800"/>
          </a:xfrm>
        </p:spPr>
        <p:txBody>
          <a:bodyPr>
            <a:normAutofit/>
          </a:bodyPr>
          <a:lstStyle/>
          <a:p>
            <a:r>
              <a:rPr lang="da-DK" sz="3200" b="1" dirty="0" smtClean="0"/>
              <a:t>Course trivia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1447800"/>
          </a:xfrm>
        </p:spPr>
        <p:txBody>
          <a:bodyPr>
            <a:normAutofit/>
          </a:bodyPr>
          <a:lstStyle/>
          <a:p>
            <a:r>
              <a:rPr lang="en-US" b="1" dirty="0" smtClean="0"/>
              <a:t>PH8124:</a:t>
            </a:r>
            <a:r>
              <a:rPr lang="en-US" dirty="0" smtClean="0"/>
              <a:t> ‘Scientific computing in high-energy physics’</a:t>
            </a:r>
          </a:p>
          <a:p>
            <a:pPr lvl="1"/>
            <a:r>
              <a:rPr lang="en-US" sz="1800" dirty="0">
                <a:hlinkClick r:id="rId2"/>
              </a:rPr>
              <a:t>https://academics.nat.tum.de/org/mh/details/mod/PH8124</a:t>
            </a:r>
            <a:r>
              <a:rPr lang="en-US" sz="1800" dirty="0" smtClean="0">
                <a:hlinkClick r:id="rId2"/>
              </a:rPr>
              <a:t>/</a:t>
            </a:r>
            <a:r>
              <a:rPr lang="en-US" sz="1800" dirty="0" smtClean="0"/>
              <a:t> </a:t>
            </a:r>
          </a:p>
          <a:p>
            <a:pPr lvl="1"/>
            <a:endParaRPr lang="en-US" sz="1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04800" y="1981200"/>
            <a:ext cx="8686800" cy="2590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0" sz="24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SzPct val="90000"/>
              <a:buFont typeface="Courier New" panose="02070309020205020404" pitchFamily="49" charset="0"/>
              <a:buChar char="o"/>
              <a:defRPr kumimoji="0" sz="2200" kern="1200">
                <a:solidFill>
                  <a:schemeClr val="accent2"/>
                </a:solidFill>
                <a:latin typeface="Helvetica" pitchFamily="34" charset="0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1800" kern="1200">
                <a:solidFill>
                  <a:schemeClr val="accent1"/>
                </a:solidFill>
                <a:latin typeface="Helvetica" pitchFamily="34" charset="0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1400" kern="1200">
                <a:solidFill>
                  <a:schemeClr val="accent1"/>
                </a:solidFill>
                <a:latin typeface="Helvetica" pitchFamily="34" charset="0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400" kern="1200">
                <a:solidFill>
                  <a:schemeClr val="accent3"/>
                </a:solidFill>
                <a:latin typeface="Helvetica" pitchFamily="34" charset="0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 fontAlgn="auto">
              <a:spcAft>
                <a:spcPts val="0"/>
              </a:spcAft>
              <a:buNone/>
            </a:pPr>
            <a:endParaRPr lang="en-US" sz="1600" dirty="0" smtClean="0">
              <a:effectLst/>
            </a:endParaRPr>
          </a:p>
          <a:p>
            <a:pPr fontAlgn="auto">
              <a:spcAft>
                <a:spcPts val="0"/>
              </a:spcAft>
            </a:pPr>
            <a:r>
              <a:rPr lang="da-DK" dirty="0" smtClean="0">
                <a:effectLst/>
              </a:rPr>
              <a:t>When &amp; where:</a:t>
            </a:r>
            <a:endParaRPr lang="en-US" dirty="0" smtClean="0">
              <a:effectLst/>
            </a:endParaRPr>
          </a:p>
          <a:p>
            <a:pPr lvl="1" fontAlgn="auto">
              <a:spcAft>
                <a:spcPts val="0"/>
              </a:spcAft>
            </a:pPr>
            <a:r>
              <a:rPr lang="en-US" dirty="0" smtClean="0">
                <a:effectLst/>
              </a:rPr>
              <a:t>Thursday: 14:00-16:00 (hybrid mode)</a:t>
            </a:r>
          </a:p>
          <a:p>
            <a:pPr lvl="1" fontAlgn="auto">
              <a:spcAft>
                <a:spcPts val="0"/>
              </a:spcAft>
            </a:pPr>
            <a:r>
              <a:rPr lang="en-US" dirty="0" smtClean="0">
                <a:effectLst/>
              </a:rPr>
              <a:t>Physics Department, E62 seminar room 2024</a:t>
            </a:r>
          </a:p>
          <a:p>
            <a:pPr lvl="2" fontAlgn="auto">
              <a:spcAft>
                <a:spcPts val="0"/>
              </a:spcAft>
            </a:pPr>
            <a:r>
              <a:rPr lang="en-US" dirty="0" err="1" smtClean="0">
                <a:effectLst/>
              </a:rPr>
              <a:t>Roomfinder</a:t>
            </a:r>
            <a:r>
              <a:rPr lang="en-US" dirty="0" smtClean="0">
                <a:effectLst/>
              </a:rPr>
              <a:t>:</a:t>
            </a:r>
            <a:r>
              <a:rPr lang="en-DE" dirty="0" smtClean="0">
                <a:effectLst/>
              </a:rPr>
              <a:t> </a:t>
            </a:r>
            <a:r>
              <a:rPr lang="en-US" dirty="0">
                <a:effectLst/>
                <a:hlinkClick r:id="rId3"/>
              </a:rPr>
              <a:t>https://</a:t>
            </a:r>
            <a:r>
              <a:rPr lang="en-US" dirty="0" smtClean="0">
                <a:effectLst/>
                <a:hlinkClick r:id="rId3"/>
              </a:rPr>
              <a:t>nav.tum.de/room/5101.EG.024</a:t>
            </a:r>
            <a:endParaRPr lang="en-US" dirty="0" smtClean="0">
              <a:effectLst/>
            </a:endParaRPr>
          </a:p>
          <a:p>
            <a:pPr lvl="1" fontAlgn="auto">
              <a:spcAft>
                <a:spcPts val="0"/>
              </a:spcAft>
            </a:pPr>
            <a:r>
              <a:rPr lang="en-US" dirty="0" smtClean="0">
                <a:effectLst/>
              </a:rPr>
              <a:t>12</a:t>
            </a:r>
            <a:r>
              <a:rPr lang="en-DE" dirty="0" smtClean="0">
                <a:effectLst/>
              </a:rPr>
              <a:t>+</a:t>
            </a:r>
            <a:r>
              <a:rPr lang="en-US" dirty="0" smtClean="0">
                <a:effectLst/>
              </a:rPr>
              <a:t> </a:t>
            </a:r>
            <a:r>
              <a:rPr lang="en-US" dirty="0" smtClean="0">
                <a:effectLst/>
              </a:rPr>
              <a:t>contact days </a:t>
            </a:r>
            <a:r>
              <a:rPr lang="en-US" dirty="0" smtClean="0">
                <a:effectLst/>
              </a:rPr>
              <a:t>(</a:t>
            </a:r>
            <a:r>
              <a:rPr lang="en-DE" dirty="0" smtClean="0">
                <a:effectLst/>
              </a:rPr>
              <a:t>the </a:t>
            </a:r>
            <a:r>
              <a:rPr lang="en-US" dirty="0" smtClean="0">
                <a:effectLst/>
              </a:rPr>
              <a:t>last </a:t>
            </a:r>
            <a:r>
              <a:rPr lang="en-US" dirty="0" smtClean="0">
                <a:effectLst/>
              </a:rPr>
              <a:t>lecture is on July </a:t>
            </a:r>
            <a:r>
              <a:rPr lang="en-DE" dirty="0" smtClean="0">
                <a:effectLst/>
              </a:rPr>
              <a:t>24</a:t>
            </a:r>
            <a:r>
              <a:rPr lang="en-US" dirty="0" err="1" smtClean="0">
                <a:effectLst/>
              </a:rPr>
              <a:t>th</a:t>
            </a:r>
            <a:r>
              <a:rPr lang="en-US" dirty="0" smtClean="0">
                <a:effectLst/>
              </a:rPr>
              <a:t>) </a:t>
            </a:r>
          </a:p>
          <a:p>
            <a:pPr marL="109728" indent="0" fontAlgn="auto">
              <a:spcAft>
                <a:spcPts val="0"/>
              </a:spcAft>
              <a:buNone/>
            </a:pPr>
            <a:endParaRPr lang="en-US" dirty="0">
              <a:effectLst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04800" y="3886200"/>
            <a:ext cx="8686800" cy="17526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0" sz="24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SzPct val="90000"/>
              <a:buFont typeface="Courier New" panose="02070309020205020404" pitchFamily="49" charset="0"/>
              <a:buChar char="o"/>
              <a:defRPr kumimoji="0" sz="2200" kern="1200">
                <a:solidFill>
                  <a:schemeClr val="accent2"/>
                </a:solidFill>
                <a:latin typeface="Helvetica" pitchFamily="34" charset="0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1800" kern="1200">
                <a:solidFill>
                  <a:schemeClr val="accent1"/>
                </a:solidFill>
                <a:latin typeface="Helvetica" pitchFamily="34" charset="0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1400" kern="1200">
                <a:solidFill>
                  <a:schemeClr val="accent1"/>
                </a:solidFill>
                <a:latin typeface="Helvetica" pitchFamily="34" charset="0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400" kern="1200">
                <a:solidFill>
                  <a:schemeClr val="accent3"/>
                </a:solidFill>
                <a:latin typeface="Helvetica" pitchFamily="34" charset="0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en-US" dirty="0" smtClean="0">
              <a:effectLst/>
            </a:endParaRPr>
          </a:p>
          <a:p>
            <a:pPr fontAlgn="auto">
              <a:spcAft>
                <a:spcPts val="0"/>
              </a:spcAft>
            </a:pPr>
            <a:r>
              <a:rPr lang="da-DK" dirty="0" smtClean="0">
                <a:effectLst/>
              </a:rPr>
              <a:t>Examination:</a:t>
            </a:r>
            <a:endParaRPr lang="en-US" dirty="0" smtClean="0">
              <a:effectLst/>
            </a:endParaRPr>
          </a:p>
          <a:p>
            <a:pPr lvl="1" fontAlgn="auto">
              <a:spcAft>
                <a:spcPts val="0"/>
              </a:spcAft>
            </a:pPr>
            <a:r>
              <a:rPr lang="en-GB" dirty="0" err="1" smtClean="0">
                <a:effectLst/>
              </a:rPr>
              <a:t>Homeworks</a:t>
            </a:r>
            <a:r>
              <a:rPr lang="en-GB" dirty="0" smtClean="0">
                <a:effectLst/>
              </a:rPr>
              <a:t> (10 in total) </a:t>
            </a:r>
            <a:endParaRPr lang="en-US" dirty="0" smtClean="0">
              <a:effectLst/>
            </a:endParaRPr>
          </a:p>
          <a:p>
            <a:pPr lvl="1" fontAlgn="auto">
              <a:spcAft>
                <a:spcPts val="0"/>
              </a:spcAft>
            </a:pPr>
            <a:r>
              <a:rPr lang="en-US" dirty="0">
                <a:effectLst/>
              </a:rPr>
              <a:t>O</a:t>
            </a:r>
            <a:r>
              <a:rPr lang="en-US" dirty="0" smtClean="0">
                <a:effectLst/>
              </a:rPr>
              <a:t>ral examination </a:t>
            </a:r>
            <a:r>
              <a:rPr lang="en-US" dirty="0">
                <a:effectLst/>
              </a:rPr>
              <a:t>during the presentation of </a:t>
            </a:r>
            <a:r>
              <a:rPr lang="en-US" dirty="0" smtClean="0">
                <a:effectLst/>
              </a:rPr>
              <a:t>the </a:t>
            </a:r>
            <a:r>
              <a:rPr lang="en-US" dirty="0">
                <a:effectLst/>
              </a:rPr>
              <a:t>final project</a:t>
            </a:r>
            <a:endParaRPr lang="en-US" dirty="0" smtClean="0">
              <a:effectLst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304800" y="5105400"/>
            <a:ext cx="8686800" cy="1371600"/>
          </a:xfrm>
          <a:prstGeom prst="rect">
            <a:avLst/>
          </a:prstGeom>
        </p:spPr>
        <p:txBody>
          <a:bodyPr vert="horz">
            <a:normAutofit fontScale="92500" lnSpcReduction="10000"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0" sz="24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SzPct val="90000"/>
              <a:buFont typeface="Courier New" panose="02070309020205020404" pitchFamily="49" charset="0"/>
              <a:buChar char="o"/>
              <a:defRPr kumimoji="0" sz="2200" kern="1200">
                <a:solidFill>
                  <a:schemeClr val="accent2"/>
                </a:solidFill>
                <a:latin typeface="Helvetica" pitchFamily="34" charset="0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1800" kern="1200">
                <a:solidFill>
                  <a:schemeClr val="accent1"/>
                </a:solidFill>
                <a:latin typeface="Helvetica" pitchFamily="34" charset="0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1400" kern="1200">
                <a:solidFill>
                  <a:schemeClr val="accent1"/>
                </a:solidFill>
                <a:latin typeface="Helvetica" pitchFamily="34" charset="0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400" kern="1200">
                <a:solidFill>
                  <a:schemeClr val="accent3"/>
                </a:solidFill>
                <a:latin typeface="Helvetica" pitchFamily="34" charset="0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en-US" dirty="0" smtClean="0">
              <a:effectLst/>
            </a:endParaRPr>
          </a:p>
          <a:p>
            <a:pPr fontAlgn="auto">
              <a:spcAft>
                <a:spcPts val="0"/>
              </a:spcAft>
            </a:pPr>
            <a:r>
              <a:rPr lang="da-DK" dirty="0" smtClean="0">
                <a:effectLst/>
              </a:rPr>
              <a:t>Contact:</a:t>
            </a:r>
          </a:p>
          <a:p>
            <a:pPr lvl="1" fontAlgn="auto">
              <a:spcAft>
                <a:spcPts val="0"/>
              </a:spcAft>
            </a:pPr>
            <a:r>
              <a:rPr lang="da-DK" dirty="0">
                <a:effectLst/>
              </a:rPr>
              <a:t>Ante Bilandzic, </a:t>
            </a:r>
            <a:r>
              <a:rPr lang="da-DK" dirty="0" smtClean="0">
                <a:effectLst/>
                <a:hlinkClick r:id="rId4"/>
              </a:rPr>
              <a:t>ante.bilandzic@tum.de</a:t>
            </a:r>
            <a:endParaRPr lang="da-DK" dirty="0">
              <a:effectLst/>
            </a:endParaRPr>
          </a:p>
          <a:p>
            <a:pPr lvl="2" fontAlgn="auto">
              <a:spcAft>
                <a:spcPts val="0"/>
              </a:spcAft>
            </a:pPr>
            <a:r>
              <a:rPr lang="da-DK" dirty="0" smtClean="0">
                <a:effectLst/>
              </a:rPr>
              <a:t>Office PH </a:t>
            </a:r>
            <a:r>
              <a:rPr lang="da-DK" dirty="0" smtClean="0">
                <a:effectLst/>
              </a:rPr>
              <a:t>2101</a:t>
            </a:r>
            <a:r>
              <a:rPr lang="en-DE" dirty="0" smtClean="0">
                <a:effectLst/>
              </a:rPr>
              <a:t>: </a:t>
            </a:r>
            <a:r>
              <a:rPr lang="en-US" dirty="0" smtClean="0">
                <a:effectLst/>
                <a:hlinkClick r:id="rId5"/>
              </a:rPr>
              <a:t>https</a:t>
            </a:r>
            <a:r>
              <a:rPr lang="en-US" dirty="0">
                <a:effectLst/>
                <a:hlinkClick r:id="rId5"/>
              </a:rPr>
              <a:t>://</a:t>
            </a:r>
            <a:r>
              <a:rPr lang="en-US" dirty="0" smtClean="0">
                <a:effectLst/>
                <a:hlinkClick r:id="rId5"/>
              </a:rPr>
              <a:t>nav.tum.de/room/5101.EG.101</a:t>
            </a:r>
            <a:endParaRPr lang="en-US" dirty="0" smtClean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66788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1066800"/>
          </a:xfrm>
        </p:spPr>
        <p:txBody>
          <a:bodyPr>
            <a:normAutofit/>
          </a:bodyPr>
          <a:lstStyle/>
          <a:p>
            <a:r>
              <a:rPr lang="da-DK" sz="3200" b="1" dirty="0" smtClean="0"/>
              <a:t>Course trivia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4876800"/>
          </a:xfrm>
        </p:spPr>
        <p:txBody>
          <a:bodyPr>
            <a:normAutofit/>
          </a:bodyPr>
          <a:lstStyle/>
          <a:p>
            <a:pPr algn="just"/>
            <a:r>
              <a:rPr lang="en-DE" dirty="0"/>
              <a:t>T</a:t>
            </a:r>
            <a:r>
              <a:rPr lang="en-US" dirty="0" smtClean="0"/>
              <a:t>he </a:t>
            </a:r>
            <a:r>
              <a:rPr lang="en-US" dirty="0" smtClean="0"/>
              <a:t>presence in person is encouraged</a:t>
            </a:r>
          </a:p>
          <a:p>
            <a:pPr algn="just"/>
            <a:r>
              <a:rPr lang="en-US" dirty="0" smtClean="0"/>
              <a:t>Parallel online coverage via </a:t>
            </a:r>
            <a:r>
              <a:rPr lang="en-US" b="1" dirty="0" smtClean="0">
                <a:solidFill>
                  <a:srgbClr val="C00000"/>
                </a:solidFill>
              </a:rPr>
              <a:t>Zoom</a:t>
            </a:r>
          </a:p>
          <a:p>
            <a:pPr lvl="1" algn="just"/>
            <a:r>
              <a:rPr lang="en-GB" sz="1800" dirty="0"/>
              <a:t>TUM offers the licensed version at the following link:</a:t>
            </a:r>
            <a:r>
              <a:rPr lang="en-GB" sz="2000" dirty="0"/>
              <a:t> </a:t>
            </a:r>
            <a:r>
              <a:rPr lang="en-GB" sz="1800" dirty="0" smtClean="0">
                <a:hlinkClick r:id="rId2"/>
              </a:rPr>
              <a:t>https</a:t>
            </a:r>
            <a:r>
              <a:rPr lang="en-GB" sz="1800" dirty="0">
                <a:hlinkClick r:id="rId2"/>
              </a:rPr>
              <a:t>://</a:t>
            </a:r>
            <a:r>
              <a:rPr lang="en-GB" sz="1800" dirty="0" smtClean="0">
                <a:hlinkClick r:id="rId2"/>
              </a:rPr>
              <a:t>tum-conf.zoom.us</a:t>
            </a:r>
            <a:endParaRPr lang="en-GB" sz="1800" dirty="0" smtClean="0"/>
          </a:p>
          <a:p>
            <a:pPr lvl="1" algn="just"/>
            <a:r>
              <a:rPr lang="en-GB" sz="1800" dirty="0"/>
              <a:t>'Sign In' with your TUM </a:t>
            </a:r>
            <a:r>
              <a:rPr lang="en-GB" sz="1800" dirty="0" smtClean="0"/>
              <a:t>credentials</a:t>
            </a:r>
          </a:p>
          <a:p>
            <a:pPr algn="just"/>
            <a:r>
              <a:rPr lang="en-DE" dirty="0" smtClean="0"/>
              <a:t>R</a:t>
            </a:r>
            <a:r>
              <a:rPr lang="en-GB" dirty="0" err="1" smtClean="0"/>
              <a:t>ecurring</a:t>
            </a:r>
            <a:r>
              <a:rPr lang="en-DE" dirty="0" smtClean="0"/>
              <a:t> </a:t>
            </a:r>
            <a:r>
              <a:rPr lang="en-DE" b="1" dirty="0" smtClean="0">
                <a:solidFill>
                  <a:srgbClr val="C00000"/>
                </a:solidFill>
              </a:rPr>
              <a:t>Zoom</a:t>
            </a:r>
            <a:r>
              <a:rPr lang="en-GB" dirty="0" smtClean="0"/>
              <a:t> </a:t>
            </a:r>
            <a:r>
              <a:rPr lang="en-GB" dirty="0"/>
              <a:t>meetings on Thursdays, from </a:t>
            </a:r>
            <a:r>
              <a:rPr lang="en-GB" dirty="0" smtClean="0"/>
              <a:t>13:30-16:00 </a:t>
            </a:r>
          </a:p>
          <a:p>
            <a:pPr lvl="1" algn="just"/>
            <a:r>
              <a:rPr lang="en-GB" b="1" dirty="0" smtClean="0">
                <a:solidFill>
                  <a:srgbClr val="C00000"/>
                </a:solidFill>
              </a:rPr>
              <a:t>Zoom</a:t>
            </a:r>
            <a:r>
              <a:rPr lang="en-GB" dirty="0" smtClean="0"/>
              <a:t> coordinates will be distributed </a:t>
            </a:r>
            <a:r>
              <a:rPr lang="en-GB" dirty="0" smtClean="0"/>
              <a:t>via </a:t>
            </a:r>
            <a:r>
              <a:rPr lang="en-GB" dirty="0" smtClean="0"/>
              <a:t>the official mailing list to all registered students for this course</a:t>
            </a:r>
          </a:p>
          <a:p>
            <a:pPr algn="just"/>
            <a:r>
              <a:rPr lang="en-DE" dirty="0" smtClean="0"/>
              <a:t>Per popular request, </a:t>
            </a:r>
            <a:r>
              <a:rPr lang="en-US" dirty="0" smtClean="0"/>
              <a:t>lectures </a:t>
            </a:r>
            <a:r>
              <a:rPr lang="en-US" dirty="0" smtClean="0"/>
              <a:t>are recorded, and recordings shared immediately afterward via email</a:t>
            </a:r>
          </a:p>
          <a:p>
            <a:pPr marL="109728" indent="0">
              <a:buNone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1818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133600"/>
            <a:ext cx="7278283" cy="461008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1066800"/>
          </a:xfrm>
        </p:spPr>
        <p:txBody>
          <a:bodyPr>
            <a:normAutofit/>
          </a:bodyPr>
          <a:lstStyle/>
          <a:p>
            <a:r>
              <a:rPr lang="da-DK" sz="3200" b="1" dirty="0" smtClean="0"/>
              <a:t>Webpage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144780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The course has a dedicated webpage:</a:t>
            </a:r>
          </a:p>
          <a:p>
            <a:pPr lvl="1"/>
            <a:r>
              <a:rPr lang="en-US" sz="1600" dirty="0" smtClean="0">
                <a:hlinkClick r:id="rId3"/>
              </a:rPr>
              <a:t>https://abilandz.gitbook.io/ss2025</a:t>
            </a:r>
            <a:r>
              <a:rPr lang="en-DE" sz="1600" dirty="0" smtClean="0"/>
              <a:t> </a:t>
            </a:r>
            <a:r>
              <a:rPr lang="en-DE" sz="1600" dirty="0" smtClean="0"/>
              <a:t>(GitBook version</a:t>
            </a:r>
            <a:r>
              <a:rPr lang="en-DE" sz="1600" dirty="0" smtClean="0"/>
              <a:t>)</a:t>
            </a:r>
            <a:endParaRPr lang="en-DE" sz="1800" dirty="0" smtClean="0"/>
          </a:p>
          <a:p>
            <a:pPr lvl="1"/>
            <a:endParaRPr lang="en-US" dirty="0" smtClean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712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116282"/>
            <a:ext cx="7543800" cy="46655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1066800"/>
          </a:xfrm>
        </p:spPr>
        <p:txBody>
          <a:bodyPr>
            <a:normAutofit/>
          </a:bodyPr>
          <a:lstStyle/>
          <a:p>
            <a:r>
              <a:rPr lang="da-DK" sz="3200" b="1" dirty="0" smtClean="0"/>
              <a:t>Webpage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144780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The course has a dedicated webpage:</a:t>
            </a:r>
            <a:endParaRPr lang="en-DE" sz="1600" dirty="0" smtClean="0"/>
          </a:p>
          <a:p>
            <a:pPr lvl="1"/>
            <a:r>
              <a:rPr lang="en-US" sz="1600" dirty="0">
                <a:hlinkClick r:id="rId3"/>
              </a:rPr>
              <a:t>https://abilandz.github.io/PH8124</a:t>
            </a:r>
            <a:r>
              <a:rPr lang="en-US" sz="1600" dirty="0" smtClean="0">
                <a:hlinkClick r:id="rId3"/>
              </a:rPr>
              <a:t>/</a:t>
            </a:r>
            <a:r>
              <a:rPr lang="en-DE" sz="1600" dirty="0" smtClean="0"/>
              <a:t> (GitHub Pages version)</a:t>
            </a:r>
          </a:p>
          <a:p>
            <a:pPr lvl="1"/>
            <a:endParaRPr lang="en-DE" sz="1800" dirty="0" smtClean="0"/>
          </a:p>
          <a:p>
            <a:pPr lvl="1"/>
            <a:endParaRPr lang="en-US" dirty="0" smtClean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698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1066800"/>
          </a:xfrm>
        </p:spPr>
        <p:txBody>
          <a:bodyPr>
            <a:normAutofit/>
          </a:bodyPr>
          <a:lstStyle/>
          <a:p>
            <a:r>
              <a:rPr lang="da-DK" sz="3200" b="1" dirty="0"/>
              <a:t>Course </a:t>
            </a:r>
            <a:r>
              <a:rPr lang="da-DK" sz="3200" b="1" dirty="0" smtClean="0"/>
              <a:t>trivia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4800600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After each lecture, </a:t>
            </a:r>
            <a:r>
              <a:rPr lang="en-DE" dirty="0" smtClean="0"/>
              <a:t>an </a:t>
            </a:r>
            <a:r>
              <a:rPr lang="en-US" dirty="0" smtClean="0"/>
              <a:t>executive </a:t>
            </a:r>
            <a:r>
              <a:rPr lang="en-US" dirty="0" smtClean="0"/>
              <a:t>summary of the covered material will be shared via email </a:t>
            </a:r>
          </a:p>
          <a:p>
            <a:pPr algn="just"/>
            <a:r>
              <a:rPr lang="en-US" dirty="0" smtClean="0"/>
              <a:t>The course webpage will be updated regularly</a:t>
            </a:r>
          </a:p>
          <a:p>
            <a:pPr algn="just"/>
            <a:r>
              <a:rPr lang="en-GB" dirty="0" smtClean="0"/>
              <a:t>In the same way, I will also share the homework exercises</a:t>
            </a:r>
            <a:endParaRPr lang="en-DE" dirty="0" smtClean="0"/>
          </a:p>
          <a:p>
            <a:pPr marL="109728" indent="0">
              <a:buNone/>
            </a:pPr>
            <a:endParaRPr lang="en-US" sz="800" dirty="0" smtClean="0"/>
          </a:p>
          <a:p>
            <a:pPr fontAlgn="auto">
              <a:spcAft>
                <a:spcPts val="0"/>
              </a:spcAft>
            </a:pPr>
            <a:r>
              <a:rPr lang="da-DK" dirty="0" smtClean="0"/>
              <a:t>Recommended literature:</a:t>
            </a:r>
          </a:p>
          <a:p>
            <a:pPr lvl="1"/>
            <a:r>
              <a:rPr lang="en-GB" sz="2000" dirty="0" smtClean="0"/>
              <a:t>Mendel </a:t>
            </a:r>
            <a:r>
              <a:rPr lang="en-GB" sz="2000" dirty="0"/>
              <a:t>Cooper: </a:t>
            </a:r>
            <a:r>
              <a:rPr lang="en-GB" sz="2000" dirty="0" smtClean="0"/>
              <a:t>‘Advanced </a:t>
            </a:r>
            <a:r>
              <a:rPr lang="en-GB" sz="2000" dirty="0"/>
              <a:t>Bash-Scripting </a:t>
            </a:r>
            <a:r>
              <a:rPr lang="en-GB" sz="2000" dirty="0" smtClean="0"/>
              <a:t>Guide’ </a:t>
            </a:r>
            <a:r>
              <a:rPr lang="en-GB" sz="1600" dirty="0"/>
              <a:t>(</a:t>
            </a:r>
            <a:r>
              <a:rPr lang="en-GB" sz="1600" dirty="0">
                <a:hlinkClick r:id="rId2"/>
              </a:rPr>
              <a:t>http://tldp.org/LDP/abs/abs-guide.pdf</a:t>
            </a:r>
            <a:r>
              <a:rPr lang="en-GB" sz="1600" dirty="0"/>
              <a:t>)</a:t>
            </a:r>
            <a:r>
              <a:rPr lang="en-GB" dirty="0"/>
              <a:t> </a:t>
            </a:r>
            <a:endParaRPr lang="en-GB" dirty="0" smtClean="0"/>
          </a:p>
          <a:p>
            <a:pPr lvl="1"/>
            <a:r>
              <a:rPr lang="en-GB" sz="2000" dirty="0" smtClean="0"/>
              <a:t>Cameron </a:t>
            </a:r>
            <a:r>
              <a:rPr lang="en-GB" sz="2000" dirty="0"/>
              <a:t>Newham and Bill Rosenblatt, </a:t>
            </a:r>
            <a:r>
              <a:rPr lang="en-GB" sz="2000" dirty="0" smtClean="0"/>
              <a:t>‘Learning </a:t>
            </a:r>
            <a:r>
              <a:rPr lang="en-GB" sz="2000" dirty="0"/>
              <a:t>the bash Shell: Unix Shell Programming (In a Nutshell (O'Reilly</a:t>
            </a:r>
            <a:r>
              <a:rPr lang="en-GB" sz="2000" dirty="0" smtClean="0"/>
              <a:t>))’</a:t>
            </a:r>
            <a:r>
              <a:rPr lang="en-GB" dirty="0"/>
              <a:t> </a:t>
            </a:r>
            <a:endParaRPr lang="en-GB" dirty="0" smtClean="0"/>
          </a:p>
          <a:p>
            <a:pPr lvl="1"/>
            <a:r>
              <a:rPr lang="en-GB" sz="2000" dirty="0" smtClean="0"/>
              <a:t>Richard </a:t>
            </a:r>
            <a:r>
              <a:rPr lang="en-GB" sz="2000" dirty="0"/>
              <a:t>Blum and Christine </a:t>
            </a:r>
            <a:r>
              <a:rPr lang="en-GB" sz="2000" dirty="0" err="1"/>
              <a:t>Bresnahan</a:t>
            </a:r>
            <a:r>
              <a:rPr lang="en-GB" sz="2000" dirty="0"/>
              <a:t>, ‘Linux Command Line and Shell Scripting Bible</a:t>
            </a:r>
            <a:r>
              <a:rPr lang="en-GB" sz="2000" dirty="0" smtClean="0"/>
              <a:t>’</a:t>
            </a:r>
          </a:p>
          <a:p>
            <a:pPr lvl="1"/>
            <a:r>
              <a:rPr lang="en-GB" sz="2000" dirty="0" smtClean="0"/>
              <a:t>ROOT </a:t>
            </a:r>
            <a:r>
              <a:rPr lang="en-DE" sz="2000" dirty="0" smtClean="0"/>
              <a:t>tutorials </a:t>
            </a:r>
            <a:r>
              <a:rPr lang="en-GB" sz="1600" dirty="0" smtClean="0"/>
              <a:t>(</a:t>
            </a:r>
            <a:r>
              <a:rPr lang="en-US" sz="1600" dirty="0" smtClean="0">
                <a:hlinkClick r:id="rId3"/>
              </a:rPr>
              <a:t>https://root.cern/manual/</a:t>
            </a:r>
            <a:r>
              <a:rPr lang="en-GB" sz="1600" dirty="0" smtClean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517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1066800"/>
          </a:xfrm>
        </p:spPr>
        <p:txBody>
          <a:bodyPr>
            <a:normAutofit/>
          </a:bodyPr>
          <a:lstStyle/>
          <a:p>
            <a:r>
              <a:rPr lang="da-DK" sz="3200" b="1" dirty="0"/>
              <a:t>Course </a:t>
            </a:r>
            <a:r>
              <a:rPr lang="da-DK" sz="3200" b="1" dirty="0" smtClean="0"/>
              <a:t>trivia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305800" cy="19812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Grading:</a:t>
            </a:r>
          </a:p>
          <a:p>
            <a:pPr lvl="1" algn="just"/>
            <a:r>
              <a:rPr lang="da-DK" dirty="0" smtClean="0"/>
              <a:t>3 ECTS points</a:t>
            </a:r>
          </a:p>
          <a:p>
            <a:pPr lvl="1" algn="just"/>
            <a:r>
              <a:rPr lang="da-DK" dirty="0" smtClean="0"/>
              <a:t>Final grade = grade </a:t>
            </a:r>
            <a:r>
              <a:rPr lang="da-DK" dirty="0" smtClean="0"/>
              <a:t>at</a:t>
            </a:r>
            <a:r>
              <a:rPr lang="en-DE" dirty="0" smtClean="0"/>
              <a:t> the </a:t>
            </a:r>
            <a:r>
              <a:rPr lang="da-DK" dirty="0" smtClean="0"/>
              <a:t>final </a:t>
            </a:r>
            <a:r>
              <a:rPr lang="da-DK" dirty="0" smtClean="0"/>
              <a:t>project examination </a:t>
            </a:r>
            <a:r>
              <a:rPr lang="en-DE" dirty="0" smtClean="0"/>
              <a:t>+</a:t>
            </a:r>
            <a:r>
              <a:rPr lang="da-DK" dirty="0" smtClean="0"/>
              <a:t> ‘</a:t>
            </a:r>
            <a:r>
              <a:rPr lang="en-DE" dirty="0" smtClean="0"/>
              <a:t>one intermediate stepping of 0.3 to the better grade</a:t>
            </a:r>
            <a:r>
              <a:rPr lang="da-DK" dirty="0" smtClean="0"/>
              <a:t>’ if you have completed correctly 75% of all homeworks</a:t>
            </a:r>
          </a:p>
          <a:p>
            <a:pPr lvl="2" algn="just"/>
            <a:r>
              <a:rPr lang="da-DK" dirty="0" smtClean="0"/>
              <a:t>There will be in total 10 homework exercises, one after each lecture</a:t>
            </a:r>
          </a:p>
          <a:p>
            <a:pPr lvl="2"/>
            <a:endParaRPr lang="da-DK" dirty="0" smtClean="0"/>
          </a:p>
          <a:p>
            <a:pPr lvl="1"/>
            <a:endParaRPr lang="da-DK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304800" y="3276600"/>
            <a:ext cx="8305800" cy="32004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0" sz="24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SzPct val="90000"/>
              <a:buFont typeface="Courier New" panose="02070309020205020404" pitchFamily="49" charset="0"/>
              <a:buChar char="o"/>
              <a:defRPr kumimoji="0" sz="2200" kern="1200">
                <a:solidFill>
                  <a:schemeClr val="accent2"/>
                </a:solidFill>
                <a:latin typeface="Helvetica" pitchFamily="34" charset="0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1800" kern="1200">
                <a:solidFill>
                  <a:schemeClr val="accent1"/>
                </a:solidFill>
                <a:latin typeface="Helvetica" pitchFamily="34" charset="0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1400" kern="1200">
                <a:solidFill>
                  <a:schemeClr val="accent1"/>
                </a:solidFill>
                <a:latin typeface="Helvetica" pitchFamily="34" charset="0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400" kern="1200">
                <a:solidFill>
                  <a:schemeClr val="accent3"/>
                </a:solidFill>
                <a:latin typeface="Helvetica" pitchFamily="34" charset="0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da-DK" dirty="0" smtClean="0">
                <a:effectLst/>
              </a:rPr>
              <a:t>Oral examination at the final project presentation:</a:t>
            </a:r>
            <a:endParaRPr lang="en-US" dirty="0" smtClean="0">
              <a:effectLst/>
            </a:endParaRPr>
          </a:p>
          <a:p>
            <a:pPr lvl="1" algn="just" fontAlgn="auto">
              <a:spcAft>
                <a:spcPts val="0"/>
              </a:spcAft>
            </a:pPr>
            <a:r>
              <a:rPr lang="da-DK" dirty="0" smtClean="0">
                <a:effectLst/>
              </a:rPr>
              <a:t>The topic for the final programming project will be offered at some point towards the end of the lecture</a:t>
            </a:r>
          </a:p>
          <a:p>
            <a:pPr lvl="1" algn="just" fontAlgn="auto">
              <a:spcAft>
                <a:spcPts val="0"/>
              </a:spcAft>
            </a:pPr>
            <a:r>
              <a:rPr lang="en-GB" dirty="0" smtClean="0">
                <a:effectLst/>
              </a:rPr>
              <a:t>The oral </a:t>
            </a:r>
            <a:r>
              <a:rPr lang="en-GB" dirty="0">
                <a:effectLst/>
              </a:rPr>
              <a:t>exam of about 25 minutes </a:t>
            </a:r>
            <a:r>
              <a:rPr lang="en-GB" dirty="0" smtClean="0">
                <a:effectLst/>
              </a:rPr>
              <a:t>consists of presenting:</a:t>
            </a:r>
          </a:p>
          <a:p>
            <a:pPr marL="1046988" lvl="2" indent="-342900" algn="just" fontAlgn="auto">
              <a:spcAft>
                <a:spcPts val="0"/>
              </a:spcAft>
              <a:buFont typeface="+mj-lt"/>
              <a:buAutoNum type="arabicPeriod"/>
            </a:pPr>
            <a:r>
              <a:rPr lang="en-GB" dirty="0" smtClean="0">
                <a:effectLst/>
              </a:rPr>
              <a:t>How your programme was designed/implemented?</a:t>
            </a:r>
          </a:p>
          <a:p>
            <a:pPr marL="1046988" lvl="2" indent="-342900" algn="just" fontAlgn="auto">
              <a:spcAft>
                <a:spcPts val="0"/>
              </a:spcAft>
              <a:buFont typeface="+mj-lt"/>
              <a:buAutoNum type="arabicPeriod"/>
            </a:pPr>
            <a:r>
              <a:rPr lang="en-GB" dirty="0" smtClean="0">
                <a:effectLst/>
              </a:rPr>
              <a:t>Testing the execution of your code (crash-free, bug-free, efficiency in terms of CPU usage and memory consumption)</a:t>
            </a:r>
          </a:p>
          <a:p>
            <a:pPr marL="1046988" lvl="2" indent="-342900" algn="just" fontAlgn="auto">
              <a:spcAft>
                <a:spcPts val="0"/>
              </a:spcAft>
              <a:buFont typeface="+mj-lt"/>
              <a:buAutoNum type="arabicPeriod"/>
            </a:pPr>
            <a:r>
              <a:rPr lang="en-GB" dirty="0" smtClean="0">
                <a:effectLst/>
              </a:rPr>
              <a:t>Testing the code flexibility (e.g. how you would add some new feature in</a:t>
            </a:r>
            <a:r>
              <a:rPr lang="en-DE" dirty="0" smtClean="0">
                <a:effectLst/>
              </a:rPr>
              <a:t> </a:t>
            </a:r>
            <a:r>
              <a:rPr lang="en-GB" dirty="0" smtClean="0">
                <a:effectLst/>
              </a:rPr>
              <a:t>the code?)  </a:t>
            </a:r>
            <a:endParaRPr lang="da-DK" dirty="0" smtClean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52673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1066800"/>
          </a:xfrm>
        </p:spPr>
        <p:txBody>
          <a:bodyPr>
            <a:normAutofit/>
          </a:bodyPr>
          <a:lstStyle/>
          <a:p>
            <a:r>
              <a:rPr lang="da-DK" sz="3200" b="1" dirty="0"/>
              <a:t>Course </a:t>
            </a:r>
            <a:r>
              <a:rPr lang="da-DK" sz="3200" b="1" dirty="0" smtClean="0"/>
              <a:t>t</a:t>
            </a:r>
            <a:r>
              <a:rPr lang="en-US" sz="3200" b="1" dirty="0" err="1" smtClean="0">
                <a:effectLst/>
              </a:rPr>
              <a:t>rivia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4724400"/>
          </a:xfrm>
        </p:spPr>
        <p:txBody>
          <a:bodyPr>
            <a:normAutofit/>
          </a:bodyPr>
          <a:lstStyle/>
          <a:p>
            <a:r>
              <a:rPr lang="da-DK" dirty="0" smtClean="0"/>
              <a:t>Preliminary list of topics to be covered:</a:t>
            </a:r>
          </a:p>
          <a:p>
            <a:pPr marL="109728" indent="0">
              <a:buNone/>
            </a:pPr>
            <a:endParaRPr lang="en-US" sz="1000" dirty="0" smtClean="0"/>
          </a:p>
          <a:p>
            <a:pPr lvl="1"/>
            <a:r>
              <a:rPr lang="en-GB" b="1" dirty="0"/>
              <a:t>Linux: </a:t>
            </a:r>
            <a:r>
              <a:rPr lang="en-GB" dirty="0" err="1"/>
              <a:t>filesystem</a:t>
            </a:r>
            <a:r>
              <a:rPr lang="en-GB" dirty="0"/>
              <a:t> hierarchy and file manipulation, handling processes and jobs, frequently used </a:t>
            </a:r>
            <a:r>
              <a:rPr lang="en-GB" dirty="0" smtClean="0"/>
              <a:t>commands, etc.</a:t>
            </a:r>
          </a:p>
          <a:p>
            <a:pPr marL="411480" lvl="1" indent="0">
              <a:buNone/>
            </a:pPr>
            <a:endParaRPr lang="en-GB" sz="800" dirty="0" smtClean="0"/>
          </a:p>
          <a:p>
            <a:pPr lvl="1"/>
            <a:r>
              <a:rPr lang="en-US" b="1" dirty="0"/>
              <a:t>Bash: </a:t>
            </a:r>
            <a:r>
              <a:rPr lang="en-US" dirty="0"/>
              <a:t>shell environment, variables, string manipulation, built-in commands, aliases, functions, conditional statements, loops, command substitution, command chain, test constructs, piping, redirections, code blocks, subshells, process substitution, brace expansion, regular expressions, here-strings and here-documents, etc</a:t>
            </a:r>
            <a:r>
              <a:rPr lang="en-US" dirty="0" smtClean="0"/>
              <a:t>.</a:t>
            </a:r>
          </a:p>
          <a:p>
            <a:pPr marL="411480" lvl="1" indent="0">
              <a:buNone/>
            </a:pPr>
            <a:endParaRPr lang="en-US" sz="800" dirty="0" smtClean="0"/>
          </a:p>
          <a:p>
            <a:pPr lvl="1"/>
            <a:r>
              <a:rPr lang="en-GB" b="1" dirty="0"/>
              <a:t>ROOT: </a:t>
            </a:r>
            <a:r>
              <a:rPr lang="en-GB" dirty="0"/>
              <a:t>using ROOT GUI, plotting, </a:t>
            </a:r>
            <a:r>
              <a:rPr lang="en-GB" dirty="0" err="1"/>
              <a:t>histogramming</a:t>
            </a:r>
            <a:r>
              <a:rPr lang="en-GB" dirty="0" smtClean="0"/>
              <a:t>, functions, </a:t>
            </a:r>
            <a:r>
              <a:rPr lang="en-GB" dirty="0"/>
              <a:t>fitting, trees</a:t>
            </a:r>
            <a:r>
              <a:rPr lang="en-GB" dirty="0" smtClean="0"/>
              <a:t>, file merging</a:t>
            </a:r>
            <a:r>
              <a:rPr lang="en-GB" dirty="0" smtClean="0"/>
              <a:t>,</a:t>
            </a:r>
            <a:r>
              <a:rPr lang="en-DE" dirty="0" smtClean="0"/>
              <a:t> writing executables,</a:t>
            </a:r>
            <a:r>
              <a:rPr lang="en-GB" dirty="0" smtClean="0"/>
              <a:t> </a:t>
            </a:r>
            <a:r>
              <a:rPr lang="en-GB" dirty="0"/>
              <a:t>etc</a:t>
            </a:r>
            <a:r>
              <a:rPr lang="en-GB" dirty="0" smtClean="0"/>
              <a:t>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8055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1066800"/>
          </a:xfrm>
        </p:spPr>
        <p:txBody>
          <a:bodyPr>
            <a:normAutofit/>
          </a:bodyPr>
          <a:lstStyle/>
          <a:p>
            <a:r>
              <a:rPr lang="da-DK" sz="3200" b="1" dirty="0"/>
              <a:t>Course </a:t>
            </a:r>
            <a:r>
              <a:rPr lang="da-DK" sz="3200" b="1" dirty="0" smtClean="0"/>
              <a:t>t</a:t>
            </a:r>
            <a:r>
              <a:rPr lang="en-US" sz="3200" b="1" dirty="0" err="1" smtClean="0">
                <a:effectLst/>
              </a:rPr>
              <a:t>rivia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4724400"/>
          </a:xfrm>
        </p:spPr>
        <p:txBody>
          <a:bodyPr>
            <a:normAutofit/>
          </a:bodyPr>
          <a:lstStyle/>
          <a:p>
            <a:r>
              <a:rPr lang="da-DK" dirty="0"/>
              <a:t>Course </a:t>
            </a:r>
            <a:r>
              <a:rPr lang="da-DK" dirty="0" smtClean="0"/>
              <a:t>classification:</a:t>
            </a:r>
          </a:p>
          <a:p>
            <a:pPr lvl="1"/>
            <a:r>
              <a:rPr lang="da-DK" dirty="0" smtClean="0"/>
              <a:t>At the moment, classified as a ‘</a:t>
            </a:r>
            <a:r>
              <a:rPr lang="en-GB" dirty="0" smtClean="0"/>
              <a:t>Non-physics elective course’</a:t>
            </a:r>
          </a:p>
          <a:p>
            <a:pPr lvl="1"/>
            <a:r>
              <a:rPr lang="en-GB" dirty="0"/>
              <a:t>O</a:t>
            </a:r>
            <a:r>
              <a:rPr lang="en-GB" dirty="0" smtClean="0"/>
              <a:t>pen </a:t>
            </a:r>
            <a:r>
              <a:rPr lang="en-GB" dirty="0"/>
              <a:t>both to Bachelor and </a:t>
            </a:r>
            <a:r>
              <a:rPr lang="en-GB" dirty="0" smtClean="0"/>
              <a:t>Masters students</a:t>
            </a:r>
          </a:p>
          <a:p>
            <a:pPr lvl="2"/>
            <a:r>
              <a:rPr lang="en-GB" dirty="0">
                <a:hlinkClick r:id="rId2"/>
              </a:rPr>
              <a:t>https://</a:t>
            </a:r>
            <a:r>
              <a:rPr lang="en-GB" dirty="0" smtClean="0">
                <a:hlinkClick r:id="rId2"/>
              </a:rPr>
              <a:t>academics.nat.tum.de/en/msc/ph/nonphys</a:t>
            </a:r>
            <a:r>
              <a:rPr lang="en-GB" dirty="0" smtClean="0"/>
              <a:t> </a:t>
            </a:r>
            <a:endParaRPr lang="da-DK" dirty="0" smtClean="0"/>
          </a:p>
          <a:p>
            <a:r>
              <a:rPr lang="da-DK" dirty="0" smtClean="0"/>
              <a:t>Course evaluation:</a:t>
            </a:r>
            <a:endParaRPr lang="en-US" dirty="0" smtClean="0"/>
          </a:p>
          <a:p>
            <a:pPr lvl="1"/>
            <a:r>
              <a:rPr lang="en-GB" dirty="0" smtClean="0"/>
              <a:t>At some point during the lecture, you will be asked to evaluate this course: Please, do it! (</a:t>
            </a:r>
            <a:r>
              <a:rPr lang="en-GB" dirty="0"/>
              <a:t>r</a:t>
            </a:r>
            <a:r>
              <a:rPr lang="en-GB" dirty="0" smtClean="0"/>
              <a:t>eminder will be sent later)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1811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106680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effectLst/>
              </a:rPr>
              <a:t>Trivia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4724400"/>
          </a:xfrm>
        </p:spPr>
        <p:txBody>
          <a:bodyPr>
            <a:normAutofit/>
          </a:bodyPr>
          <a:lstStyle/>
          <a:p>
            <a:r>
              <a:rPr lang="da-DK" dirty="0" smtClean="0"/>
              <a:t>No lecture on: </a:t>
            </a:r>
          </a:p>
          <a:p>
            <a:pPr lvl="1"/>
            <a:r>
              <a:rPr lang="en-DE" dirty="0" smtClean="0">
                <a:solidFill>
                  <a:srgbClr val="FF0000"/>
                </a:solidFill>
              </a:rPr>
              <a:t>May 1st – Labor Day</a:t>
            </a:r>
          </a:p>
          <a:p>
            <a:pPr lvl="1"/>
            <a:r>
              <a:rPr lang="da-DK" dirty="0" smtClean="0">
                <a:solidFill>
                  <a:srgbClr val="FF0000"/>
                </a:solidFill>
              </a:rPr>
              <a:t>May </a:t>
            </a:r>
            <a:r>
              <a:rPr lang="en-DE" dirty="0" smtClean="0">
                <a:solidFill>
                  <a:srgbClr val="FF0000"/>
                </a:solidFill>
              </a:rPr>
              <a:t>29</a:t>
            </a:r>
            <a:r>
              <a:rPr lang="da-DK" dirty="0" smtClean="0">
                <a:solidFill>
                  <a:srgbClr val="FF0000"/>
                </a:solidFill>
              </a:rPr>
              <a:t>th – Ascension Day</a:t>
            </a:r>
          </a:p>
          <a:p>
            <a:pPr lvl="1"/>
            <a:r>
              <a:rPr lang="en-DE" dirty="0" smtClean="0">
                <a:solidFill>
                  <a:srgbClr val="FF0000"/>
                </a:solidFill>
              </a:rPr>
              <a:t>June</a:t>
            </a:r>
            <a:r>
              <a:rPr lang="da-DK" dirty="0" smtClean="0">
                <a:solidFill>
                  <a:srgbClr val="FF0000"/>
                </a:solidFill>
              </a:rPr>
              <a:t> </a:t>
            </a:r>
            <a:r>
              <a:rPr lang="en-DE" dirty="0" smtClean="0">
                <a:solidFill>
                  <a:srgbClr val="FF0000"/>
                </a:solidFill>
              </a:rPr>
              <a:t>19</a:t>
            </a:r>
            <a:r>
              <a:rPr lang="da-DK" dirty="0" smtClean="0">
                <a:solidFill>
                  <a:srgbClr val="FF0000"/>
                </a:solidFill>
              </a:rPr>
              <a:t>th </a:t>
            </a:r>
            <a:r>
              <a:rPr lang="da-DK" dirty="0" smtClean="0">
                <a:solidFill>
                  <a:srgbClr val="FF0000"/>
                </a:solidFill>
              </a:rPr>
              <a:t>– Corpus </a:t>
            </a:r>
            <a:r>
              <a:rPr lang="da-DK" dirty="0" smtClean="0">
                <a:solidFill>
                  <a:srgbClr val="FF0000"/>
                </a:solidFill>
              </a:rPr>
              <a:t>Christ</a:t>
            </a:r>
            <a:r>
              <a:rPr lang="en-DE" dirty="0" smtClean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187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90800"/>
            <a:ext cx="8229600" cy="1066800"/>
          </a:xfrm>
        </p:spPr>
        <p:txBody>
          <a:bodyPr>
            <a:normAutofit/>
          </a:bodyPr>
          <a:lstStyle/>
          <a:p>
            <a:r>
              <a:rPr lang="da-DK" b="1" dirty="0" smtClean="0"/>
              <a:t>Free adverts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966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1066800"/>
          </a:xfrm>
        </p:spPr>
        <p:txBody>
          <a:bodyPr>
            <a:normAutofit/>
          </a:bodyPr>
          <a:lstStyle/>
          <a:p>
            <a:r>
              <a:rPr lang="da-DK" sz="3200" b="1" dirty="0" smtClean="0"/>
              <a:t>Free advert (#1)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990600"/>
          </a:xfrm>
        </p:spPr>
        <p:txBody>
          <a:bodyPr>
            <a:normAutofit/>
          </a:bodyPr>
          <a:lstStyle/>
          <a:p>
            <a:r>
              <a:rPr lang="en-GB" dirty="0" smtClean="0"/>
              <a:t>Why Linux? Statistics for all desktop/laptop computers: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133600"/>
            <a:ext cx="5791200" cy="4043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0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93655"/>
            <a:ext cx="7543800" cy="498814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1066800"/>
          </a:xfrm>
        </p:spPr>
        <p:txBody>
          <a:bodyPr>
            <a:normAutofit/>
          </a:bodyPr>
          <a:lstStyle/>
          <a:p>
            <a:r>
              <a:rPr lang="da-DK" sz="3200" b="1" dirty="0" smtClean="0"/>
              <a:t>Free advert (#1)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990600"/>
          </a:xfrm>
        </p:spPr>
        <p:txBody>
          <a:bodyPr>
            <a:normAutofit/>
          </a:bodyPr>
          <a:lstStyle/>
          <a:p>
            <a:r>
              <a:rPr lang="en-GB" dirty="0" smtClean="0"/>
              <a:t>Why </a:t>
            </a:r>
            <a:r>
              <a:rPr lang="en-GB" dirty="0"/>
              <a:t>Linux? Statistics for </a:t>
            </a:r>
            <a:r>
              <a:rPr lang="en-GB" dirty="0" smtClean="0"/>
              <a:t>supercomputers</a:t>
            </a:r>
            <a:r>
              <a:rPr lang="en-GB" dirty="0"/>
              <a:t>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132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1066800"/>
          </a:xfrm>
        </p:spPr>
        <p:txBody>
          <a:bodyPr>
            <a:normAutofit/>
          </a:bodyPr>
          <a:lstStyle/>
          <a:p>
            <a:r>
              <a:rPr lang="da-DK" sz="3200" b="1" dirty="0" smtClean="0"/>
              <a:t>Free advert (#1)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3048000"/>
          </a:xfrm>
        </p:spPr>
        <p:txBody>
          <a:bodyPr>
            <a:normAutofit lnSpcReduction="10000"/>
          </a:bodyPr>
          <a:lstStyle/>
          <a:p>
            <a:r>
              <a:rPr lang="en-GB" dirty="0" smtClean="0"/>
              <a:t>Why </a:t>
            </a:r>
            <a:r>
              <a:rPr lang="en-GB" dirty="0"/>
              <a:t>Linux? </a:t>
            </a:r>
            <a:endParaRPr lang="en-GB" dirty="0" smtClean="0"/>
          </a:p>
          <a:p>
            <a:r>
              <a:rPr lang="en-GB" dirty="0"/>
              <a:t>Linux is by far the leading operating system in computers used in scientific </a:t>
            </a:r>
            <a:r>
              <a:rPr lang="en-GB" dirty="0" smtClean="0"/>
              <a:t>research (CERN, NASA, etc.)</a:t>
            </a:r>
          </a:p>
          <a:p>
            <a:r>
              <a:rPr lang="en-GB" b="1" dirty="0" smtClean="0">
                <a:solidFill>
                  <a:srgbClr val="C00000"/>
                </a:solidFill>
              </a:rPr>
              <a:t>Linux kernel:</a:t>
            </a:r>
            <a:r>
              <a:rPr lang="en-GB" b="1" dirty="0" smtClean="0"/>
              <a:t> </a:t>
            </a:r>
            <a:r>
              <a:rPr lang="en-GB" dirty="0" smtClean="0"/>
              <a:t>developed by </a:t>
            </a:r>
            <a:r>
              <a:rPr lang="en-GB" dirty="0"/>
              <a:t>Linus </a:t>
            </a:r>
            <a:r>
              <a:rPr lang="en-GB" dirty="0" smtClean="0"/>
              <a:t>Torvalds in the early 90s</a:t>
            </a:r>
          </a:p>
          <a:p>
            <a:r>
              <a:rPr lang="en-GB" b="1" dirty="0" smtClean="0">
                <a:solidFill>
                  <a:srgbClr val="C00000"/>
                </a:solidFill>
              </a:rPr>
              <a:t>GNU (‘GNU’s not Unix’): </a:t>
            </a:r>
            <a:r>
              <a:rPr lang="en-GB" dirty="0" smtClean="0"/>
              <a:t>open source utilities </a:t>
            </a:r>
            <a:r>
              <a:rPr lang="en-GB" dirty="0"/>
              <a:t>to perform standard actions </a:t>
            </a:r>
            <a:r>
              <a:rPr lang="en-GB" dirty="0" smtClean="0"/>
              <a:t>on the computer </a:t>
            </a:r>
            <a:r>
              <a:rPr lang="en-DE" dirty="0" smtClean="0"/>
              <a:t>–</a:t>
            </a:r>
            <a:r>
              <a:rPr lang="en-GB" dirty="0" smtClean="0"/>
              <a:t> no licencing</a:t>
            </a:r>
          </a:p>
          <a:p>
            <a:pPr lvl="1"/>
            <a:r>
              <a:rPr lang="en-GB" dirty="0" smtClean="0"/>
              <a:t>Linux kernel + GNU utilities = Linux operating system</a:t>
            </a:r>
          </a:p>
          <a:p>
            <a:r>
              <a:rPr lang="en-GB" dirty="0" smtClean="0"/>
              <a:t>Initially, the Linux OS was basically a free Unix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4325235"/>
            <a:ext cx="2024794" cy="247805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733800" y="502920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 smtClean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Penguin named Tux </a:t>
            </a:r>
            <a:r>
              <a:rPr lang="en-GB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is the most commonly used </a:t>
            </a:r>
            <a:r>
              <a:rPr lang="en-GB" dirty="0" smtClean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logo </a:t>
            </a:r>
            <a:r>
              <a:rPr lang="en-GB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for Linux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29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1066800"/>
          </a:xfrm>
        </p:spPr>
        <p:txBody>
          <a:bodyPr>
            <a:normAutofit/>
          </a:bodyPr>
          <a:lstStyle/>
          <a:p>
            <a:r>
              <a:rPr lang="da-DK" sz="3200" b="1" dirty="0" smtClean="0"/>
              <a:t>Free advert (#1)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676400"/>
            <a:ext cx="7162800" cy="5146565"/>
          </a:xfrm>
          <a:prstGeom prst="rect">
            <a:avLst/>
          </a:prstGeom>
        </p:spPr>
      </p:pic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686800" cy="990600"/>
          </a:xfrm>
        </p:spPr>
        <p:txBody>
          <a:bodyPr>
            <a:normAutofit/>
          </a:bodyPr>
          <a:lstStyle/>
          <a:p>
            <a:r>
              <a:rPr lang="en-GB" sz="2200" dirty="0" smtClean="0"/>
              <a:t>Unix family tree </a:t>
            </a:r>
            <a:r>
              <a:rPr lang="en-DE" sz="2200" dirty="0" smtClean="0"/>
              <a:t>–</a:t>
            </a:r>
            <a:r>
              <a:rPr lang="en-GB" sz="2200" dirty="0" smtClean="0"/>
              <a:t> Linux is one of its descendants </a:t>
            </a: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1055199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1066800"/>
          </a:xfrm>
        </p:spPr>
        <p:txBody>
          <a:bodyPr>
            <a:normAutofit/>
          </a:bodyPr>
          <a:lstStyle/>
          <a:p>
            <a:r>
              <a:rPr lang="da-DK" sz="3200" b="1" dirty="0" smtClean="0"/>
              <a:t>Free advert (#1)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686800" cy="990600"/>
          </a:xfrm>
        </p:spPr>
        <p:txBody>
          <a:bodyPr>
            <a:normAutofit/>
          </a:bodyPr>
          <a:lstStyle/>
          <a:p>
            <a:r>
              <a:rPr lang="en-GB" sz="2200" dirty="0" smtClean="0"/>
              <a:t>Unix </a:t>
            </a:r>
            <a:r>
              <a:rPr lang="en-GB" sz="2200" dirty="0" smtClean="0"/>
              <a:t>w</a:t>
            </a:r>
            <a:r>
              <a:rPr lang="en-DE" sz="2200" dirty="0" smtClean="0"/>
              <a:t>as developed at “Bell Labs” in </a:t>
            </a:r>
            <a:r>
              <a:rPr lang="en-US" sz="2200" dirty="0"/>
              <a:t>Murray Hill, New </a:t>
            </a:r>
            <a:r>
              <a:rPr lang="en-US" sz="2200" dirty="0" smtClean="0"/>
              <a:t>Jersey</a:t>
            </a:r>
            <a:r>
              <a:rPr lang="en-DE" sz="2200" dirty="0" smtClean="0"/>
              <a:t>, USA, in the 70’s</a:t>
            </a:r>
            <a:endParaRPr lang="en-GB" sz="2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209800"/>
            <a:ext cx="7543800" cy="4044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366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1066800"/>
          </a:xfrm>
        </p:spPr>
        <p:txBody>
          <a:bodyPr>
            <a:normAutofit/>
          </a:bodyPr>
          <a:lstStyle/>
          <a:p>
            <a:r>
              <a:rPr lang="da-DK" sz="3200" b="1" dirty="0" smtClean="0"/>
              <a:t>Free advert (#1)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686800" cy="990600"/>
          </a:xfrm>
        </p:spPr>
        <p:txBody>
          <a:bodyPr>
            <a:normAutofit/>
          </a:bodyPr>
          <a:lstStyle/>
          <a:p>
            <a:r>
              <a:rPr lang="en-GB" sz="2200" dirty="0" smtClean="0"/>
              <a:t>Unix </a:t>
            </a:r>
            <a:r>
              <a:rPr lang="en-GB" sz="2200" dirty="0" smtClean="0"/>
              <a:t>w</a:t>
            </a:r>
            <a:r>
              <a:rPr lang="en-DE" sz="2200" dirty="0" smtClean="0"/>
              <a:t>as developed at “Bell Labs” in </a:t>
            </a:r>
            <a:r>
              <a:rPr lang="en-US" sz="2200" dirty="0"/>
              <a:t>Murray Hill, New </a:t>
            </a:r>
            <a:r>
              <a:rPr lang="en-US" sz="2200" dirty="0" smtClean="0"/>
              <a:t>Jersey</a:t>
            </a:r>
            <a:r>
              <a:rPr lang="en-DE" sz="2200" dirty="0" smtClean="0"/>
              <a:t>, USA, in the 70’s</a:t>
            </a:r>
            <a:endParaRPr lang="en-GB" sz="2200" dirty="0"/>
          </a:p>
        </p:txBody>
      </p:sp>
      <p:pic>
        <p:nvPicPr>
          <p:cNvPr id="2050" name="Picture 2" descr="https://upload.wikimedia.org/wikipedia/commons/2/2e/Bell_Laboratories_at_New_Providence%2C_New_Jersey_%287235324892%29_%28cropped%2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040" y="2209800"/>
            <a:ext cx="8305919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9311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1066800"/>
          </a:xfrm>
        </p:spPr>
        <p:txBody>
          <a:bodyPr>
            <a:normAutofit/>
          </a:bodyPr>
          <a:lstStyle/>
          <a:p>
            <a:r>
              <a:rPr lang="da-DK" sz="3200" b="1" dirty="0" smtClean="0"/>
              <a:t>Free advert (#1)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3505200"/>
          </a:xfrm>
        </p:spPr>
        <p:txBody>
          <a:bodyPr>
            <a:normAutofit fontScale="92500" lnSpcReduction="10000"/>
          </a:bodyPr>
          <a:lstStyle/>
          <a:p>
            <a:r>
              <a:rPr lang="en-GB" dirty="0" smtClean="0"/>
              <a:t>Linux family tree: Common Linux kernel and plethora of different Linux distributions built on top of it</a:t>
            </a:r>
          </a:p>
          <a:p>
            <a:pPr lvl="1"/>
            <a:r>
              <a:rPr lang="en-GB" dirty="0" smtClean="0"/>
              <a:t>Full-core: </a:t>
            </a:r>
            <a:r>
              <a:rPr lang="en-GB" dirty="0" err="1"/>
              <a:t>Debian</a:t>
            </a:r>
            <a:r>
              <a:rPr lang="en-GB" dirty="0"/>
              <a:t>, </a:t>
            </a:r>
            <a:r>
              <a:rPr lang="en-GB" dirty="0" smtClean="0"/>
              <a:t>Red Hat Enterprise, </a:t>
            </a:r>
            <a:r>
              <a:rPr lang="en-GB" dirty="0" err="1" smtClean="0"/>
              <a:t>openSUSE</a:t>
            </a:r>
            <a:r>
              <a:rPr lang="en-GB" dirty="0" smtClean="0"/>
              <a:t>, etc.</a:t>
            </a:r>
          </a:p>
          <a:p>
            <a:pPr lvl="1"/>
            <a:r>
              <a:rPr lang="en-GB" dirty="0" smtClean="0"/>
              <a:t>Specific: Ubuntu, Fedora, CentOS, Linux Mint, etc.  </a:t>
            </a:r>
          </a:p>
          <a:p>
            <a:r>
              <a:rPr lang="en-GB" dirty="0" smtClean="0"/>
              <a:t>Specific distributions are derivatives of full-core distributions: </a:t>
            </a:r>
          </a:p>
          <a:p>
            <a:pPr lvl="1"/>
            <a:r>
              <a:rPr lang="en-GB" dirty="0" smtClean="0"/>
              <a:t>Ubuntu is derivative of </a:t>
            </a:r>
            <a:r>
              <a:rPr lang="en-GB" dirty="0" err="1" smtClean="0"/>
              <a:t>Debian</a:t>
            </a:r>
            <a:r>
              <a:rPr lang="en-GB" dirty="0" smtClean="0"/>
              <a:t>, Fedora of Red Hat, etc. (see complete </a:t>
            </a:r>
            <a:r>
              <a:rPr lang="en-GB" dirty="0"/>
              <a:t>tree </a:t>
            </a:r>
            <a:r>
              <a:rPr lang="en-GB" dirty="0" smtClean="0"/>
              <a:t>at </a:t>
            </a:r>
            <a:r>
              <a:rPr lang="en-GB" sz="1900" dirty="0">
                <a:hlinkClick r:id="rId2"/>
              </a:rPr>
              <a:t>https://</a:t>
            </a:r>
            <a:r>
              <a:rPr lang="en-GB" sz="1900" dirty="0" smtClean="0">
                <a:hlinkClick r:id="rId2"/>
              </a:rPr>
              <a:t>distrowatch.com/images/other/distro-family-tree.png</a:t>
            </a:r>
            <a:r>
              <a:rPr lang="en-GB" dirty="0" smtClean="0"/>
              <a:t>)</a:t>
            </a:r>
          </a:p>
          <a:p>
            <a:r>
              <a:rPr lang="en-GB" dirty="0" smtClean="0"/>
              <a:t>The material presented in this course will be demonstrated on Ubuntu, but it applies also to any other Linux distribution</a:t>
            </a:r>
          </a:p>
          <a:p>
            <a:r>
              <a:rPr lang="en-GB" dirty="0" smtClean="0"/>
              <a:t>Regular updates on all distributions</a:t>
            </a:r>
            <a:r>
              <a:rPr lang="en-GB" dirty="0"/>
              <a:t>: </a:t>
            </a:r>
            <a:r>
              <a:rPr lang="en-GB" sz="1900" dirty="0">
                <a:hlinkClick r:id="rId3"/>
              </a:rPr>
              <a:t>https://</a:t>
            </a:r>
            <a:r>
              <a:rPr lang="en-GB" sz="1900" dirty="0" smtClean="0">
                <a:hlinkClick r:id="rId3"/>
              </a:rPr>
              <a:t>distrowatch.com</a:t>
            </a:r>
            <a:endParaRPr lang="en-GB" sz="1900" dirty="0" smtClean="0"/>
          </a:p>
          <a:p>
            <a:pPr marL="109728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pic>
        <p:nvPicPr>
          <p:cNvPr id="3074" name="Picture 2" descr="The Ubuntu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8333" y="4735830"/>
            <a:ext cx="4377267" cy="1969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2951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1066800"/>
          </a:xfrm>
        </p:spPr>
        <p:txBody>
          <a:bodyPr>
            <a:normAutofit/>
          </a:bodyPr>
          <a:lstStyle/>
          <a:p>
            <a:r>
              <a:rPr lang="en-DE" sz="3200" b="1" dirty="0" smtClean="0"/>
              <a:t>Key people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71600"/>
            <a:ext cx="2590800" cy="1143000"/>
          </a:xfrm>
        </p:spPr>
        <p:txBody>
          <a:bodyPr>
            <a:normAutofit/>
          </a:bodyPr>
          <a:lstStyle/>
          <a:p>
            <a:r>
              <a:rPr lang="en-DE" sz="2200" dirty="0" smtClean="0"/>
              <a:t>Ken Thompson</a:t>
            </a:r>
            <a:endParaRPr lang="en-GB" sz="2200" dirty="0" smtClean="0"/>
          </a:p>
          <a:p>
            <a:pPr marL="109728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142" y="2057399"/>
            <a:ext cx="2212858" cy="3242095"/>
          </a:xfrm>
          <a:prstGeom prst="rect">
            <a:avLst/>
          </a:prstGeom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3352800" y="1371600"/>
            <a:ext cx="2328740" cy="11430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0" sz="24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SzPct val="90000"/>
              <a:buFont typeface="Courier New" panose="02070309020205020404" pitchFamily="49" charset="0"/>
              <a:buChar char="o"/>
              <a:defRPr kumimoji="0" sz="2200" kern="1200">
                <a:solidFill>
                  <a:schemeClr val="accent2"/>
                </a:solidFill>
                <a:latin typeface="Helvetica" pitchFamily="34" charset="0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1800" kern="1200">
                <a:solidFill>
                  <a:schemeClr val="accent1"/>
                </a:solidFill>
                <a:latin typeface="Helvetica" pitchFamily="34" charset="0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1400" kern="1200">
                <a:solidFill>
                  <a:schemeClr val="accent1"/>
                </a:solidFill>
                <a:latin typeface="Helvetica" pitchFamily="34" charset="0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400" kern="1200">
                <a:solidFill>
                  <a:schemeClr val="accent3"/>
                </a:solidFill>
                <a:latin typeface="Helvetica" pitchFamily="34" charset="0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DE" sz="2200" dirty="0" smtClean="0">
                <a:effectLst/>
              </a:rPr>
              <a:t>Denis Ritchie</a:t>
            </a:r>
            <a:endParaRPr lang="en-GB" sz="2200" dirty="0" smtClean="0">
              <a:effectLst/>
            </a:endParaRPr>
          </a:p>
          <a:p>
            <a:pPr marL="109728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en-GB" dirty="0">
              <a:effectLst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6381" y="5383649"/>
            <a:ext cx="241123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B </a:t>
            </a:r>
            <a:r>
              <a:rPr lang="en-DE" sz="1400" dirty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programming language,</a:t>
            </a:r>
          </a:p>
          <a:p>
            <a:r>
              <a:rPr lang="en-US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UNIX </a:t>
            </a:r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  <a:r>
              <a:rPr lang="en-US" sz="1400" dirty="0" err="1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perating</a:t>
            </a:r>
            <a:r>
              <a:rPr lang="en-US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s</a:t>
            </a:r>
            <a:r>
              <a:rPr lang="en-US" sz="1400" dirty="0" err="1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ystem</a:t>
            </a:r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</a:p>
          <a:p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UTF-8 encoding,</a:t>
            </a:r>
          </a:p>
          <a:p>
            <a:r>
              <a:rPr lang="en-DE" sz="1400" dirty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Go programming language, </a:t>
            </a:r>
            <a:endParaRPr lang="en-DE" sz="1400" dirty="0" smtClean="0">
              <a:effectLst/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C</a:t>
            </a:r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hess tablebases,</a:t>
            </a:r>
          </a:p>
          <a:p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...</a:t>
            </a:r>
            <a:endParaRPr lang="en-US" sz="1400" dirty="0">
              <a:effectLst/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1251" y="2078415"/>
            <a:ext cx="2622349" cy="3221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429000" y="5383649"/>
            <a:ext cx="225254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C</a:t>
            </a:r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 programming language,</a:t>
            </a:r>
          </a:p>
          <a:p>
            <a:r>
              <a:rPr lang="en-US" sz="1400" dirty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UNIX </a:t>
            </a:r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  <a:r>
              <a:rPr lang="en-US" sz="1400" dirty="0" err="1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perating</a:t>
            </a:r>
            <a:r>
              <a:rPr lang="en-US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s</a:t>
            </a:r>
            <a:r>
              <a:rPr lang="en-US" sz="1400" dirty="0" err="1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ystem</a:t>
            </a:r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,</a:t>
            </a:r>
          </a:p>
          <a:p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...</a:t>
            </a:r>
            <a:endParaRPr lang="en-US" sz="1400" dirty="0">
              <a:effectLst/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6293051" y="1371600"/>
            <a:ext cx="2698549" cy="11430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0" sz="24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SzPct val="90000"/>
              <a:buFont typeface="Courier New" panose="02070309020205020404" pitchFamily="49" charset="0"/>
              <a:buChar char="o"/>
              <a:defRPr kumimoji="0" sz="2200" kern="1200">
                <a:solidFill>
                  <a:schemeClr val="accent2"/>
                </a:solidFill>
                <a:latin typeface="Helvetica" pitchFamily="34" charset="0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1800" kern="1200">
                <a:solidFill>
                  <a:schemeClr val="accent1"/>
                </a:solidFill>
                <a:latin typeface="Helvetica" pitchFamily="34" charset="0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1400" kern="1200">
                <a:solidFill>
                  <a:schemeClr val="accent1"/>
                </a:solidFill>
                <a:latin typeface="Helvetica" pitchFamily="34" charset="0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400" kern="1200">
                <a:solidFill>
                  <a:schemeClr val="accent3"/>
                </a:solidFill>
                <a:latin typeface="Helvetica" pitchFamily="34" charset="0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DE" sz="2200" dirty="0" smtClean="0">
                <a:effectLst/>
              </a:rPr>
              <a:t>Linus Torwalds</a:t>
            </a:r>
            <a:endParaRPr lang="en-GB" sz="2200" dirty="0" smtClean="0">
              <a:effectLst/>
            </a:endParaRPr>
          </a:p>
          <a:p>
            <a:pPr marL="109728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en-GB" dirty="0">
              <a:effectLst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65461" y="5433536"/>
            <a:ext cx="24499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L</a:t>
            </a:r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inux</a:t>
            </a:r>
            <a:r>
              <a:rPr lang="en-US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  <a:r>
              <a:rPr lang="en-US" sz="1400" dirty="0" err="1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perating</a:t>
            </a:r>
            <a:r>
              <a:rPr lang="en-US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s</a:t>
            </a:r>
            <a:r>
              <a:rPr lang="en-US" sz="1400" dirty="0" err="1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ystem</a:t>
            </a:r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,</a:t>
            </a:r>
          </a:p>
          <a:p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Git (</a:t>
            </a:r>
            <a:r>
              <a:rPr lang="en-US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version </a:t>
            </a:r>
            <a:r>
              <a:rPr lang="en-US" sz="1400" dirty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control </a:t>
            </a:r>
            <a:r>
              <a:rPr lang="en-US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system</a:t>
            </a:r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),</a:t>
            </a:r>
          </a:p>
          <a:p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...</a:t>
            </a:r>
            <a:endParaRPr lang="en-US" sz="1400" dirty="0">
              <a:effectLst/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6200" y="2057400"/>
            <a:ext cx="2278661" cy="3242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948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1066800"/>
          </a:xfrm>
        </p:spPr>
        <p:txBody>
          <a:bodyPr>
            <a:normAutofit/>
          </a:bodyPr>
          <a:lstStyle/>
          <a:p>
            <a:r>
              <a:rPr lang="da-DK" sz="3200" b="1" dirty="0" smtClean="0"/>
              <a:t>Getting Ubuntu for Windows users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3048000"/>
          </a:xfrm>
        </p:spPr>
        <p:txBody>
          <a:bodyPr>
            <a:normAutofit/>
          </a:bodyPr>
          <a:lstStyle/>
          <a:p>
            <a:r>
              <a:rPr lang="en-GB" dirty="0" smtClean="0"/>
              <a:t>If you have on your laptop only Windows, you could either:</a:t>
            </a:r>
          </a:p>
          <a:p>
            <a:pPr marL="109728" indent="0">
              <a:buNone/>
            </a:pPr>
            <a:endParaRPr lang="en-GB" sz="800" dirty="0" smtClean="0"/>
          </a:p>
          <a:p>
            <a:pPr lvl="1"/>
            <a:r>
              <a:rPr lang="en-GB" dirty="0" smtClean="0"/>
              <a:t>on </a:t>
            </a:r>
            <a:r>
              <a:rPr lang="en-GB" dirty="0"/>
              <a:t>Windows 11, use </a:t>
            </a:r>
            <a:r>
              <a:rPr lang="en-GB" dirty="0" smtClean="0">
                <a:hlinkClick r:id="rId2"/>
              </a:rPr>
              <a:t>Windows </a:t>
            </a:r>
            <a:r>
              <a:rPr lang="en-GB" dirty="0">
                <a:hlinkClick r:id="rId2"/>
              </a:rPr>
              <a:t>Subsystem for </a:t>
            </a:r>
            <a:r>
              <a:rPr lang="en-GB" dirty="0" smtClean="0">
                <a:hlinkClick r:id="rId2"/>
              </a:rPr>
              <a:t>Linux</a:t>
            </a:r>
            <a:r>
              <a:rPr lang="en-GB" dirty="0" smtClean="0"/>
              <a:t> :</a:t>
            </a:r>
          </a:p>
          <a:p>
            <a:pPr marL="411480" lvl="1" indent="0">
              <a:buNone/>
            </a:pPr>
            <a:endParaRPr lang="en-GB" sz="800" dirty="0" smtClean="0"/>
          </a:p>
          <a:p>
            <a:pPr lvl="2"/>
            <a:r>
              <a:rPr lang="en-GB" sz="1600" dirty="0" smtClean="0"/>
              <a:t> Open </a:t>
            </a:r>
            <a:r>
              <a:rPr lang="en-GB" sz="1600" dirty="0"/>
              <a:t>Windows PowerShell and list available Linux distributions with command: </a:t>
            </a:r>
            <a:r>
              <a:rPr lang="en-GB" sz="1600" dirty="0" smtClean="0"/>
              <a:t>   </a:t>
            </a:r>
          </a:p>
          <a:p>
            <a:pPr marL="704088" lvl="2" indent="0">
              <a:buNone/>
            </a:pPr>
            <a:r>
              <a:rPr lang="en-GB" sz="1600" b="1" dirty="0" smtClean="0">
                <a:solidFill>
                  <a:schemeClr val="tx1"/>
                </a:solidFill>
                <a:cs typeface="Helvetica" panose="020B0604020202020204" pitchFamily="34" charset="0"/>
              </a:rPr>
              <a:t>          </a:t>
            </a:r>
            <a:r>
              <a:rPr lang="en-GB" sz="1600" b="1" dirty="0" err="1" smtClean="0">
                <a:solidFill>
                  <a:schemeClr val="tx1"/>
                </a:solidFill>
                <a:cs typeface="Helvetica" panose="020B0604020202020204" pitchFamily="34" charset="0"/>
              </a:rPr>
              <a:t>wsl</a:t>
            </a:r>
            <a:r>
              <a:rPr lang="en-GB" sz="1600" b="1" dirty="0" smtClean="0">
                <a:solidFill>
                  <a:schemeClr val="tx1"/>
                </a:solidFill>
                <a:cs typeface="Helvetica" panose="020B0604020202020204" pitchFamily="34" charset="0"/>
              </a:rPr>
              <a:t> </a:t>
            </a:r>
            <a:r>
              <a:rPr lang="en-GB" sz="1600" b="1" dirty="0">
                <a:solidFill>
                  <a:schemeClr val="tx1"/>
                </a:solidFill>
                <a:cs typeface="Helvetica" panose="020B0604020202020204" pitchFamily="34" charset="0"/>
              </a:rPr>
              <a:t>--list </a:t>
            </a:r>
            <a:r>
              <a:rPr lang="en-DE" sz="1600" b="1" dirty="0" smtClean="0">
                <a:solidFill>
                  <a:schemeClr val="tx1"/>
                </a:solidFill>
                <a:cs typeface="Helvetica" panose="020B0604020202020204" pitchFamily="34" charset="0"/>
              </a:rPr>
              <a:t>--</a:t>
            </a:r>
            <a:r>
              <a:rPr lang="en-GB" sz="1600" b="1" dirty="0" smtClean="0">
                <a:solidFill>
                  <a:schemeClr val="tx1"/>
                </a:solidFill>
                <a:cs typeface="Helvetica" panose="020B0604020202020204" pitchFamily="34" charset="0"/>
              </a:rPr>
              <a:t>online</a:t>
            </a:r>
            <a:endParaRPr lang="en-GB" sz="1600" b="1" dirty="0">
              <a:solidFill>
                <a:schemeClr val="tx1"/>
              </a:solidFill>
              <a:cs typeface="Helvetica" panose="020B0604020202020204" pitchFamily="34" charset="0"/>
            </a:endParaRPr>
          </a:p>
          <a:p>
            <a:pPr marL="704088" lvl="2" indent="0">
              <a:buNone/>
            </a:pPr>
            <a:endParaRPr lang="en-GB" sz="800" dirty="0" smtClean="0"/>
          </a:p>
          <a:p>
            <a:pPr lvl="2"/>
            <a:r>
              <a:rPr lang="en-GB" sz="1600" dirty="0" smtClean="0"/>
              <a:t> Pick </a:t>
            </a:r>
            <a:r>
              <a:rPr lang="en-GB" sz="1600" dirty="0"/>
              <a:t>up your </a:t>
            </a:r>
            <a:r>
              <a:rPr lang="en-DE" sz="1600" dirty="0" smtClean="0"/>
              <a:t>favorite</a:t>
            </a:r>
            <a:r>
              <a:rPr lang="en-GB" sz="1600" dirty="0" smtClean="0"/>
              <a:t> </a:t>
            </a:r>
            <a:r>
              <a:rPr lang="en-GB" sz="1600" dirty="0"/>
              <a:t>Linux distribution, and install </a:t>
            </a:r>
            <a:r>
              <a:rPr lang="en-GB" sz="1600" dirty="0" smtClean="0"/>
              <a:t>it</a:t>
            </a:r>
            <a:r>
              <a:rPr lang="en-DE" sz="1600" dirty="0" smtClean="0"/>
              <a:t> e.g.</a:t>
            </a:r>
            <a:r>
              <a:rPr lang="en-GB" sz="1600" dirty="0" smtClean="0"/>
              <a:t> as follows:            </a:t>
            </a:r>
          </a:p>
          <a:p>
            <a:pPr marL="704088" lvl="2" indent="0">
              <a:buNone/>
            </a:pPr>
            <a:r>
              <a:rPr lang="en-GB" sz="1600" dirty="0" smtClean="0"/>
              <a:t>          </a:t>
            </a:r>
            <a:r>
              <a:rPr lang="en-GB" sz="1600" b="1" dirty="0" err="1" smtClean="0">
                <a:solidFill>
                  <a:schemeClr val="tx1"/>
                </a:solidFill>
              </a:rPr>
              <a:t>wsl</a:t>
            </a:r>
            <a:r>
              <a:rPr lang="en-GB" sz="1600" b="1" dirty="0" smtClean="0">
                <a:solidFill>
                  <a:schemeClr val="tx1"/>
                </a:solidFill>
              </a:rPr>
              <a:t> </a:t>
            </a:r>
            <a:r>
              <a:rPr lang="en-GB" sz="1600" b="1" dirty="0">
                <a:solidFill>
                  <a:schemeClr val="tx1"/>
                </a:solidFill>
              </a:rPr>
              <a:t>--install </a:t>
            </a:r>
            <a:r>
              <a:rPr lang="en-GB" sz="1600" b="1" dirty="0" smtClean="0">
                <a:solidFill>
                  <a:schemeClr val="tx1"/>
                </a:solidFill>
              </a:rPr>
              <a:t>Ubuntu-22.04</a:t>
            </a:r>
          </a:p>
          <a:p>
            <a:pPr marL="704088" lvl="2" indent="0">
              <a:buNone/>
            </a:pPr>
            <a:endParaRPr lang="en-GB" sz="800" dirty="0">
              <a:solidFill>
                <a:srgbClr val="002060"/>
              </a:solidFill>
            </a:endParaRPr>
          </a:p>
          <a:p>
            <a:pPr lvl="2"/>
            <a:r>
              <a:rPr lang="en-GB" sz="1600" dirty="0" smtClean="0">
                <a:solidFill>
                  <a:srgbClr val="002060"/>
                </a:solidFill>
              </a:rPr>
              <a:t>The </a:t>
            </a:r>
            <a:r>
              <a:rPr lang="en-GB" sz="1600" dirty="0">
                <a:solidFill>
                  <a:srgbClr val="002060"/>
                </a:solidFill>
              </a:rPr>
              <a:t>rest is easy </a:t>
            </a:r>
            <a:r>
              <a:rPr lang="en-GB" sz="1600" dirty="0"/>
              <a:t>(pick up your account, etc</a:t>
            </a:r>
            <a:r>
              <a:rPr lang="en-GB" sz="1600" dirty="0" smtClean="0"/>
              <a:t>.)</a:t>
            </a:r>
            <a:endParaRPr lang="en-GB" sz="2000" b="1" dirty="0" smtClean="0">
              <a:solidFill>
                <a:schemeClr val="tx1"/>
              </a:solidFill>
            </a:endParaRPr>
          </a:p>
          <a:p>
            <a:pPr marL="704088" lvl="2" indent="0">
              <a:buNone/>
            </a:pPr>
            <a:endParaRPr lang="en-GB" sz="2000" b="1" dirty="0" smtClean="0">
              <a:solidFill>
                <a:schemeClr val="tx1"/>
              </a:solidFill>
              <a:cs typeface="Helvetica" panose="020B0604020202020204" pitchFamily="34" charset="0"/>
            </a:endParaRPr>
          </a:p>
          <a:p>
            <a:pPr marL="411480" lvl="1" indent="0">
              <a:buNone/>
            </a:pPr>
            <a:endParaRPr lang="en-GB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304800" y="4572000"/>
            <a:ext cx="8686800" cy="12954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0" sz="24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SzPct val="90000"/>
              <a:buFont typeface="Courier New" panose="02070309020205020404" pitchFamily="49" charset="0"/>
              <a:buChar char="o"/>
              <a:defRPr kumimoji="0" sz="2200" kern="1200">
                <a:solidFill>
                  <a:schemeClr val="accent2"/>
                </a:solidFill>
                <a:latin typeface="Helvetica" pitchFamily="34" charset="0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1800" kern="1200">
                <a:solidFill>
                  <a:schemeClr val="accent1"/>
                </a:solidFill>
                <a:latin typeface="Helvetica" pitchFamily="34" charset="0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1400" kern="1200">
                <a:solidFill>
                  <a:schemeClr val="accent1"/>
                </a:solidFill>
                <a:latin typeface="Helvetica" pitchFamily="34" charset="0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400" kern="1200">
                <a:solidFill>
                  <a:schemeClr val="accent3"/>
                </a:solidFill>
                <a:latin typeface="Helvetica" pitchFamily="34" charset="0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 fontAlgn="auto">
              <a:spcAft>
                <a:spcPts val="0"/>
              </a:spcAft>
            </a:pPr>
            <a:r>
              <a:rPr lang="en-GB" dirty="0" smtClean="0">
                <a:effectLst/>
              </a:rPr>
              <a:t>or, install </a:t>
            </a:r>
            <a:r>
              <a:rPr lang="en-GB" dirty="0" err="1" smtClean="0">
                <a:effectLst/>
              </a:rPr>
              <a:t>PuTTY</a:t>
            </a:r>
            <a:r>
              <a:rPr lang="en-GB" dirty="0" smtClean="0">
                <a:effectLst/>
              </a:rPr>
              <a:t> </a:t>
            </a:r>
            <a:r>
              <a:rPr lang="en-GB" dirty="0">
                <a:effectLst/>
              </a:rPr>
              <a:t>(</a:t>
            </a:r>
            <a:r>
              <a:rPr lang="en-GB" sz="1800" dirty="0">
                <a:effectLst/>
              </a:rPr>
              <a:t> </a:t>
            </a:r>
            <a:r>
              <a:rPr lang="en-GB" dirty="0">
                <a:effectLst/>
                <a:hlinkClick r:id="rId3"/>
              </a:rPr>
              <a:t>https://www.putty.org</a:t>
            </a:r>
            <a:r>
              <a:rPr lang="en-GB" dirty="0" smtClean="0">
                <a:effectLst/>
                <a:hlinkClick r:id="rId3"/>
              </a:rPr>
              <a:t>/</a:t>
            </a:r>
            <a:r>
              <a:rPr lang="en-GB" dirty="0" smtClean="0">
                <a:effectLst/>
              </a:rPr>
              <a:t> </a:t>
            </a:r>
            <a:r>
              <a:rPr lang="en-GB" dirty="0">
                <a:effectLst/>
              </a:rPr>
              <a:t>) and then use it to connect </a:t>
            </a:r>
            <a:r>
              <a:rPr lang="en-GB" dirty="0" smtClean="0">
                <a:effectLst/>
              </a:rPr>
              <a:t>and work remotely on </a:t>
            </a:r>
            <a:r>
              <a:rPr lang="en-GB" dirty="0">
                <a:effectLst/>
              </a:rPr>
              <a:t>some </a:t>
            </a:r>
            <a:r>
              <a:rPr lang="en-GB" dirty="0" smtClean="0">
                <a:effectLst/>
              </a:rPr>
              <a:t>computer </a:t>
            </a:r>
            <a:r>
              <a:rPr lang="en-GB" dirty="0">
                <a:effectLst/>
              </a:rPr>
              <a:t>running Linux</a:t>
            </a:r>
            <a:r>
              <a:rPr lang="en-GB" dirty="0" smtClean="0">
                <a:effectLst/>
              </a:rPr>
              <a:t>, on which </a:t>
            </a:r>
            <a:r>
              <a:rPr lang="en-GB" dirty="0">
                <a:effectLst/>
              </a:rPr>
              <a:t>you </a:t>
            </a:r>
            <a:r>
              <a:rPr lang="en-GB" dirty="0" smtClean="0">
                <a:effectLst/>
              </a:rPr>
              <a:t>have an account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open Windows PowerShell and list available Linux distributions with: </a:t>
            </a: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rgbClr val="222222"/>
                </a:solidFill>
                <a:effectLst/>
                <a:latin typeface="Arial Unicode MS"/>
                <a:cs typeface="Arial" panose="020B0604020202020204" pitchFamily="34" charset="0"/>
              </a:rPr>
              <a:t>wsl --list --online</a:t>
            </a:r>
            <a:endParaRPr kumimoji="0" lang="en-US" altLang="en-US" sz="600" b="0" i="0" u="none" strike="noStrike" cap="none" normalizeH="0" baseline="0" smtClean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3262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1066800"/>
          </a:xfrm>
        </p:spPr>
        <p:txBody>
          <a:bodyPr>
            <a:normAutofit/>
          </a:bodyPr>
          <a:lstStyle/>
          <a:p>
            <a:r>
              <a:rPr lang="da-DK" sz="3200" b="1" dirty="0" smtClean="0"/>
              <a:t>Free advert (#2)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990600"/>
          </a:xfrm>
        </p:spPr>
        <p:txBody>
          <a:bodyPr>
            <a:normAutofit/>
          </a:bodyPr>
          <a:lstStyle/>
          <a:p>
            <a:r>
              <a:rPr lang="da-DK" dirty="0" smtClean="0"/>
              <a:t>Is this a right course for you?</a:t>
            </a:r>
            <a:endParaRPr lang="en-US" dirty="0" smtClean="0"/>
          </a:p>
          <a:p>
            <a:pPr lvl="1"/>
            <a:r>
              <a:rPr lang="en-GB" dirty="0" smtClean="0"/>
              <a:t>If, after you have opened a terminal in Linux </a:t>
            </a:r>
            <a:r>
              <a:rPr lang="en-DE" dirty="0" smtClean="0"/>
              <a:t>…</a:t>
            </a:r>
            <a:endParaRPr lang="en-US" dirty="0"/>
          </a:p>
          <a:p>
            <a:pPr lvl="1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04800" y="5715000"/>
            <a:ext cx="8686800" cy="9906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0" sz="24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SzPct val="90000"/>
              <a:buFont typeface="Courier New" panose="02070309020205020404" pitchFamily="49" charset="0"/>
              <a:buChar char="o"/>
              <a:defRPr kumimoji="0" sz="2200" kern="1200">
                <a:solidFill>
                  <a:schemeClr val="accent2"/>
                </a:solidFill>
                <a:latin typeface="Helvetica" pitchFamily="34" charset="0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1800" kern="1200">
                <a:solidFill>
                  <a:schemeClr val="accent1"/>
                </a:solidFill>
                <a:latin typeface="Helvetica" pitchFamily="34" charset="0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1400" kern="1200">
                <a:solidFill>
                  <a:schemeClr val="accent1"/>
                </a:solidFill>
                <a:latin typeface="Helvetica" pitchFamily="34" charset="0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400" kern="1200">
                <a:solidFill>
                  <a:schemeClr val="accent3"/>
                </a:solidFill>
                <a:latin typeface="Helvetica" pitchFamily="34" charset="0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11480" lvl="1" indent="0" fontAlgn="auto">
              <a:spcAft>
                <a:spcPts val="0"/>
              </a:spcAft>
              <a:buNone/>
            </a:pPr>
            <a:r>
              <a:rPr lang="en-DE" dirty="0" smtClean="0">
                <a:effectLst/>
              </a:rPr>
              <a:t>…</a:t>
            </a:r>
            <a:r>
              <a:rPr lang="en-GB" dirty="0" smtClean="0">
                <a:effectLst/>
              </a:rPr>
              <a:t> you have asked yourself: ‘What now?’, then this is the right course for you! </a:t>
            </a:r>
            <a:endParaRPr lang="en-US" dirty="0" smtClean="0">
              <a:effectLst/>
            </a:endParaRPr>
          </a:p>
          <a:p>
            <a:pPr lvl="1" fontAlgn="auto">
              <a:spcAft>
                <a:spcPts val="0"/>
              </a:spcAft>
            </a:pPr>
            <a:endParaRPr lang="en-GB" dirty="0">
              <a:effectLst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279466"/>
            <a:ext cx="6248400" cy="3435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343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1066800"/>
          </a:xfrm>
        </p:spPr>
        <p:txBody>
          <a:bodyPr>
            <a:normAutofit/>
          </a:bodyPr>
          <a:lstStyle/>
          <a:p>
            <a:r>
              <a:rPr lang="da-DK" sz="3200" b="1" dirty="0" smtClean="0"/>
              <a:t>Free advert (#2)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4648200"/>
          </a:xfrm>
        </p:spPr>
        <p:txBody>
          <a:bodyPr>
            <a:normAutofit/>
          </a:bodyPr>
          <a:lstStyle/>
          <a:p>
            <a:pPr algn="just"/>
            <a:r>
              <a:rPr lang="en-GB" dirty="0" smtClean="0"/>
              <a:t>What can we do in the terminal?</a:t>
            </a:r>
            <a:endParaRPr lang="en-US" dirty="0" smtClean="0"/>
          </a:p>
          <a:p>
            <a:pPr lvl="1" algn="just"/>
            <a:r>
              <a:rPr lang="en-GB" dirty="0" smtClean="0"/>
              <a:t>Not that much with the mouse</a:t>
            </a:r>
            <a:r>
              <a:rPr lang="en-DE" dirty="0" smtClean="0"/>
              <a:t>…</a:t>
            </a:r>
            <a:endParaRPr lang="en-GB" dirty="0" smtClean="0"/>
          </a:p>
          <a:p>
            <a:pPr algn="just"/>
            <a:r>
              <a:rPr lang="en-GB" dirty="0"/>
              <a:t>Next, you can start typing and pressing ‘Enter’, </a:t>
            </a:r>
            <a:r>
              <a:rPr lang="en-GB" dirty="0" smtClean="0"/>
              <a:t>but most </a:t>
            </a:r>
            <a:r>
              <a:rPr lang="en-GB" dirty="0"/>
              <a:t>likely whatever you have typed in the terminal will produce </a:t>
            </a:r>
            <a:r>
              <a:rPr lang="en-GB" dirty="0" smtClean="0"/>
              <a:t>only </a:t>
            </a:r>
            <a:r>
              <a:rPr lang="en-GB" dirty="0"/>
              <a:t>error </a:t>
            </a:r>
            <a:r>
              <a:rPr lang="en-GB" dirty="0" smtClean="0"/>
              <a:t>messages</a:t>
            </a:r>
          </a:p>
          <a:p>
            <a:pPr lvl="1" algn="just"/>
            <a:r>
              <a:rPr lang="en-GB" dirty="0" smtClean="0"/>
              <a:t>Still</a:t>
            </a:r>
            <a:r>
              <a:rPr lang="en-GB" dirty="0"/>
              <a:t>, that is something, as it clearly means that there is some secret/magic language </a:t>
            </a:r>
            <a:r>
              <a:rPr lang="en-DE" dirty="0" smtClean="0"/>
              <a:t>that</a:t>
            </a:r>
            <a:r>
              <a:rPr lang="en-GB" dirty="0" smtClean="0"/>
              <a:t> </a:t>
            </a:r>
            <a:r>
              <a:rPr lang="en-GB" dirty="0"/>
              <a:t>is trying to respond to, or to interpret, your command input, as soon as you have typed something in the terminal and pressed ‘Enter’. What is that secret built-in language available in the terminal</a:t>
            </a:r>
            <a:r>
              <a:rPr lang="en-GB" dirty="0" smtClean="0"/>
              <a:t>?</a:t>
            </a:r>
            <a:endParaRPr lang="en-US" dirty="0"/>
          </a:p>
          <a:p>
            <a:pPr lvl="1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298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33400"/>
            <a:ext cx="8839200" cy="838200"/>
          </a:xfrm>
        </p:spPr>
        <p:txBody>
          <a:bodyPr>
            <a:noAutofit/>
          </a:bodyPr>
          <a:lstStyle/>
          <a:p>
            <a:r>
              <a:rPr lang="da-DK" sz="3200" b="1" dirty="0" smtClean="0"/>
              <a:t>Linux shells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50292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 smtClean="0"/>
              <a:t>Loosely speaking, shell is </a:t>
            </a:r>
            <a:r>
              <a:rPr lang="en-US" dirty="0"/>
              <a:t>any program that </a:t>
            </a:r>
            <a:r>
              <a:rPr lang="en-US" dirty="0" smtClean="0"/>
              <a:t>user employs </a:t>
            </a:r>
            <a:r>
              <a:rPr lang="en-US" dirty="0"/>
              <a:t>to type </a:t>
            </a:r>
            <a:r>
              <a:rPr lang="en-US" dirty="0" smtClean="0"/>
              <a:t>commands in the terminal (text window)</a:t>
            </a:r>
          </a:p>
          <a:p>
            <a:pPr algn="just"/>
            <a:r>
              <a:rPr lang="da-DK" dirty="0" smtClean="0"/>
              <a:t>Example shells:</a:t>
            </a:r>
          </a:p>
          <a:p>
            <a:pPr lvl="1" algn="just"/>
            <a:r>
              <a:rPr lang="da-DK" dirty="0"/>
              <a:t>s</a:t>
            </a:r>
            <a:r>
              <a:rPr lang="da-DK" dirty="0" smtClean="0"/>
              <a:t>h</a:t>
            </a:r>
          </a:p>
          <a:p>
            <a:pPr lvl="1" algn="just"/>
            <a:r>
              <a:rPr lang="da-DK" dirty="0"/>
              <a:t>b</a:t>
            </a:r>
            <a:r>
              <a:rPr lang="da-DK" dirty="0" smtClean="0"/>
              <a:t>ash</a:t>
            </a:r>
          </a:p>
          <a:p>
            <a:pPr lvl="1" algn="just"/>
            <a:r>
              <a:rPr lang="da-DK" dirty="0" smtClean="0"/>
              <a:t>zsh</a:t>
            </a:r>
          </a:p>
          <a:p>
            <a:pPr lvl="1" algn="just"/>
            <a:r>
              <a:rPr lang="da-DK" dirty="0" smtClean="0"/>
              <a:t>ksh</a:t>
            </a:r>
          </a:p>
          <a:p>
            <a:pPr lvl="1" algn="just"/>
            <a:r>
              <a:rPr lang="da-DK" dirty="0" smtClean="0"/>
              <a:t>csh</a:t>
            </a:r>
          </a:p>
          <a:p>
            <a:pPr lvl="1" algn="just"/>
            <a:r>
              <a:rPr lang="da-DK" dirty="0" smtClean="0"/>
              <a:t>fish</a:t>
            </a:r>
          </a:p>
          <a:p>
            <a:pPr lvl="1" algn="just"/>
            <a:r>
              <a:rPr lang="da-DK" dirty="0" smtClean="0"/>
              <a:t>PowerShell (developed by Microsoft)</a:t>
            </a:r>
          </a:p>
          <a:p>
            <a:pPr algn="just"/>
            <a:r>
              <a:rPr lang="da-DK" dirty="0" smtClean="0"/>
              <a:t>Since Bash is the default shell on most Linux distributions nowadays, we focus on it</a:t>
            </a:r>
          </a:p>
          <a:p>
            <a:pPr lvl="1" algn="just"/>
            <a:r>
              <a:rPr lang="da-DK" dirty="0" smtClean="0"/>
              <a:t>If not set by default, just type </a:t>
            </a:r>
            <a:r>
              <a:rPr lang="da-DK" b="1" dirty="0" smtClean="0"/>
              <a:t>bash</a:t>
            </a:r>
            <a:r>
              <a:rPr lang="da-DK" dirty="0" smtClean="0"/>
              <a:t> in the terminal, and you are in the </a:t>
            </a:r>
            <a:r>
              <a:rPr lang="da-DK" dirty="0"/>
              <a:t>B</a:t>
            </a:r>
            <a:r>
              <a:rPr lang="da-DK" dirty="0" smtClean="0"/>
              <a:t>ash wonderland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sp>
        <p:nvSpPr>
          <p:cNvPr id="5" name="AutoShape 2" descr="data:image/jpeg;base64,/9j/4AAQSkZJRgABAQAAAQABAAD/2wCEAAkGBxAPEBUPDxAQEBAPDxAQEA8PEBAQDw4PFREWFhUVFRUYHiggGBomHRYXITEhJSkrLi4uGB8zODMsNygtLisBCgoKDg0OGxAQFzIlHh8tListKy0tMS0tLS0tLS8tLi0tLS0vLSstLS0tLS0tLSstLS0wLS0tNzUtNzcrNy8tLv/AABEIAJ4BPwMBIgACEQEDEQH/xAAbAAACAwEBAQAAAAAAAAAAAAAAAQIEBQYDB//EAEMQAAEEAQMBBQMHCgUDBQAAAAEAAgMRBAUSITEGEyJBUTJhcRQVI4GRstEzUlNic4KSk6HBQkNUcrEHovAWY6Ph8f/EABkBAQEBAQEBAAAAAAAAAAAAAAABBAMCBf/EAC8RAAICAQIEBAUDBQAAAAAAAAABAhEDEiEEMUHwE1GR4SIyYYGxFEJiI0NSodH/2gAMAwEAAhEDEQA/APuKEIQAhCEAIQhACSaRQAkmkgEUJpKASCmkoUSSZQgEkmhCiKSaSgEkmkoASTSUKJJNCAikpJKAikpJKFEkmkoBJJpWEKAYSpdyfUJGVR71S0NxujPx+C8yp96k42psUghnVCbOqA2EIQtRxBCEIAQhCAEIQgEhBQgEkmUKASSaEKIpJpKAEk0kAkJpKFEkmkgEhMpKASSaShRJJpIBJKSShSKE0lAQkdQJ9FRdOvfUXVGT8P8AlYhn96zZZ06OkI2aJnS79Zpn96O/XHxDppNMTKbZllCf3qbZ/eqshNJsxutejOqpae+7+r+6us6rTB2rObVGuhCFsOAIQhACEIQAhCEAJJpFACSaRQAUk0lACRTSQokIKFAJJNBQokk0lAJJNCgEkmkoUSSaSASSkkoBJFNJQpXzot8bmjqWmviOQuNM67krj+1GnGN3fRj6N3tgf4HevwKx8XF1qXQ74WrplTv0d+sc5CXylfO8Q1aDaE69GzrEblLe0HTXzESOFRA3z/me4e73rpjbm6R4klFWzoNKiLYwT1f4vgPJXWdUJs6r6sVSSMbdmshCFrOIIQhACEIQAhCEAIQhAJCChAJBQhQCQhCFEUk0lAJCaSFEhMpKASSy4ceSW3meVtveA1pAa0BxAA49y9Pm1/8AqJv4m/guam3uonql5l9CofNr/wDUzfa38Ejpsn+pm/7PwU1S/wAfwKXmX1EmlROmyf6mb/s/BUs/Ela01kSurmjso1zR4XmWRpXp/B6UU+psd631XhmZrI2l3p6rEh1WM8FwBHUHghUdYzWTMMDHW5xF1zQXCfErTaPaxb7nSadqLZ2GSqYDV31I60vbHyWvBIPAJB+K4zE0zIa3YyTbH6bel9aW/h6RI1u0TvA61tZ1+xTFmyS/aWcIrqX58wDpR+KpS57zYLGOBFEG+QvX5kf+nd/BH+CkNFf+nP8ALj/Be34r6fg8rQupyc+jNJJbbbJpvUAelqo/Qz5O/ou2OiP/AE5/lsS+Y3/pv/iYsr4Nv9p2Wf6mLoXZ3HAD3u72Qc7Dw1p/2+f1rp6WPJAY3ljiHFoDg8DaaPlQV3Cyb4u/etGHTD4ao5zblvZbQ3qhNnVaDkaqEKMjw3r5kD6yaC0nIdrx+VN+qrJPG2zQsdRazNQztrbdQ8LgXPY9jQDI1vtCyDzx6qlLnfSBoJMjXlzQbc5he4xsDwzh0dWeTY4XCWZLY0w4aUlZvjI45FO4Lmgg7WkkWT6cL2Y8Hp5cLlflrW923Y+Nm8BjX7x+UL2uDjyHmxYB4pauBL+cSXVCHWS5wdt8w3wt+rhSGZN0XJw7irNdeQed5b5bA767IUo3X/8AlLyP5U/sh94rQZSwhcPg6zqUbAH40k8jy6y4BrY3hzfDwB4du43zyKtPO7TajC4Mdhs3Oe1jS0SuaXFhdxR5uq8tvnaA7dC4s9o9Uuvm4fl3M9skbBfn9hvolrGbq7oInQxNjm72Xvmx0WmMQF7K33/ipteddRaA7VC4sdodUsj5vBqZ7BTnDe0NcWmzwLIHPvUcXtFqr3MadPa3ewlznF4ax/ebRfurqPcgO2QuU0rVdRkyG97jtZAaZINrmmN/jJLST4qpoJ6GwQqseq6lGXnuJJnGcscx8bGxReJ20ROadzmkBniI43En0QHaoXHs1/UnUW4AFECRr3OaS7cAQw+nN2fRe+h6hnzZA76IxwGMk+HaN+1tcHkc2gOpQhCA8ioqRSXkpS0z2P35PvlXFS0z2P35PvlXLXPH8qPUuY0KG5G5etSJRJV8iOxS9tyRXl0yo5rP0ON5st5TwtFZGeG0uhLAgRhZv08Lujr4rqitDjgeStsbSKTtd4pI5t2TCahuRuXuzyTQkCherBzWvPqR59GN/us3QMovBN/4ir3aIHdIQCajbdc+qzez+K5jS3rtcQT+tfP9bXypt+L6muNaDrGOsA+5SZ1VfEdxSst6rdF2jgzUVLOl2tcQ7oK9oNa11W3c7yB4H1q6s7UQQd5LQG9Xv/JNbbbD23yTzR8l3yP4TzjScjEypDdNcG8vLiXzAsviVoe7w3u2ht+V0s3UtWjxoy6QiERvjm+kqOGJzjT4nOYfpHmya9Vbzxs3GUV4I9xnjdOSwTu8Jc00TyCBVhcT/wBRNzGQT+wzG1V78iRkNhhPsS7HGnAe/jlYYrVPS2fUm9GPUldd9+50Gha5jzOLIZWAR79zojIx8GOXAgmKQWbN80r+k9r8CR7Y4cmIFwmcIg55ETY7txqg1u0E8+a5LSdRxsnVGTt1KTNljxJWl8eHHFCI3dGPeDwb6WFk6Jpgk7PZboYw7IkdLucIy6ZzWz9A702g8BdvCjB8++130yPPPJG2u+33vf1LS+3ulzSjHjzI3SOdtjvftkPo17hTj8Cuj/zT+zb94r5HpHazRn4un4vyY5WQx8LG47IwZMeYcOkd6i+f6r64Pyp/Zt+8VqXIxvmUm6sdoLopLIshrSa9Aos1gkX3Et1YG08mul/0WnFM13LXNcASCWkGiOoU7VJyMyTVvzYZTQcTbSPZF0E36t0LYZXAuId4eW1V8efX+i0HyBoskAepNBDXAixVHmx0KAoO1Mgg93JsMe/2TvB3VVf+dUjrLQaMU11urZzVLRDwfTjrz0TtAZztUsO2RSW3oXtLWk7q+Neafzr/AOzMa60zi/ctC0WgM751H6Kb+Dp0/FeuLqAkO3u5G8E25tNv0VmOVrvZINEg0bojqFMFANCEIDyKSZSXkpR0z2P35PvlWyqWmnwfvyffKuLjD5Ue5cyKzu0ue/GwsnJjDS/HxZ5mB4JaXsjc4WBViwtFVNXwG5WPLjPLmsyIZIXObW5rZGFpIvi+VQcI/thmM0/5Y6WDc+fCiBk07Mx2QNmP0ji177mABFFtDg9bXth9s8uXHYI248s2VqT8HEygyWLFlja0udOYi4upu17du7kt6rbZ2SuFkE2blTxwzYk0IkbjNMRxnbmtBZGLBoA3Z8PFJZPYnHeJAJZ4zJnfOETonNa7Ey9tOdFx0dyS11jkr1tff09zzvXf19jWw2ZjYXiaTGkyPF3T2RyRQnwjbvYXOI5u6PSlxw7YZ0bM1jxi5D8bLxMPGyYmSR48mROWte17S5x+jLhdO93C62LSZBjSQPzMmR8wePlLjE2ePc3b9HsaGtqrHHWysfE7DRsxDguy8mSCo+5BbjRuxpGSCRsrHRxgl+4Akuu/Pqoq6l6Fc9oc9kOfGRivytMNmUNljgfC7HMwd3dk7h7O3cB52rGqavlt06PUGT40DW4TcjIEuNJNve6NrgI6lbt5JFG+oXueyDfk88PyvJ7zNeXZWURAZ52933ewgs2NbtoeFo6KZ7JsdiwYcuRPNFjTQygPEIMzYaMcUm1oBYCAfU0LKe3uPc09AlyH4sL8trG5D4mPmZGCGMe4XtAJPS66+SvoQowTaheb5KWdmansNDz/AKBSU1FblUWzH7QTyMyWiIOJcQPD1oNWjiDaPEA1x5PFWVWOoMDt4bbzxuPWlPvzMQy9pddHrXCxJrU3fPod3ySosYk4dIQ3o1vJ998K+zqvHExWxN2sHvJPVx9SvdvVaoJpbnKT8jTVPMbxwOvmCAS/o0UeD1/oriRC1NWjlF07OSnYWHvAdu3cSSIW950Y83u47x20g1xtVZ2M2R4adwcdkTZC7fP3LD4+9a+tzS4bbF3wuiycIXbW+yI+WiNgc0PJcCSOnmR9io5Wng7RtaSHubuoPDPF3kZc5/iJuuAasrDPEz6mPOmu+/8Apj6fhxxtt1DvGy7e8ijhhD99Rh8Y5LuDRW1p8LejGtY32i1rW13jhZdtNFt8iq814Q6ewU5sRYNu+nhpMW3lschNnlzi4EchauFjFtBwPh7sNJp/LWckP6nzFuTHjd79/c858ka27+yPTD0+FjjIyGNj3clwjja/nysBe/8Amn9m37xXsxlen1Lx/wA0/s2/eK3LkfNZhDR2ObujyOu8AcNYbNgAeQseSUGhNB3HI8DY6JY4NIcd19OjeennS0ToUXkXD4Vz093Hsj+qb9DiLHRguaJK3bdoJAN+nvWTwP4/7N/6nprfoil8xQ0QZrcNpslvhoOuh5DxH4UFW1LSGBoDJwDI4Nt76bdO54uzR46dArruzUQqi7hzS4miXtB6X7xx8CVI9mYDd7yHG6JBaOvAFdOR/CFHhbVaF6nqPERTvxH6Hnk6PG575BNtLn7y0Fo8QYAQT+6PgCfVQxtGYI2MfOSQS8lrqaS+Puxt+y/jyvSPszFTtxdb3SHh26gSQDZA5r7LI56q0NDi2sbbiI2bW9Pfz8fEVVid24L1PDzpKlkfp9DOOiRu+jGSdwa1tA9Swkm+f1ui9fmNnJOQ4l29zSSKG4jn3+zXvsq9JosbnOcS4F7nOsUCC6ro/UvKfs/C8MsvHdivCa3DdfP9ftKvg/wXqP1F/wBx+iKWRpEIBccjb9IHOoii4E8UD18X1cK3pODGyVzo5d5YwRPb1p3tWT6qMXZqFoIt5u6J2+GyORx1469Vd0vS2Y27YXHeQTuryFeQVhiaknpS+5MmZODSm39i8hCFqMJ5FJSKS8lM3TfY/fk++ValfTS6i4hpIaOrqHQe9VNNPg/fk++VYlaXNLQ4sJaQHiiWkjggHix71wh8p0fM4PC/6gSnBn1B8ONIIIw75LjSyuyseTcQY8lrmeCuLeBXB4W9ldsMeFsb54cyJsjYy578WQRwd5J3bRK7o0k+XPBF9QqMvYYz/KH5eWZp8rCdg99HjxY4ZEXB24taTvduA5J6cClV1v8A6eOzXB8+bueYYYnvOJE43FIXtdFZ+hB4Dg32q6rptZ43ov6326hx2ZZigyZ5NPDhKGwvEIeNtNMtEDh1+dAEkKMva5kUj5ZnSxQR6dHlPxZMUtmj3ZLo+8LrvyrZXTnzVyTsq18OfA6V23VJZZXEMAMHeQsjoc+Ktl3x1VDUuxDslsvfZhdJkadFgvkGO1oqPIdKJA0Or/Ftr3Xaiqu/Ir79S9D20xHtcQMgPZPDj9w/HkZkPknbui2xuo05oJs1wDdL2h7UwPwpdQDZmw44nLhJHskJhsPAaT+cC34grne23ZSWR0k8Imn+VZeDJNFAMfvIo8aCRgLBMdkluLTTqrrzS2OzOkyP004edE1jHtmhETRFG8YjiRGJBD4GybTZ28WnQdUVtJ7UZD5mR5TdPiMsTpnYseYX5+OzujI3dGWgP467aq75Ctwds8eTHblRwZ0kUhpmzDlLnjZuLwPzB03dL6WquH2MkbLDJNnSZDcSGeHHD4ImyBssfd/SyNNyENA8h0SzuwwlxMPF+UV83sDAX48c0U/0ezc6F5Ldw6tPO0+qOuhFfU9srt/gxta68iRr8RmaHQ48kgbiuJBkfQ8AFG7pWNL7UDIzpsJsEwbBHC9uTsd3UgkaXWTVNB42mzu56Us/G7BNZC6AZLiH6T817u6Fhu97u9rd18fs+7qtXTuz7sfKOSzIJZJjQQSwGJtPdA0tY8Pu28E23n4q7Dc1MlcprwcCHC+OvwXXShU8jFa7qFlz43NUjtjlpZxsWW0+YW7oDN79/wDhYKvyLj/9WsvN0qISkbfMdCR5D0XXYcDGMDY2hrasAe//AJWbh8bc9+h1ySVbdT1QzqhDeq+gZzTQhC0HIRFqBiF351X/AIF6IQHm2ECutjzs2ePP1UmtA6CvgpISi2CiGC93nVfVdqSEICEIQAhCEAIQhACEihANK0ihAStK1EoUAikmkoUy9P8AY/fk++VbVKAOjBa5jydzjbWOcCC4kchevf8A6kv8t/4LPF0qOr5li0bl4d/+rJ/Lf+CO/H5sn8t/4K6kSj3tFrw78ej/AOW/8Ejkt8w/+W/8E1IUWLRarfKm/rfwP/BHypv638D/AME1LzFFncjcq/ypnv8A4X/gvN+oRN4c8N/3WP8AlNS8xpZc3JFypfOkH6Vn2ps1GF3SRpr0N0prj5l0vyLRKRXj8sj/ADx/VQdqEPTvWA+m4I5R8xTMTUvyx+I+6Fu4Drjb8K+zhc7qM7XSktIcLHI5HQLc0d9x/BxWbC/6jOk18KLqG9UFNvVaziaKEIWg5ghCEAIQhACEIQAhCEAIQhACEIQAkmkUAJJpFACSaRUAJItJQoIQSkSgBFJWglCjpCSRKlglaLXmXKBkU1Cj3tczr3ilP6rWj+/91uOnAWLmlpcSbBcVm4iVxo641TswMhi3+xEVRySfnybR8GD8SVkZreDS3ezcrRjNA8i7d/uuysvDpLLfkdsr+A3ty4XtbFtyy7ykjY76x4T/AMBdf3y5jtYQ6WOuoY6/gXcf3Wji2pYznh2kZcC6vQPYd/u/sudxsf3rpNIbsBB86IWfhVUj3lexeIQ3qmUN6r6BnNBCELucwQhCAEIQgBCEIAQhCAEIQgBCEIAQhCASEFCASiVIopQpBCdIpQEUlOkqQpGkKVIpSgRpRcFMhRcEYPCRyqyzUrUjVWfDfouM76HtGFkauGyuaT5iufKl5T5zSLsLRy9Ehl5fGxx9SOftVT/0vj/mD4FzyPsKwyhlO6lA5/M1dgO1tvd6MFq9omY9jTuaW7nXXpwtiLRo2cNawD3L1+bx7l4jhyJ3Z7c41RWOpH0WFqupfSh7mkNIAvqBXqumOB8F5v0pruoaV6njySVWeYyimZ2BlNoEEG/NaHzkAqbuysR6FzP9j3NH2dE4uykQNl8jvcZHUpGOZckG4PqbuJkh7QfUK2w8qnjYYYAB0A9SrcbFvhqrc4Srof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262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33400"/>
            <a:ext cx="8839200" cy="838200"/>
          </a:xfrm>
        </p:spPr>
        <p:txBody>
          <a:bodyPr>
            <a:noAutofit/>
          </a:bodyPr>
          <a:lstStyle/>
          <a:p>
            <a:r>
              <a:rPr lang="da-DK" sz="3200" b="1" dirty="0" smtClean="0"/>
              <a:t>Why shell?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1600200"/>
          </a:xfrm>
        </p:spPr>
        <p:txBody>
          <a:bodyPr>
            <a:normAutofit/>
          </a:bodyPr>
          <a:lstStyle/>
          <a:p>
            <a:pPr algn="just"/>
            <a:r>
              <a:rPr lang="en-GB" dirty="0"/>
              <a:t>The shell translates the commands you type </a:t>
            </a:r>
            <a:r>
              <a:rPr lang="en-GB" dirty="0" smtClean="0"/>
              <a:t>into </a:t>
            </a:r>
            <a:r>
              <a:rPr lang="en-GB" dirty="0"/>
              <a:t>a format </a:t>
            </a:r>
            <a:r>
              <a:rPr lang="en-DE" dirty="0" smtClean="0"/>
              <a:t>which</a:t>
            </a:r>
            <a:r>
              <a:rPr lang="en-GB" dirty="0" smtClean="0"/>
              <a:t> </a:t>
            </a:r>
            <a:r>
              <a:rPr lang="en-GB" dirty="0"/>
              <a:t>the computer can </a:t>
            </a:r>
            <a:r>
              <a:rPr lang="en-GB" dirty="0" smtClean="0"/>
              <a:t>understand</a:t>
            </a:r>
          </a:p>
          <a:p>
            <a:pPr lvl="1" algn="just"/>
            <a:r>
              <a:rPr lang="en-GB" dirty="0" smtClean="0"/>
              <a:t>It works both </a:t>
            </a:r>
            <a:r>
              <a:rPr lang="en-GB" dirty="0" smtClean="0"/>
              <a:t>ways:</a:t>
            </a:r>
            <a:r>
              <a:rPr lang="en-DE" dirty="0" smtClean="0"/>
              <a:t> The use</a:t>
            </a:r>
            <a:r>
              <a:rPr lang="en-GB" dirty="0" smtClean="0"/>
              <a:t>r </a:t>
            </a:r>
            <a:r>
              <a:rPr lang="en-GB" dirty="0" smtClean="0"/>
              <a:t>is shielded </a:t>
            </a:r>
            <a:r>
              <a:rPr lang="en-GB" dirty="0" smtClean="0"/>
              <a:t>from</a:t>
            </a:r>
            <a:r>
              <a:rPr lang="en-DE" dirty="0" smtClean="0"/>
              <a:t> the</a:t>
            </a:r>
            <a:r>
              <a:rPr lang="en-GB" dirty="0" smtClean="0"/>
              <a:t> </a:t>
            </a:r>
            <a:r>
              <a:rPr lang="en-GB" dirty="0" smtClean="0"/>
              <a:t>Linux kernel, </a:t>
            </a:r>
            <a:r>
              <a:rPr lang="en-GB" dirty="0" smtClean="0"/>
              <a:t>and</a:t>
            </a:r>
            <a:r>
              <a:rPr lang="en-DE" dirty="0" smtClean="0"/>
              <a:t> the</a:t>
            </a:r>
            <a:r>
              <a:rPr lang="en-GB" dirty="0" smtClean="0"/>
              <a:t> </a:t>
            </a:r>
            <a:r>
              <a:rPr lang="en-GB" dirty="0" smtClean="0"/>
              <a:t>Linux kernel is shielded </a:t>
            </a:r>
            <a:r>
              <a:rPr lang="en-GB" dirty="0" smtClean="0"/>
              <a:t>from</a:t>
            </a:r>
            <a:r>
              <a:rPr lang="en-DE" dirty="0" smtClean="0"/>
              <a:t> the</a:t>
            </a:r>
            <a:r>
              <a:rPr lang="en-GB" dirty="0" smtClean="0"/>
              <a:t> </a:t>
            </a:r>
            <a:r>
              <a:rPr lang="en-GB" dirty="0" smtClean="0"/>
              <a:t>user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5" name="AutoShape 2" descr="data:image/jpeg;base64,/9j/4AAQSkZJRgABAQAAAQABAAD/2wCEAAkGBxAPEBUPDxAQEBAPDxAQEA8PEBAQDw4PFREWFhUVFRUYHiggGBomHRYXITEhJSkrLi4uGB8zODMsNygtLisBCgoKDg0OGxAQFzIlHh8tListKy0tMS0tLS0tLS8tLi0tLS0vLSstLS0tLS0tLSstLS0wLS0tNzUtNzcrNy8tLv/AABEIAJ4BPwMBIgACEQEDEQH/xAAbAAACAwEBAQAAAAAAAAAAAAAAAQIEBQYDB//EAEMQAAEEAQMBBQMHCgUDBQAAAAEAAgMRBAUSITEGEyJBUTJhcRQVI4GRstEzUlNic4KSk6HBQkNUcrEHovAWY6Ph8f/EABkBAQEBAQEBAAAAAAAAAAAAAAABBAMCBf/EAC8RAAICAQIEBAUDBQAAAAAAAAABAhEDEiEEMUHwE1GR4SIyYYGxFEJiI0NSodH/2gAMAwEAAhEDEQA/APuKEIQAhCEAIQhACSaRQAkmkgEUJpKASCmkoUSSZQgEkmhCiKSaSgEkmkoASTSUKJJNCAikpJKAikpJKFEkmkoBJJpWEKAYSpdyfUJGVR71S0NxujPx+C8yp96k42psUghnVCbOqA2EIQtRxBCEIAQhCAEIQgEhBQgEkmUKASSaEKIpJpKAEk0kAkJpKFEkmkgEhMpKASSaShRJJpIBJKSShSKE0lAQkdQJ9FRdOvfUXVGT8P8AlYhn96zZZ06OkI2aJnS79Zpn96O/XHxDppNMTKbZllCf3qbZ/eqshNJsxutejOqpae+7+r+6us6rTB2rObVGuhCFsOAIQhACEIQAhCEAJJpFACSaRQAUk0lACRTSQokIKFAJJNBQokk0lAJJNCgEkmkoUSSaSASSkkoBJFNJQpXzot8bmjqWmviOQuNM67krj+1GnGN3fRj6N3tgf4HevwKx8XF1qXQ74WrplTv0d+sc5CXylfO8Q1aDaE69GzrEblLe0HTXzESOFRA3z/me4e73rpjbm6R4klFWzoNKiLYwT1f4vgPJXWdUJs6r6sVSSMbdmshCFrOIIQhACEIQAhCEAIQhAJCChAJBQhQCQhCFEUk0lAJCaSFEhMpKASSy4ceSW3meVtveA1pAa0BxAA49y9Pm1/8AqJv4m/guam3uonql5l9CofNr/wDUzfa38Ejpsn+pm/7PwU1S/wAfwKXmX1EmlROmyf6mb/s/BUs/Ela01kSurmjso1zR4XmWRpXp/B6UU+psd631XhmZrI2l3p6rEh1WM8FwBHUHghUdYzWTMMDHW5xF1zQXCfErTaPaxb7nSadqLZ2GSqYDV31I60vbHyWvBIPAJB+K4zE0zIa3YyTbH6bel9aW/h6RI1u0TvA61tZ1+xTFmyS/aWcIrqX58wDpR+KpS57zYLGOBFEG+QvX5kf+nd/BH+CkNFf+nP8ALj/Be34r6fg8rQupyc+jNJJbbbJpvUAelqo/Qz5O/ou2OiP/AE5/lsS+Y3/pv/iYsr4Nv9p2Wf6mLoXZ3HAD3u72Qc7Dw1p/2+f1rp6WPJAY3ljiHFoDg8DaaPlQV3Cyb4u/etGHTD4ao5zblvZbQ3qhNnVaDkaqEKMjw3r5kD6yaC0nIdrx+VN+qrJPG2zQsdRazNQztrbdQ8LgXPY9jQDI1vtCyDzx6qlLnfSBoJMjXlzQbc5he4xsDwzh0dWeTY4XCWZLY0w4aUlZvjI45FO4Lmgg7WkkWT6cL2Y8Hp5cLlflrW923Y+Nm8BjX7x+UL2uDjyHmxYB4pauBL+cSXVCHWS5wdt8w3wt+rhSGZN0XJw7irNdeQed5b5bA767IUo3X/8AlLyP5U/sh94rQZSwhcPg6zqUbAH40k8jy6y4BrY3hzfDwB4du43zyKtPO7TajC4Mdhs3Oe1jS0SuaXFhdxR5uq8tvnaA7dC4s9o9Uuvm4fl3M9skbBfn9hvolrGbq7oInQxNjm72Xvmx0WmMQF7K33/ipteddRaA7VC4sdodUsj5vBqZ7BTnDe0NcWmzwLIHPvUcXtFqr3MadPa3ewlznF4ax/ebRfurqPcgO2QuU0rVdRkyG97jtZAaZINrmmN/jJLST4qpoJ6GwQqseq6lGXnuJJnGcscx8bGxReJ20ROadzmkBniI43En0QHaoXHs1/UnUW4AFECRr3OaS7cAQw+nN2fRe+h6hnzZA76IxwGMk+HaN+1tcHkc2gOpQhCA8ioqRSXkpS0z2P35PvlXFS0z2P35PvlXLXPH8qPUuY0KG5G5etSJRJV8iOxS9tyRXl0yo5rP0ON5st5TwtFZGeG0uhLAgRhZv08Lujr4rqitDjgeStsbSKTtd4pI5t2TCahuRuXuzyTQkCherBzWvPqR59GN/us3QMovBN/4ir3aIHdIQCajbdc+qzez+K5jS3rtcQT+tfP9bXypt+L6muNaDrGOsA+5SZ1VfEdxSst6rdF2jgzUVLOl2tcQ7oK9oNa11W3c7yB4H1q6s7UQQd5LQG9Xv/JNbbbD23yTzR8l3yP4TzjScjEypDdNcG8vLiXzAsviVoe7w3u2ht+V0s3UtWjxoy6QiERvjm+kqOGJzjT4nOYfpHmya9Vbzxs3GUV4I9xnjdOSwTu8Jc00TyCBVhcT/wBRNzGQT+wzG1V78iRkNhhPsS7HGnAe/jlYYrVPS2fUm9GPUldd9+50Gha5jzOLIZWAR79zojIx8GOXAgmKQWbN80r+k9r8CR7Y4cmIFwmcIg55ETY7txqg1u0E8+a5LSdRxsnVGTt1KTNljxJWl8eHHFCI3dGPeDwb6WFk6Jpgk7PZboYw7IkdLucIy6ZzWz9A702g8BdvCjB8++130yPPPJG2u+33vf1LS+3ulzSjHjzI3SOdtjvftkPo17hTj8Cuj/zT+zb94r5HpHazRn4un4vyY5WQx8LG47IwZMeYcOkd6i+f6r64Pyp/Zt+8VqXIxvmUm6sdoLopLIshrSa9Aos1gkX3Et1YG08mul/0WnFM13LXNcASCWkGiOoU7VJyMyTVvzYZTQcTbSPZF0E36t0LYZXAuId4eW1V8efX+i0HyBoskAepNBDXAixVHmx0KAoO1Mgg93JsMe/2TvB3VVf+dUjrLQaMU11urZzVLRDwfTjrz0TtAZztUsO2RSW3oXtLWk7q+Neafzr/AOzMa60zi/ctC0WgM751H6Kb+Dp0/FeuLqAkO3u5G8E25tNv0VmOVrvZINEg0bojqFMFANCEIDyKSZSXkpR0z2P35PvlWyqWmnwfvyffKuLjD5Ue5cyKzu0ue/GwsnJjDS/HxZ5mB4JaXsjc4WBViwtFVNXwG5WPLjPLmsyIZIXObW5rZGFpIvi+VQcI/thmM0/5Y6WDc+fCiBk07Mx2QNmP0ji177mABFFtDg9bXth9s8uXHYI248s2VqT8HEygyWLFlja0udOYi4upu17du7kt6rbZ2SuFkE2blTxwzYk0IkbjNMRxnbmtBZGLBoA3Z8PFJZPYnHeJAJZ4zJnfOETonNa7Ey9tOdFx0dyS11jkr1tff09zzvXf19jWw2ZjYXiaTGkyPF3T2RyRQnwjbvYXOI5u6PSlxw7YZ0bM1jxi5D8bLxMPGyYmSR48mROWte17S5x+jLhdO93C62LSZBjSQPzMmR8wePlLjE2ePc3b9HsaGtqrHHWysfE7DRsxDguy8mSCo+5BbjRuxpGSCRsrHRxgl+4Akuu/Pqoq6l6Fc9oc9kOfGRivytMNmUNljgfC7HMwd3dk7h7O3cB52rGqavlt06PUGT40DW4TcjIEuNJNve6NrgI6lbt5JFG+oXueyDfk88PyvJ7zNeXZWURAZ52933ewgs2NbtoeFo6KZ7JsdiwYcuRPNFjTQygPEIMzYaMcUm1oBYCAfU0LKe3uPc09AlyH4sL8trG5D4mPmZGCGMe4XtAJPS66+SvoQowTaheb5KWdmansNDz/AKBSU1FblUWzH7QTyMyWiIOJcQPD1oNWjiDaPEA1x5PFWVWOoMDt4bbzxuPWlPvzMQy9pddHrXCxJrU3fPod3ySosYk4dIQ3o1vJ998K+zqvHExWxN2sHvJPVx9SvdvVaoJpbnKT8jTVPMbxwOvmCAS/o0UeD1/oriRC1NWjlF07OSnYWHvAdu3cSSIW950Y83u47x20g1xtVZ2M2R4adwcdkTZC7fP3LD4+9a+tzS4bbF3wuiycIXbW+yI+WiNgc0PJcCSOnmR9io5Wng7RtaSHubuoPDPF3kZc5/iJuuAasrDPEz6mPOmu+/8Apj6fhxxtt1DvGy7e8ijhhD99Rh8Y5LuDRW1p8LejGtY32i1rW13jhZdtNFt8iq814Q6ewU5sRYNu+nhpMW3lschNnlzi4EchauFjFtBwPh7sNJp/LWckP6nzFuTHjd79/c858ka27+yPTD0+FjjIyGNj3clwjja/nysBe/8Amn9m37xXsxlen1Lx/wA0/s2/eK3LkfNZhDR2ObujyOu8AcNYbNgAeQseSUGhNB3HI8DY6JY4NIcd19OjeennS0ToUXkXD4Vz093Hsj+qb9DiLHRguaJK3bdoJAN+nvWTwP4/7N/6nprfoil8xQ0QZrcNpslvhoOuh5DxH4UFW1LSGBoDJwDI4Nt76bdO54uzR46dArruzUQqi7hzS4miXtB6X7xx8CVI9mYDd7yHG6JBaOvAFdOR/CFHhbVaF6nqPERTvxH6Hnk6PG575BNtLn7y0Fo8QYAQT+6PgCfVQxtGYI2MfOSQS8lrqaS+Puxt+y/jyvSPszFTtxdb3SHh26gSQDZA5r7LI56q0NDi2sbbiI2bW9Pfz8fEVVid24L1PDzpKlkfp9DOOiRu+jGSdwa1tA9Swkm+f1ui9fmNnJOQ4l29zSSKG4jn3+zXvsq9JosbnOcS4F7nOsUCC6ro/UvKfs/C8MsvHdivCa3DdfP9ftKvg/wXqP1F/wBx+iKWRpEIBccjb9IHOoii4E8UD18X1cK3pODGyVzo5d5YwRPb1p3tWT6qMXZqFoIt5u6J2+GyORx1469Vd0vS2Y27YXHeQTuryFeQVhiaknpS+5MmZODSm39i8hCFqMJ5FJSKS8lM3TfY/fk++ValfTS6i4hpIaOrqHQe9VNNPg/fk++VYlaXNLQ4sJaQHiiWkjggHix71wh8p0fM4PC/6gSnBn1B8ONIIIw75LjSyuyseTcQY8lrmeCuLeBXB4W9ldsMeFsb54cyJsjYy578WQRwd5J3bRK7o0k+XPBF9QqMvYYz/KH5eWZp8rCdg99HjxY4ZEXB24taTvduA5J6cClV1v8A6eOzXB8+bueYYYnvOJE43FIXtdFZ+hB4Dg32q6rptZ43ov6326hx2ZZigyZ5NPDhKGwvEIeNtNMtEDh1+dAEkKMva5kUj5ZnSxQR6dHlPxZMUtmj3ZLo+8LrvyrZXTnzVyTsq18OfA6V23VJZZXEMAMHeQsjoc+Ktl3x1VDUuxDslsvfZhdJkadFgvkGO1oqPIdKJA0Or/Ftr3Xaiqu/Ir79S9D20xHtcQMgPZPDj9w/HkZkPknbui2xuo05oJs1wDdL2h7UwPwpdQDZmw44nLhJHskJhsPAaT+cC34grne23ZSWR0k8Imn+VZeDJNFAMfvIo8aCRgLBMdkluLTTqrrzS2OzOkyP004edE1jHtmhETRFG8YjiRGJBD4GybTZ28WnQdUVtJ7UZD5mR5TdPiMsTpnYseYX5+OzujI3dGWgP467aq75Ctwds8eTHblRwZ0kUhpmzDlLnjZuLwPzB03dL6WquH2MkbLDJNnSZDcSGeHHD4ImyBssfd/SyNNyENA8h0SzuwwlxMPF+UV83sDAX48c0U/0ezc6F5Ldw6tPO0+qOuhFfU9srt/gxta68iRr8RmaHQ48kgbiuJBkfQ8AFG7pWNL7UDIzpsJsEwbBHC9uTsd3UgkaXWTVNB42mzu56Us/G7BNZC6AZLiH6T817u6Fhu97u9rd18fs+7qtXTuz7sfKOSzIJZJjQQSwGJtPdA0tY8Pu28E23n4q7Dc1MlcprwcCHC+OvwXXShU8jFa7qFlz43NUjtjlpZxsWW0+YW7oDN79/wDhYKvyLj/9WsvN0qISkbfMdCR5D0XXYcDGMDY2hrasAe//AJWbh8bc9+h1ySVbdT1QzqhDeq+gZzTQhC0HIRFqBiF351X/AIF6IQHm2ECutjzs2ePP1UmtA6CvgpISi2CiGC93nVfVdqSEICEIQAhCEAIQhACEihANK0ihAStK1EoUAikmkoUy9P8AY/fk++VbVKAOjBa5jydzjbWOcCC4kchevf8A6kv8t/4LPF0qOr5li0bl4d/+rJ/Lf+CO/H5sn8t/4K6kSj3tFrw78ej/AOW/8Ejkt8w/+W/8E1IUWLRarfKm/rfwP/BHypv638D/AME1LzFFncjcq/ypnv8A4X/gvN+oRN4c8N/3WP8AlNS8xpZc3JFypfOkH6Vn2ps1GF3SRpr0N0prj5l0vyLRKRXj8sj/ADx/VQdqEPTvWA+m4I5R8xTMTUvyx+I+6Fu4Drjb8K+zhc7qM7XSktIcLHI5HQLc0d9x/BxWbC/6jOk18KLqG9UFNvVaziaKEIWg5ghCEAIQhACEIQAhCEAIQhACEIQAkmkUAJJpFACSaRUAJItJQoIQSkSgBFJWglCjpCSRKlglaLXmXKBkU1Cj3tczr3ilP6rWj+/91uOnAWLmlpcSbBcVm4iVxo641TswMhi3+xEVRySfnybR8GD8SVkZreDS3ezcrRjNA8i7d/uuysvDpLLfkdsr+A3ty4XtbFtyy7ykjY76x4T/AMBdf3y5jtYQ6WOuoY6/gXcf3Wji2pYznh2kZcC6vQPYd/u/sudxsf3rpNIbsBB86IWfhVUj3lexeIQ3qmUN6r6BnNBCELucwQhCAEIQgBCEIAQhCAEIQgBCEIAQhCASEFCASiVIopQpBCdIpQEUlOkqQpGkKVIpSgRpRcFMhRcEYPCRyqyzUrUjVWfDfouM76HtGFkauGyuaT5iufKl5T5zSLsLRy9Ehl5fGxx9SOftVT/0vj/mD4FzyPsKwyhlO6lA5/M1dgO1tvd6MFq9omY9jTuaW7nXXpwtiLRo2cNawD3L1+bx7l4jhyJ3Z7c41RWOpH0WFqupfSh7mkNIAvqBXqumOB8F5v0pruoaV6njySVWeYyimZ2BlNoEEG/NaHzkAqbuysR6FzP9j3NH2dE4uykQNl8jvcZHUpGOZckG4PqbuJkh7QfUK2w8qnjYYYAB0A9SrcbFvhqrc4Srof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2" descr="SHEL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3694" y="3048000"/>
            <a:ext cx="4235706" cy="349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3984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33400"/>
            <a:ext cx="8839200" cy="838200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A </a:t>
            </a:r>
            <a:r>
              <a:rPr lang="en-US" sz="3200" b="1" dirty="0"/>
              <a:t>bit of </a:t>
            </a:r>
            <a:r>
              <a:rPr lang="en-US" sz="3200" b="1" dirty="0" smtClean="0"/>
              <a:t>Bash history</a:t>
            </a:r>
            <a:r>
              <a:rPr lang="en-US" sz="3200" b="1" dirty="0"/>
              <a:t> </a:t>
            </a:r>
            <a:endParaRPr lang="en-US" sz="3200" b="1" dirty="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3962400"/>
          </a:xfrm>
        </p:spPr>
        <p:txBody>
          <a:bodyPr>
            <a:normAutofit/>
          </a:bodyPr>
          <a:lstStyle/>
          <a:p>
            <a:r>
              <a:rPr lang="da-DK" dirty="0" smtClean="0"/>
              <a:t>Initial development by Brian Fox in 1989 as a part of GNU project... And it’s still alive!</a:t>
            </a:r>
          </a:p>
          <a:p>
            <a:r>
              <a:rPr lang="da-DK" dirty="0" smtClean="0"/>
              <a:t>Bash is an acronym for ‘Bourne-again shell’</a:t>
            </a:r>
          </a:p>
          <a:p>
            <a:pPr lvl="1"/>
            <a:r>
              <a:rPr lang="da-DK" dirty="0"/>
              <a:t>T</a:t>
            </a:r>
            <a:r>
              <a:rPr lang="da-DK" dirty="0" smtClean="0"/>
              <a:t>he </a:t>
            </a:r>
            <a:r>
              <a:rPr lang="da-DK" dirty="0"/>
              <a:t>original </a:t>
            </a:r>
            <a:r>
              <a:rPr lang="da-DK" dirty="0" smtClean="0"/>
              <a:t>shell ‘sh’ </a:t>
            </a:r>
            <a:r>
              <a:rPr lang="da-DK" dirty="0"/>
              <a:t>was </a:t>
            </a:r>
            <a:r>
              <a:rPr lang="da-DK" dirty="0" smtClean="0"/>
              <a:t>written in 1977 by </a:t>
            </a:r>
            <a:r>
              <a:rPr lang="da-DK" dirty="0"/>
              <a:t>Stephen </a:t>
            </a:r>
            <a:r>
              <a:rPr lang="da-DK" dirty="0" smtClean="0"/>
              <a:t>Bourne</a:t>
            </a:r>
            <a:endParaRPr lang="da-DK" dirty="0"/>
          </a:p>
          <a:p>
            <a:r>
              <a:rPr lang="da-DK" dirty="0" smtClean="0"/>
              <a:t>Written entirely in C </a:t>
            </a:r>
          </a:p>
          <a:p>
            <a:pPr lvl="1"/>
            <a:r>
              <a:rPr lang="da-DK" dirty="0" smtClean="0"/>
              <a:t>Linux kernel is mostly written in C</a:t>
            </a:r>
          </a:p>
          <a:p>
            <a:r>
              <a:rPr lang="da-DK" dirty="0" smtClean="0"/>
              <a:t>Executable: /bin/bash</a:t>
            </a:r>
          </a:p>
          <a:p>
            <a:r>
              <a:rPr lang="da-DK" dirty="0" smtClean="0"/>
              <a:t>File extension: .sh</a:t>
            </a:r>
          </a:p>
          <a:p>
            <a:r>
              <a:rPr lang="da-DK" dirty="0" smtClean="0"/>
              <a:t>Command processor / interpreted / scripting language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sp>
        <p:nvSpPr>
          <p:cNvPr id="5" name="AutoShape 2" descr="data:image/jpeg;base64,/9j/4AAQSkZJRgABAQAAAQABAAD/2wCEAAkGBxAPEBUPDxAQEBAPDxAQEA8PEBAQDw4PFREWFhUVFRUYHiggGBomHRYXITEhJSkrLi4uGB8zODMsNygtLisBCgoKDg0OGxAQFzIlHh8tListKy0tMS0tLS0tLS8tLi0tLS0vLSstLS0tLS0tLSstLS0wLS0tNzUtNzcrNy8tLv/AABEIAJ4BPwMBIgACEQEDEQH/xAAbAAACAwEBAQAAAAAAAAAAAAAAAQIEBQYDB//EAEMQAAEEAQMBBQMHCgUDBQAAAAEAAgMRBAUSITEGEyJBUTJhcRQVI4GRstEzUlNic4KSk6HBQkNUcrEHovAWY6Ph8f/EABkBAQEBAQEBAAAAAAAAAAAAAAABBAMCBf/EAC8RAAICAQIEBAUDBQAAAAAAAAABAhEDEiEEMUHwE1GR4SIyYYGxFEJiI0NSodH/2gAMAwEAAhEDEQA/APuKEIQAhCEAIQhACSaRQAkmkgEUJpKASCmkoUSSZQgEkmhCiKSaSgEkmkoASTSUKJJNCAikpJKAikpJKFEkmkoBJJpWEKAYSpdyfUJGVR71S0NxujPx+C8yp96k42psUghnVCbOqA2EIQtRxBCEIAQhCAEIQgEhBQgEkmUKASSaEKIpJpKAEk0kAkJpKFEkmkgEhMpKASSaShRJJpIBJKSShSKE0lAQkdQJ9FRdOvfUXVGT8P8AlYhn96zZZ06OkI2aJnS79Zpn96O/XHxDppNMTKbZllCf3qbZ/eqshNJsxutejOqpae+7+r+6us6rTB2rObVGuhCFsOAIQhACEIQAhCEAJJpFACSaRQAUk0lACRTSQokIKFAJJNBQokk0lAJJNCgEkmkoUSSaSASSkkoBJFNJQpXzot8bmjqWmviOQuNM67krj+1GnGN3fRj6N3tgf4HevwKx8XF1qXQ74WrplTv0d+sc5CXylfO8Q1aDaE69GzrEblLe0HTXzESOFRA3z/me4e73rpjbm6R4klFWzoNKiLYwT1f4vgPJXWdUJs6r6sVSSMbdmshCFrOIIQhACEIQAhCEAIQhAJCChAJBQhQCQhCFEUk0lAJCaSFEhMpKASSy4ceSW3meVtveA1pAa0BxAA49y9Pm1/8AqJv4m/guam3uonql5l9CofNr/wDUzfa38Ejpsn+pm/7PwU1S/wAfwKXmX1EmlROmyf6mb/s/BUs/Ela01kSurmjso1zR4XmWRpXp/B6UU+psd631XhmZrI2l3p6rEh1WM8FwBHUHghUdYzWTMMDHW5xF1zQXCfErTaPaxb7nSadqLZ2GSqYDV31I60vbHyWvBIPAJB+K4zE0zIa3YyTbH6bel9aW/h6RI1u0TvA61tZ1+xTFmyS/aWcIrqX58wDpR+KpS57zYLGOBFEG+QvX5kf+nd/BH+CkNFf+nP8ALj/Be34r6fg8rQupyc+jNJJbbbJpvUAelqo/Qz5O/ou2OiP/AE5/lsS+Y3/pv/iYsr4Nv9p2Wf6mLoXZ3HAD3u72Qc7Dw1p/2+f1rp6WPJAY3ljiHFoDg8DaaPlQV3Cyb4u/etGHTD4ao5zblvZbQ3qhNnVaDkaqEKMjw3r5kD6yaC0nIdrx+VN+qrJPG2zQsdRazNQztrbdQ8LgXPY9jQDI1vtCyDzx6qlLnfSBoJMjXlzQbc5he4xsDwzh0dWeTY4XCWZLY0w4aUlZvjI45FO4Lmgg7WkkWT6cL2Y8Hp5cLlflrW923Y+Nm8BjX7x+UL2uDjyHmxYB4pauBL+cSXVCHWS5wdt8w3wt+rhSGZN0XJw7irNdeQed5b5bA767IUo3X/8AlLyP5U/sh94rQZSwhcPg6zqUbAH40k8jy6y4BrY3hzfDwB4du43zyKtPO7TajC4Mdhs3Oe1jS0SuaXFhdxR5uq8tvnaA7dC4s9o9Uuvm4fl3M9skbBfn9hvolrGbq7oInQxNjm72Xvmx0WmMQF7K33/ipteddRaA7VC4sdodUsj5vBqZ7BTnDe0NcWmzwLIHPvUcXtFqr3MadPa3ewlznF4ax/ebRfurqPcgO2QuU0rVdRkyG97jtZAaZINrmmN/jJLST4qpoJ6GwQqseq6lGXnuJJnGcscx8bGxReJ20ROadzmkBniI43En0QHaoXHs1/UnUW4AFECRr3OaS7cAQw+nN2fRe+h6hnzZA76IxwGMk+HaN+1tcHkc2gOpQhCA8ioqRSXkpS0z2P35PvlXFS0z2P35PvlXLXPH8qPUuY0KG5G5etSJRJV8iOxS9tyRXl0yo5rP0ON5st5TwtFZGeG0uhLAgRhZv08Lujr4rqitDjgeStsbSKTtd4pI5t2TCahuRuXuzyTQkCherBzWvPqR59GN/us3QMovBN/4ir3aIHdIQCajbdc+qzez+K5jS3rtcQT+tfP9bXypt+L6muNaDrGOsA+5SZ1VfEdxSst6rdF2jgzUVLOl2tcQ7oK9oNa11W3c7yB4H1q6s7UQQd5LQG9Xv/JNbbbD23yTzR8l3yP4TzjScjEypDdNcG8vLiXzAsviVoe7w3u2ht+V0s3UtWjxoy6QiERvjm+kqOGJzjT4nOYfpHmya9Vbzxs3GUV4I9xnjdOSwTu8Jc00TyCBVhcT/wBRNzGQT+wzG1V78iRkNhhPsS7HGnAe/jlYYrVPS2fUm9GPUldd9+50Gha5jzOLIZWAR79zojIx8GOXAgmKQWbN80r+k9r8CR7Y4cmIFwmcIg55ETY7txqg1u0E8+a5LSdRxsnVGTt1KTNljxJWl8eHHFCI3dGPeDwb6WFk6Jpgk7PZboYw7IkdLucIy6ZzWz9A702g8BdvCjB8++130yPPPJG2u+33vf1LS+3ulzSjHjzI3SOdtjvftkPo17hTj8Cuj/zT+zb94r5HpHazRn4un4vyY5WQx8LG47IwZMeYcOkd6i+f6r64Pyp/Zt+8VqXIxvmUm6sdoLopLIshrSa9Aos1gkX3Et1YG08mul/0WnFM13LXNcASCWkGiOoU7VJyMyTVvzYZTQcTbSPZF0E36t0LYZXAuId4eW1V8efX+i0HyBoskAepNBDXAixVHmx0KAoO1Mgg93JsMe/2TvB3VVf+dUjrLQaMU11urZzVLRDwfTjrz0TtAZztUsO2RSW3oXtLWk7q+Neafzr/AOzMa60zi/ctC0WgM751H6Kb+Dp0/FeuLqAkO3u5G8E25tNv0VmOVrvZINEg0bojqFMFANCEIDyKSZSXkpR0z2P35PvlWyqWmnwfvyffKuLjD5Ue5cyKzu0ue/GwsnJjDS/HxZ5mB4JaXsjc4WBViwtFVNXwG5WPLjPLmsyIZIXObW5rZGFpIvi+VQcI/thmM0/5Y6WDc+fCiBk07Mx2QNmP0ji177mABFFtDg9bXth9s8uXHYI248s2VqT8HEygyWLFlja0udOYi4upu17du7kt6rbZ2SuFkE2blTxwzYk0IkbjNMRxnbmtBZGLBoA3Z8PFJZPYnHeJAJZ4zJnfOETonNa7Ey9tOdFx0dyS11jkr1tff09zzvXf19jWw2ZjYXiaTGkyPF3T2RyRQnwjbvYXOI5u6PSlxw7YZ0bM1jxi5D8bLxMPGyYmSR48mROWte17S5x+jLhdO93C62LSZBjSQPzMmR8wePlLjE2ePc3b9HsaGtqrHHWysfE7DRsxDguy8mSCo+5BbjRuxpGSCRsrHRxgl+4Akuu/Pqoq6l6Fc9oc9kOfGRivytMNmUNljgfC7HMwd3dk7h7O3cB52rGqavlt06PUGT40DW4TcjIEuNJNve6NrgI6lbt5JFG+oXueyDfk88PyvJ7zNeXZWURAZ52933ewgs2NbtoeFo6KZ7JsdiwYcuRPNFjTQygPEIMzYaMcUm1oBYCAfU0LKe3uPc09AlyH4sL8trG5D4mPmZGCGMe4XtAJPS66+SvoQowTaheb5KWdmansNDz/AKBSU1FblUWzH7QTyMyWiIOJcQPD1oNWjiDaPEA1x5PFWVWOoMDt4bbzxuPWlPvzMQy9pddHrXCxJrU3fPod3ySosYk4dIQ3o1vJ998K+zqvHExWxN2sHvJPVx9SvdvVaoJpbnKT8jTVPMbxwOvmCAS/o0UeD1/oriRC1NWjlF07OSnYWHvAdu3cSSIW950Y83u47x20g1xtVZ2M2R4adwcdkTZC7fP3LD4+9a+tzS4bbF3wuiycIXbW+yI+WiNgc0PJcCSOnmR9io5Wng7RtaSHubuoPDPF3kZc5/iJuuAasrDPEz6mPOmu+/8Apj6fhxxtt1DvGy7e8ijhhD99Rh8Y5LuDRW1p8LejGtY32i1rW13jhZdtNFt8iq814Q6ewU5sRYNu+nhpMW3lschNnlzi4EchauFjFtBwPh7sNJp/LWckP6nzFuTHjd79/c858ka27+yPTD0+FjjIyGNj3clwjja/nysBe/8Amn9m37xXsxlen1Lx/wA0/s2/eK3LkfNZhDR2ObujyOu8AcNYbNgAeQseSUGhNB3HI8DY6JY4NIcd19OjeennS0ToUXkXD4Vz093Hsj+qb9DiLHRguaJK3bdoJAN+nvWTwP4/7N/6nprfoil8xQ0QZrcNpslvhoOuh5DxH4UFW1LSGBoDJwDI4Nt76bdO54uzR46dArruzUQqi7hzS4miXtB6X7xx8CVI9mYDd7yHG6JBaOvAFdOR/CFHhbVaF6nqPERTvxH6Hnk6PG575BNtLn7y0Fo8QYAQT+6PgCfVQxtGYI2MfOSQS8lrqaS+Puxt+y/jyvSPszFTtxdb3SHh26gSQDZA5r7LI56q0NDi2sbbiI2bW9Pfz8fEVVid24L1PDzpKlkfp9DOOiRu+jGSdwa1tA9Swkm+f1ui9fmNnJOQ4l29zSSKG4jn3+zXvsq9JosbnOcS4F7nOsUCC6ro/UvKfs/C8MsvHdivCa3DdfP9ftKvg/wXqP1F/wBx+iKWRpEIBccjb9IHOoii4E8UD18X1cK3pODGyVzo5d5YwRPb1p3tWT6qMXZqFoIt5u6J2+GyORx1469Vd0vS2Y27YXHeQTuryFeQVhiaknpS+5MmZODSm39i8hCFqMJ5FJSKS8lM3TfY/fk++ValfTS6i4hpIaOrqHQe9VNNPg/fk++VYlaXNLQ4sJaQHiiWkjggHix71wh8p0fM4PC/6gSnBn1B8ONIIIw75LjSyuyseTcQY8lrmeCuLeBXB4W9ldsMeFsb54cyJsjYy578WQRwd5J3bRK7o0k+XPBF9QqMvYYz/KH5eWZp8rCdg99HjxY4ZEXB24taTvduA5J6cClV1v8A6eOzXB8+bueYYYnvOJE43FIXtdFZ+hB4Dg32q6rptZ43ov6326hx2ZZigyZ5NPDhKGwvEIeNtNMtEDh1+dAEkKMva5kUj5ZnSxQR6dHlPxZMUtmj3ZLo+8LrvyrZXTnzVyTsq18OfA6V23VJZZXEMAMHeQsjoc+Ktl3x1VDUuxDslsvfZhdJkadFgvkGO1oqPIdKJA0Or/Ftr3Xaiqu/Ir79S9D20xHtcQMgPZPDj9w/HkZkPknbui2xuo05oJs1wDdL2h7UwPwpdQDZmw44nLhJHskJhsPAaT+cC34grne23ZSWR0k8Imn+VZeDJNFAMfvIo8aCRgLBMdkluLTTqrrzS2OzOkyP004edE1jHtmhETRFG8YjiRGJBD4GybTZ28WnQdUVtJ7UZD5mR5TdPiMsTpnYseYX5+OzujI3dGWgP467aq75Ctwds8eTHblRwZ0kUhpmzDlLnjZuLwPzB03dL6WquH2MkbLDJNnSZDcSGeHHD4ImyBssfd/SyNNyENA8h0SzuwwlxMPF+UV83sDAX48c0U/0ezc6F5Ldw6tPO0+qOuhFfU9srt/gxta68iRr8RmaHQ48kgbiuJBkfQ8AFG7pWNL7UDIzpsJsEwbBHC9uTsd3UgkaXWTVNB42mzu56Us/G7BNZC6AZLiH6T817u6Fhu97u9rd18fs+7qtXTuz7sfKOSzIJZJjQQSwGJtPdA0tY8Pu28E23n4q7Dc1MlcprwcCHC+OvwXXShU8jFa7qFlz43NUjtjlpZxsWW0+YW7oDN79/wDhYKvyLj/9WsvN0qISkbfMdCR5D0XXYcDGMDY2hrasAe//AJWbh8bc9+h1ySVbdT1QzqhDeq+gZzTQhC0HIRFqBiF351X/AIF6IQHm2ECutjzs2ePP1UmtA6CvgpISi2CiGC93nVfVdqSEICEIQAhCEAIQhACEihANK0ihAStK1EoUAikmkoUy9P8AY/fk++VbVKAOjBa5jydzjbWOcCC4kchevf8A6kv8t/4LPF0qOr5li0bl4d/+rJ/Lf+CO/H5sn8t/4K6kSj3tFrw78ej/AOW/8Ejkt8w/+W/8E1IUWLRarfKm/rfwP/BHypv638D/AME1LzFFncjcq/ypnv8A4X/gvN+oRN4c8N/3WP8AlNS8xpZc3JFypfOkH6Vn2ps1GF3SRpr0N0prj5l0vyLRKRXj8sj/ADx/VQdqEPTvWA+m4I5R8xTMTUvyx+I+6Fu4Drjb8K+zhc7qM7XSktIcLHI5HQLc0d9x/BxWbC/6jOk18KLqG9UFNvVaziaKEIWg5ghCEAIQhACEIQAhCEAIQhACEIQAkmkUAJJpFACSaRUAJItJQoIQSkSgBFJWglCjpCSRKlglaLXmXKBkU1Cj3tczr3ilP6rWj+/91uOnAWLmlpcSbBcVm4iVxo641TswMhi3+xEVRySfnybR8GD8SVkZreDS3ezcrRjNA8i7d/uuysvDpLLfkdsr+A3ty4XtbFtyy7ykjY76x4T/AMBdf3y5jtYQ6WOuoY6/gXcf3Wji2pYznh2kZcC6vQPYd/u/sudxsf3rpNIbsBB86IWfhVUj3lexeIQ3qmUN6r6BnNBCELucwQhCAEIQgBCEIAQhCAEIQgBCEIAQhCASEFCASiVIopQpBCdIpQEUlOkqQpGkKVIpSgRpRcFMhRcEYPCRyqyzUrUjVWfDfouM76HtGFkauGyuaT5iufKl5T5zSLsLRy9Ehl5fGxx9SOftVT/0vj/mD4FzyPsKwyhlO6lA5/M1dgO1tvd6MFq9omY9jTuaW7nXXpwtiLRo2cNawD3L1+bx7l4jhyJ3Z7c41RWOpH0WFqupfSh7mkNIAvqBXqumOB8F5v0pruoaV6njySVWeYyimZ2BlNoEEG/NaHzkAqbuysR6FzP9j3NH2dE4uykQNl8jvcZHUpGOZckG4PqbuJkh7QfUK2w8qnjYYYAB0A9SrcbFvhqrc4Srof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0" name="Picture 2" descr="https://camo.githubusercontent.com/7c9b27101ba491969d016f2f2427c3e066f7bd0b/68747470733a2f2f63646e2e7261776769742e636f6d2f6f64622f6f6666696369616c2d626173682d6c6f676f2f6d61737465722f6173736574732f4c6f676f732f4964656e746974792f504e472f424153485f6c6f676f2d7472616e73706172656e742d62672d636f6c6f722e706e6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5105400"/>
            <a:ext cx="3581400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7489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33400"/>
            <a:ext cx="8839200" cy="838200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The current status of Bash</a:t>
            </a:r>
            <a:r>
              <a:rPr lang="en-US" sz="3200" b="1" dirty="0"/>
              <a:t> </a:t>
            </a:r>
            <a:endParaRPr lang="en-US" sz="3200" b="1" dirty="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3962400"/>
          </a:xfrm>
        </p:spPr>
        <p:txBody>
          <a:bodyPr>
            <a:normAutofit/>
          </a:bodyPr>
          <a:lstStyle/>
          <a:p>
            <a:r>
              <a:rPr lang="da-DK" dirty="0" smtClean="0"/>
              <a:t>Bash is </a:t>
            </a:r>
            <a:r>
              <a:rPr lang="en-DE" dirty="0" smtClean="0"/>
              <a:t>well-maintained</a:t>
            </a:r>
            <a:r>
              <a:rPr lang="da-DK" dirty="0" smtClean="0"/>
              <a:t> </a:t>
            </a:r>
            <a:r>
              <a:rPr lang="da-DK" dirty="0" smtClean="0"/>
              <a:t>and is under regular development</a:t>
            </a:r>
          </a:p>
          <a:p>
            <a:pPr lvl="1"/>
            <a:r>
              <a:rPr lang="en-US" dirty="0"/>
              <a:t>Webpage: </a:t>
            </a:r>
            <a:r>
              <a:rPr lang="en-US" sz="1800" dirty="0">
                <a:hlinkClick r:id="rId2"/>
              </a:rPr>
              <a:t>https://www.gnu.org/software/bash/</a:t>
            </a:r>
            <a:endParaRPr lang="en-US" sz="1800" dirty="0"/>
          </a:p>
          <a:p>
            <a:pPr lvl="1"/>
            <a:r>
              <a:rPr lang="en-US" dirty="0" smtClean="0"/>
              <a:t>Source code:</a:t>
            </a:r>
            <a:r>
              <a:rPr lang="en-US" dirty="0"/>
              <a:t> </a:t>
            </a:r>
            <a:r>
              <a:rPr lang="en-US" sz="1800" dirty="0">
                <a:hlinkClick r:id="rId3"/>
              </a:rPr>
              <a:t>http://</a:t>
            </a:r>
            <a:r>
              <a:rPr lang="en-US" sz="1800" dirty="0" smtClean="0">
                <a:hlinkClick r:id="rId3"/>
              </a:rPr>
              <a:t>git.savannah.gnu.org/cgit/bash.git</a:t>
            </a:r>
            <a:endParaRPr lang="da-DK" sz="1800" dirty="0" smtClean="0"/>
          </a:p>
          <a:p>
            <a:r>
              <a:rPr lang="da-DK" dirty="0" smtClean="0"/>
              <a:t>Latest release: version </a:t>
            </a:r>
            <a:r>
              <a:rPr lang="en-GB" dirty="0" smtClean="0"/>
              <a:t>5.2.</a:t>
            </a:r>
            <a:r>
              <a:rPr lang="en-DE" dirty="0" smtClean="0"/>
              <a:t>37</a:t>
            </a:r>
            <a:r>
              <a:rPr lang="en-GB" dirty="0" smtClean="0"/>
              <a:t> (</a:t>
            </a:r>
            <a:r>
              <a:rPr lang="en-DE" dirty="0" smtClean="0"/>
              <a:t>Septem</a:t>
            </a:r>
            <a:r>
              <a:rPr lang="en-GB" dirty="0" err="1" smtClean="0"/>
              <a:t>ber</a:t>
            </a:r>
            <a:r>
              <a:rPr lang="en-GB" dirty="0" smtClean="0"/>
              <a:t> </a:t>
            </a:r>
            <a:r>
              <a:rPr lang="en-DE" dirty="0" smtClean="0"/>
              <a:t>23</a:t>
            </a:r>
            <a:r>
              <a:rPr lang="en-GB" dirty="0" smtClean="0"/>
              <a:t>, 202</a:t>
            </a:r>
            <a:r>
              <a:rPr lang="en-DE" dirty="0" smtClean="0"/>
              <a:t>4</a:t>
            </a:r>
            <a:r>
              <a:rPr lang="en-GB" dirty="0" smtClean="0"/>
              <a:t>)</a:t>
            </a:r>
            <a:endParaRPr lang="en-GB" dirty="0" smtClean="0"/>
          </a:p>
          <a:p>
            <a:pPr lvl="1"/>
            <a:r>
              <a:rPr lang="en-GB" dirty="0" smtClean="0"/>
              <a:t>The current maintainer</a:t>
            </a:r>
            <a:r>
              <a:rPr lang="en-GB" dirty="0"/>
              <a:t>: </a:t>
            </a:r>
            <a:r>
              <a:rPr lang="en-GB" dirty="0" smtClean="0"/>
              <a:t>Chet </a:t>
            </a:r>
            <a:r>
              <a:rPr lang="en-GB" dirty="0"/>
              <a:t>Ramey</a:t>
            </a:r>
            <a:r>
              <a:rPr lang="da-DK" dirty="0" smtClean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sp>
        <p:nvSpPr>
          <p:cNvPr id="5" name="AutoShape 2" descr="data:image/jpeg;base64,/9j/4AAQSkZJRgABAQAAAQABAAD/2wCEAAkGBxAPEBUPDxAQEBAPDxAQEA8PEBAQDw4PFREWFhUVFRUYHiggGBomHRYXITEhJSkrLi4uGB8zODMsNygtLisBCgoKDg0OGxAQFzIlHh8tListKy0tMS0tLS0tLS8tLi0tLS0vLSstLS0tLS0tLSstLS0wLS0tNzUtNzcrNy8tLv/AABEIAJ4BPwMBIgACEQEDEQH/xAAbAAACAwEBAQAAAAAAAAAAAAAAAQIEBQYDB//EAEMQAAEEAQMBBQMHCgUDBQAAAAEAAgMRBAUSITEGEyJBUTJhcRQVI4GRstEzUlNic4KSk6HBQkNUcrEHovAWY6Ph8f/EABkBAQEBAQEBAAAAAAAAAAAAAAABBAMCBf/EAC8RAAICAQIEBAUDBQAAAAAAAAABAhEDEiEEMUHwE1GR4SIyYYGxFEJiI0NSodH/2gAMAwEAAhEDEQA/APuKEIQAhCEAIQhACSaRQAkmkgEUJpKASCmkoUSSZQgEkmhCiKSaSgEkmkoASTSUKJJNCAikpJKAikpJKFEkmkoBJJpWEKAYSpdyfUJGVR71S0NxujPx+C8yp96k42psUghnVCbOqA2EIQtRxBCEIAQhCAEIQgEhBQgEkmUKASSaEKIpJpKAEk0kAkJpKFEkmkgEhMpKASSaShRJJpIBJKSShSKE0lAQkdQJ9FRdOvfUXVGT8P8AlYhn96zZZ06OkI2aJnS79Zpn96O/XHxDppNMTKbZllCf3qbZ/eqshNJsxutejOqpae+7+r+6us6rTB2rObVGuhCFsOAIQhACEIQAhCEAJJpFACSaRQAUk0lACRTSQokIKFAJJNBQokk0lAJJNCgEkmkoUSSaSASSkkoBJFNJQpXzot8bmjqWmviOQuNM67krj+1GnGN3fRj6N3tgf4HevwKx8XF1qXQ74WrplTv0d+sc5CXylfO8Q1aDaE69GzrEblLe0HTXzESOFRA3z/me4e73rpjbm6R4klFWzoNKiLYwT1f4vgPJXWdUJs6r6sVSSMbdmshCFrOIIQhACEIQAhCEAIQhAJCChAJBQhQCQhCFEUk0lAJCaSFEhMpKASSy4ceSW3meVtveA1pAa0BxAA49y9Pm1/8AqJv4m/guam3uonql5l9CofNr/wDUzfa38Ejpsn+pm/7PwU1S/wAfwKXmX1EmlROmyf6mb/s/BUs/Ela01kSurmjso1zR4XmWRpXp/B6UU+psd631XhmZrI2l3p6rEh1WM8FwBHUHghUdYzWTMMDHW5xF1zQXCfErTaPaxb7nSadqLZ2GSqYDV31I60vbHyWvBIPAJB+K4zE0zIa3YyTbH6bel9aW/h6RI1u0TvA61tZ1+xTFmyS/aWcIrqX58wDpR+KpS57zYLGOBFEG+QvX5kf+nd/BH+CkNFf+nP8ALj/Be34r6fg8rQupyc+jNJJbbbJpvUAelqo/Qz5O/ou2OiP/AE5/lsS+Y3/pv/iYsr4Nv9p2Wf6mLoXZ3HAD3u72Qc7Dw1p/2+f1rp6WPJAY3ljiHFoDg8DaaPlQV3Cyb4u/etGHTD4ao5zblvZbQ3qhNnVaDkaqEKMjw3r5kD6yaC0nIdrx+VN+qrJPG2zQsdRazNQztrbdQ8LgXPY9jQDI1vtCyDzx6qlLnfSBoJMjXlzQbc5he4xsDwzh0dWeTY4XCWZLY0w4aUlZvjI45FO4Lmgg7WkkWT6cL2Y8Hp5cLlflrW923Y+Nm8BjX7x+UL2uDjyHmxYB4pauBL+cSXVCHWS5wdt8w3wt+rhSGZN0XJw7irNdeQed5b5bA767IUo3X/8AlLyP5U/sh94rQZSwhcPg6zqUbAH40k8jy6y4BrY3hzfDwB4du43zyKtPO7TajC4Mdhs3Oe1jS0SuaXFhdxR5uq8tvnaA7dC4s9o9Uuvm4fl3M9skbBfn9hvolrGbq7oInQxNjm72Xvmx0WmMQF7K33/ipteddRaA7VC4sdodUsj5vBqZ7BTnDe0NcWmzwLIHPvUcXtFqr3MadPa3ewlznF4ax/ebRfurqPcgO2QuU0rVdRkyG97jtZAaZINrmmN/jJLST4qpoJ6GwQqseq6lGXnuJJnGcscx8bGxReJ20ROadzmkBniI43En0QHaoXHs1/UnUW4AFECRr3OaS7cAQw+nN2fRe+h6hnzZA76IxwGMk+HaN+1tcHkc2gOpQhCA8ioqRSXkpS0z2P35PvlXFS0z2P35PvlXLXPH8qPUuY0KG5G5etSJRJV8iOxS9tyRXl0yo5rP0ON5st5TwtFZGeG0uhLAgRhZv08Lujr4rqitDjgeStsbSKTtd4pI5t2TCahuRuXuzyTQkCherBzWvPqR59GN/us3QMovBN/4ir3aIHdIQCajbdc+qzez+K5jS3rtcQT+tfP9bXypt+L6muNaDrGOsA+5SZ1VfEdxSst6rdF2jgzUVLOl2tcQ7oK9oNa11W3c7yB4H1q6s7UQQd5LQG9Xv/JNbbbD23yTzR8l3yP4TzjScjEypDdNcG8vLiXzAsviVoe7w3u2ht+V0s3UtWjxoy6QiERvjm+kqOGJzjT4nOYfpHmya9Vbzxs3GUV4I9xnjdOSwTu8Jc00TyCBVhcT/wBRNzGQT+wzG1V78iRkNhhPsS7HGnAe/jlYYrVPS2fUm9GPUldd9+50Gha5jzOLIZWAR79zojIx8GOXAgmKQWbN80r+k9r8CR7Y4cmIFwmcIg55ETY7txqg1u0E8+a5LSdRxsnVGTt1KTNljxJWl8eHHFCI3dGPeDwb6WFk6Jpgk7PZboYw7IkdLucIy6ZzWz9A702g8BdvCjB8++130yPPPJG2u+33vf1LS+3ulzSjHjzI3SOdtjvftkPo17hTj8Cuj/zT+zb94r5HpHazRn4un4vyY5WQx8LG47IwZMeYcOkd6i+f6r64Pyp/Zt+8VqXIxvmUm6sdoLopLIshrSa9Aos1gkX3Et1YG08mul/0WnFM13LXNcASCWkGiOoU7VJyMyTVvzYZTQcTbSPZF0E36t0LYZXAuId4eW1V8efX+i0HyBoskAepNBDXAixVHmx0KAoO1Mgg93JsMe/2TvB3VVf+dUjrLQaMU11urZzVLRDwfTjrz0TtAZztUsO2RSW3oXtLWk7q+Neafzr/AOzMa60zi/ctC0WgM751H6Kb+Dp0/FeuLqAkO3u5G8E25tNv0VmOVrvZINEg0bojqFMFANCEIDyKSZSXkpR0z2P35PvlWyqWmnwfvyffKuLjD5Ue5cyKzu0ue/GwsnJjDS/HxZ5mB4JaXsjc4WBViwtFVNXwG5WPLjPLmsyIZIXObW5rZGFpIvi+VQcI/thmM0/5Y6WDc+fCiBk07Mx2QNmP0ji177mABFFtDg9bXth9s8uXHYI248s2VqT8HEygyWLFlja0udOYi4upu17du7kt6rbZ2SuFkE2blTxwzYk0IkbjNMRxnbmtBZGLBoA3Z8PFJZPYnHeJAJZ4zJnfOETonNa7Ey9tOdFx0dyS11jkr1tff09zzvXf19jWw2ZjYXiaTGkyPF3T2RyRQnwjbvYXOI5u6PSlxw7YZ0bM1jxi5D8bLxMPGyYmSR48mROWte17S5x+jLhdO93C62LSZBjSQPzMmR8wePlLjE2ePc3b9HsaGtqrHHWysfE7DRsxDguy8mSCo+5BbjRuxpGSCRsrHRxgl+4Akuu/Pqoq6l6Fc9oc9kOfGRivytMNmUNljgfC7HMwd3dk7h7O3cB52rGqavlt06PUGT40DW4TcjIEuNJNve6NrgI6lbt5JFG+oXueyDfk88PyvJ7zNeXZWURAZ52933ewgs2NbtoeFo6KZ7JsdiwYcuRPNFjTQygPEIMzYaMcUm1oBYCAfU0LKe3uPc09AlyH4sL8trG5D4mPmZGCGMe4XtAJPS66+SvoQowTaheb5KWdmansNDz/AKBSU1FblUWzH7QTyMyWiIOJcQPD1oNWjiDaPEA1x5PFWVWOoMDt4bbzxuPWlPvzMQy9pddHrXCxJrU3fPod3ySosYk4dIQ3o1vJ998K+zqvHExWxN2sHvJPVx9SvdvVaoJpbnKT8jTVPMbxwOvmCAS/o0UeD1/oriRC1NWjlF07OSnYWHvAdu3cSSIW950Y83u47x20g1xtVZ2M2R4adwcdkTZC7fP3LD4+9a+tzS4bbF3wuiycIXbW+yI+WiNgc0PJcCSOnmR9io5Wng7RtaSHubuoPDPF3kZc5/iJuuAasrDPEz6mPOmu+/8Apj6fhxxtt1DvGy7e8ijhhD99Rh8Y5LuDRW1p8LejGtY32i1rW13jhZdtNFt8iq814Q6ewU5sRYNu+nhpMW3lschNnlzi4EchauFjFtBwPh7sNJp/LWckP6nzFuTHjd79/c858ka27+yPTD0+FjjIyGNj3clwjja/nysBe/8Amn9m37xXsxlen1Lx/wA0/s2/eK3LkfNZhDR2ObujyOu8AcNYbNgAeQseSUGhNB3HI8DY6JY4NIcd19OjeennS0ToUXkXD4Vz093Hsj+qb9DiLHRguaJK3bdoJAN+nvWTwP4/7N/6nprfoil8xQ0QZrcNpslvhoOuh5DxH4UFW1LSGBoDJwDI4Nt76bdO54uzR46dArruzUQqi7hzS4miXtB6X7xx8CVI9mYDd7yHG6JBaOvAFdOR/CFHhbVaF6nqPERTvxH6Hnk6PG575BNtLn7y0Fo8QYAQT+6PgCfVQxtGYI2MfOSQS8lrqaS+Puxt+y/jyvSPszFTtxdb3SHh26gSQDZA5r7LI56q0NDi2sbbiI2bW9Pfz8fEVVid24L1PDzpKlkfp9DOOiRu+jGSdwa1tA9Swkm+f1ui9fmNnJOQ4l29zSSKG4jn3+zXvsq9JosbnOcS4F7nOsUCC6ro/UvKfs/C8MsvHdivCa3DdfP9ftKvg/wXqP1F/wBx+iKWRpEIBccjb9IHOoii4E8UD18X1cK3pODGyVzo5d5YwRPb1p3tWT6qMXZqFoIt5u6J2+GyORx1469Vd0vS2Y27YXHeQTuryFeQVhiaknpS+5MmZODSm39i8hCFqMJ5FJSKS8lM3TfY/fk++ValfTS6i4hpIaOrqHQe9VNNPg/fk++VYlaXNLQ4sJaQHiiWkjggHix71wh8p0fM4PC/6gSnBn1B8ONIIIw75LjSyuyseTcQY8lrmeCuLeBXB4W9ldsMeFsb54cyJsjYy578WQRwd5J3bRK7o0k+XPBF9QqMvYYz/KH5eWZp8rCdg99HjxY4ZEXB24taTvduA5J6cClV1v8A6eOzXB8+bueYYYnvOJE43FIXtdFZ+hB4Dg32q6rptZ43ov6326hx2ZZigyZ5NPDhKGwvEIeNtNMtEDh1+dAEkKMva5kUj5ZnSxQR6dHlPxZMUtmj3ZLo+8LrvyrZXTnzVyTsq18OfA6V23VJZZXEMAMHeQsjoc+Ktl3x1VDUuxDslsvfZhdJkadFgvkGO1oqPIdKJA0Or/Ftr3Xaiqu/Ir79S9D20xHtcQMgPZPDj9w/HkZkPknbui2xuo05oJs1wDdL2h7UwPwpdQDZmw44nLhJHskJhsPAaT+cC34grne23ZSWR0k8Imn+VZeDJNFAMfvIo8aCRgLBMdkluLTTqrrzS2OzOkyP004edE1jHtmhETRFG8YjiRGJBD4GybTZ28WnQdUVtJ7UZD5mR5TdPiMsTpnYseYX5+OzujI3dGWgP467aq75Ctwds8eTHblRwZ0kUhpmzDlLnjZuLwPzB03dL6WquH2MkbLDJNnSZDcSGeHHD4ImyBssfd/SyNNyENA8h0SzuwwlxMPF+UV83sDAX48c0U/0ezc6F5Ldw6tPO0+qOuhFfU9srt/gxta68iRr8RmaHQ48kgbiuJBkfQ8AFG7pWNL7UDIzpsJsEwbBHC9uTsd3UgkaXWTVNB42mzu56Us/G7BNZC6AZLiH6T817u6Fhu97u9rd18fs+7qtXTuz7sfKOSzIJZJjQQSwGJtPdA0tY8Pu28E23n4q7Dc1MlcprwcCHC+OvwXXShU8jFa7qFlz43NUjtjlpZxsWW0+YW7oDN79/wDhYKvyLj/9WsvN0qISkbfMdCR5D0XXYcDGMDY2hrasAe//AJWbh8bc9+h1ySVbdT1QzqhDeq+gZzTQhC0HIRFqBiF351X/AIF6IQHm2ECutjzs2ePP1UmtA6CvgpISi2CiGC93nVfVdqSEICEIQAhCEAIQhACEihANK0ihAStK1EoUAikmkoUy9P8AY/fk++VbVKAOjBa5jydzjbWOcCC4kchevf8A6kv8t/4LPF0qOr5li0bl4d/+rJ/Lf+CO/H5sn8t/4K6kSj3tFrw78ej/AOW/8Ejkt8w/+W/8E1IUWLRarfKm/rfwP/BHypv638D/AME1LzFFncjcq/ypnv8A4X/gvN+oRN4c8N/3WP8AlNS8xpZc3JFypfOkH6Vn2ps1GF3SRpr0N0prj5l0vyLRKRXj8sj/ADx/VQdqEPTvWA+m4I5R8xTMTUvyx+I+6Fu4Drjb8K+zhc7qM7XSktIcLHI5HQLc0d9x/BxWbC/6jOk18KLqG9UFNvVaziaKEIWg5ghCEAIQhACEIQAhCEAIQhACEIQAkmkUAJJpFACSaRUAJItJQoIQSkSgBFJWglCjpCSRKlglaLXmXKBkU1Cj3tczr3ilP6rWj+/91uOnAWLmlpcSbBcVm4iVxo641TswMhi3+xEVRySfnybR8GD8SVkZreDS3ezcrRjNA8i7d/uuysvDpLLfkdsr+A3ty4XtbFtyy7ykjY76x4T/AMBdf3y5jtYQ6WOuoY6/gXcf3Wji2pYznh2kZcC6vQPYd/u/sudxsf3rpNIbsBB86IWfhVUj3lexeIQ3qmUN6r6BnNBCELucwQhCAEIQgBCEIAQhCAEIQgBCEIAQhCASEFCASiVIopQpBCdIpQEUlOkqQpGkKVIpSgRpRcFMhRcEYPCRyqyzUrUjVWfDfouM76HtGFkauGyuaT5iufKl5T5zSLsLRy9Ehl5fGxx9SOftVT/0vj/mD4FzyPsKwyhlO6lA5/M1dgO1tvd6MFq9omY9jTuaW7nXXpwtiLRo2cNawD3L1+bx7l4jhyJ3Z7c41RWOpH0WFqupfSh7mkNIAvqBXqumOB8F5v0pruoaV6njySVWeYyimZ2BlNoEEG/NaHzkAqbuysR6FzP9j3NH2dE4uykQNl8jvcZHUpGOZckG4PqbuJkh7QfUK2w8qnjYYYAB0A9SrcbFvhqrc4Srof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0" name="Picture 2" descr="https://camo.githubusercontent.com/7c9b27101ba491969d016f2f2427c3e066f7bd0b/68747470733a2f2f63646e2e7261776769742e636f6d2f6f64622f6f6666696369616c2d626173682d6c6f676f2f6d61737465722f6173736574732f4c6f676f732f4964656e746974792f504e472f424153485f6c6f676f2d7472616e73706172656e742d62672d636f6c6f722e706e6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4343400"/>
            <a:ext cx="3581400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4372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33400"/>
            <a:ext cx="8839200" cy="838200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Interpreted vs. compiled languages</a:t>
            </a:r>
            <a:r>
              <a:rPr lang="en-US" sz="3200" dirty="0" smtClean="0"/>
              <a:t> </a:t>
            </a:r>
            <a:r>
              <a:rPr lang="en-US" sz="3200" b="1" dirty="0"/>
              <a:t> </a:t>
            </a:r>
            <a:endParaRPr lang="en-US" sz="3200" b="1" dirty="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3962400"/>
          </a:xfrm>
        </p:spPr>
        <p:txBody>
          <a:bodyPr>
            <a:normAutofit/>
          </a:bodyPr>
          <a:lstStyle/>
          <a:p>
            <a:r>
              <a:rPr lang="da-DK" dirty="0" smtClean="0"/>
              <a:t>Interpreted: </a:t>
            </a:r>
          </a:p>
          <a:p>
            <a:pPr lvl="1"/>
            <a:r>
              <a:rPr lang="da-DK" dirty="0"/>
              <a:t>w</a:t>
            </a:r>
            <a:r>
              <a:rPr lang="da-DK" dirty="0" smtClean="0"/>
              <a:t>rite code &amp; execute line-by-line</a:t>
            </a:r>
          </a:p>
          <a:p>
            <a:pPr lvl="1"/>
            <a:r>
              <a:rPr lang="da-DK" dirty="0" smtClean="0"/>
              <a:t>less reliable (there is no compiler to catch the errors!)  </a:t>
            </a:r>
          </a:p>
          <a:p>
            <a:pPr lvl="1"/>
            <a:r>
              <a:rPr lang="da-DK" dirty="0" smtClean="0"/>
              <a:t>source code can be easily read and copied </a:t>
            </a:r>
          </a:p>
          <a:p>
            <a:pPr lvl="1"/>
            <a:r>
              <a:rPr lang="da-DK" dirty="0"/>
              <a:t>e</a:t>
            </a:r>
            <a:r>
              <a:rPr lang="da-DK" dirty="0" smtClean="0"/>
              <a:t>xamples: Bash, Python, Mathematica, JavaScript</a:t>
            </a:r>
          </a:p>
          <a:p>
            <a:r>
              <a:rPr lang="da-DK" dirty="0" smtClean="0"/>
              <a:t>Compiled: </a:t>
            </a:r>
          </a:p>
          <a:p>
            <a:pPr lvl="1"/>
            <a:r>
              <a:rPr lang="da-DK" dirty="0"/>
              <a:t>w</a:t>
            </a:r>
            <a:r>
              <a:rPr lang="da-DK" dirty="0" smtClean="0"/>
              <a:t>rite code &amp; compile &amp; execute the compiled file (‘binaries’)</a:t>
            </a:r>
          </a:p>
          <a:p>
            <a:pPr lvl="1"/>
            <a:r>
              <a:rPr lang="en-US" dirty="0" smtClean="0"/>
              <a:t>generally runs faster than interpreted code</a:t>
            </a:r>
          </a:p>
          <a:p>
            <a:pPr lvl="1"/>
            <a:r>
              <a:rPr lang="da-DK" dirty="0"/>
              <a:t>e</a:t>
            </a:r>
            <a:r>
              <a:rPr lang="da-DK" dirty="0" smtClean="0"/>
              <a:t>xamples: C, C++, Java, Go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  <p:sp>
        <p:nvSpPr>
          <p:cNvPr id="5" name="AutoShape 2" descr="data:image/jpeg;base64,/9j/4AAQSkZJRgABAQAAAQABAAD/2wCEAAkGBxAPEBUPDxAQEBAPDxAQEA8PEBAQDw4PFREWFhUVFRUYHiggGBomHRYXITEhJSkrLi4uGB8zODMsNygtLisBCgoKDg0OGxAQFzIlHh8tListKy0tMS0tLS0tLS8tLi0tLS0vLSstLS0tLS0tLSstLS0wLS0tNzUtNzcrNy8tLv/AABEIAJ4BPwMBIgACEQEDEQH/xAAbAAACAwEBAQAAAAAAAAAAAAAAAQIEBQYDB//EAEMQAAEEAQMBBQMHCgUDBQAAAAEAAgMRBAUSITEGEyJBUTJhcRQVI4GRstEzUlNic4KSk6HBQkNUcrEHovAWY6Ph8f/EABkBAQEBAQEBAAAAAAAAAAAAAAABBAMCBf/EAC8RAAICAQIEBAUDBQAAAAAAAAABAhEDEiEEMUHwE1GR4SIyYYGxFEJiI0NSodH/2gAMAwEAAhEDEQA/APuKEIQAhCEAIQhACSaRQAkmkgEUJpKASCmkoUSSZQgEkmhCiKSaSgEkmkoASTSUKJJNCAikpJKAikpJKFEkmkoBJJpWEKAYSpdyfUJGVR71S0NxujPx+C8yp96k42psUghnVCbOqA2EIQtRxBCEIAQhCAEIQgEhBQgEkmUKASSaEKIpJpKAEk0kAkJpKFEkmkgEhMpKASSaShRJJpIBJKSShSKE0lAQkdQJ9FRdOvfUXVGT8P8AlYhn96zZZ06OkI2aJnS79Zpn96O/XHxDppNMTKbZllCf3qbZ/eqshNJsxutejOqpae+7+r+6us6rTB2rObVGuhCFsOAIQhACEIQAhCEAJJpFACSaRQAUk0lACRTSQokIKFAJJNBQokk0lAJJNCgEkmkoUSSaSASSkkoBJFNJQpXzot8bmjqWmviOQuNM67krj+1GnGN3fRj6N3tgf4HevwKx8XF1qXQ74WrplTv0d+sc5CXylfO8Q1aDaE69GzrEblLe0HTXzESOFRA3z/me4e73rpjbm6R4klFWzoNKiLYwT1f4vgPJXWdUJs6r6sVSSMbdmshCFrOIIQhACEIQAhCEAIQhAJCChAJBQhQCQhCFEUk0lAJCaSFEhMpKASSy4ceSW3meVtveA1pAa0BxAA49y9Pm1/8AqJv4m/guam3uonql5l9CofNr/wDUzfa38Ejpsn+pm/7PwU1S/wAfwKXmX1EmlROmyf6mb/s/BUs/Ela01kSurmjso1zR4XmWRpXp/B6UU+psd631XhmZrI2l3p6rEh1WM8FwBHUHghUdYzWTMMDHW5xF1zQXCfErTaPaxb7nSadqLZ2GSqYDV31I60vbHyWvBIPAJB+K4zE0zIa3YyTbH6bel9aW/h6RI1u0TvA61tZ1+xTFmyS/aWcIrqX58wDpR+KpS57zYLGOBFEG+QvX5kf+nd/BH+CkNFf+nP8ALj/Be34r6fg8rQupyc+jNJJbbbJpvUAelqo/Qz5O/ou2OiP/AE5/lsS+Y3/pv/iYsr4Nv9p2Wf6mLoXZ3HAD3u72Qc7Dw1p/2+f1rp6WPJAY3ljiHFoDg8DaaPlQV3Cyb4u/etGHTD4ao5zblvZbQ3qhNnVaDkaqEKMjw3r5kD6yaC0nIdrx+VN+qrJPG2zQsdRazNQztrbdQ8LgXPY9jQDI1vtCyDzx6qlLnfSBoJMjXlzQbc5he4xsDwzh0dWeTY4XCWZLY0w4aUlZvjI45FO4Lmgg7WkkWT6cL2Y8Hp5cLlflrW923Y+Nm8BjX7x+UL2uDjyHmxYB4pauBL+cSXVCHWS5wdt8w3wt+rhSGZN0XJw7irNdeQed5b5bA767IUo3X/8AlLyP5U/sh94rQZSwhcPg6zqUbAH40k8jy6y4BrY3hzfDwB4du43zyKtPO7TajC4Mdhs3Oe1jS0SuaXFhdxR5uq8tvnaA7dC4s9o9Uuvm4fl3M9skbBfn9hvolrGbq7oInQxNjm72Xvmx0WmMQF7K33/ipteddRaA7VC4sdodUsj5vBqZ7BTnDe0NcWmzwLIHPvUcXtFqr3MadPa3ewlznF4ax/ebRfurqPcgO2QuU0rVdRkyG97jtZAaZINrmmN/jJLST4qpoJ6GwQqseq6lGXnuJJnGcscx8bGxReJ20ROadzmkBniI43En0QHaoXHs1/UnUW4AFECRr3OaS7cAQw+nN2fRe+h6hnzZA76IxwGMk+HaN+1tcHkc2gOpQhCA8ioqRSXkpS0z2P35PvlXFS0z2P35PvlXLXPH8qPUuY0KG5G5etSJRJV8iOxS9tyRXl0yo5rP0ON5st5TwtFZGeG0uhLAgRhZv08Lujr4rqitDjgeStsbSKTtd4pI5t2TCahuRuXuzyTQkCherBzWvPqR59GN/us3QMovBN/4ir3aIHdIQCajbdc+qzez+K5jS3rtcQT+tfP9bXypt+L6muNaDrGOsA+5SZ1VfEdxSst6rdF2jgzUVLOl2tcQ7oK9oNa11W3c7yB4H1q6s7UQQd5LQG9Xv/JNbbbD23yTzR8l3yP4TzjScjEypDdNcG8vLiXzAsviVoe7w3u2ht+V0s3UtWjxoy6QiERvjm+kqOGJzjT4nOYfpHmya9Vbzxs3GUV4I9xnjdOSwTu8Jc00TyCBVhcT/wBRNzGQT+wzG1V78iRkNhhPsS7HGnAe/jlYYrVPS2fUm9GPUldd9+50Gha5jzOLIZWAR79zojIx8GOXAgmKQWbN80r+k9r8CR7Y4cmIFwmcIg55ETY7txqg1u0E8+a5LSdRxsnVGTt1KTNljxJWl8eHHFCI3dGPeDwb6WFk6Jpgk7PZboYw7IkdLucIy6ZzWz9A702g8BdvCjB8++130yPPPJG2u+33vf1LS+3ulzSjHjzI3SOdtjvftkPo17hTj8Cuj/zT+zb94r5HpHazRn4un4vyY5WQx8LG47IwZMeYcOkd6i+f6r64Pyp/Zt+8VqXIxvmUm6sdoLopLIshrSa9Aos1gkX3Et1YG08mul/0WnFM13LXNcASCWkGiOoU7VJyMyTVvzYZTQcTbSPZF0E36t0LYZXAuId4eW1V8efX+i0HyBoskAepNBDXAixVHmx0KAoO1Mgg93JsMe/2TvB3VVf+dUjrLQaMU11urZzVLRDwfTjrz0TtAZztUsO2RSW3oXtLWk7q+Neafzr/AOzMa60zi/ctC0WgM751H6Kb+Dp0/FeuLqAkO3u5G8E25tNv0VmOVrvZINEg0bojqFMFANCEIDyKSZSXkpR0z2P35PvlWyqWmnwfvyffKuLjD5Ue5cyKzu0ue/GwsnJjDS/HxZ5mB4JaXsjc4WBViwtFVNXwG5WPLjPLmsyIZIXObW5rZGFpIvi+VQcI/thmM0/5Y6WDc+fCiBk07Mx2QNmP0ji177mABFFtDg9bXth9s8uXHYI248s2VqT8HEygyWLFlja0udOYi4upu17du7kt6rbZ2SuFkE2blTxwzYk0IkbjNMRxnbmtBZGLBoA3Z8PFJZPYnHeJAJZ4zJnfOETonNa7Ey9tOdFx0dyS11jkr1tff09zzvXf19jWw2ZjYXiaTGkyPF3T2RyRQnwjbvYXOI5u6PSlxw7YZ0bM1jxi5D8bLxMPGyYmSR48mROWte17S5x+jLhdO93C62LSZBjSQPzMmR8wePlLjE2ePc3b9HsaGtqrHHWysfE7DRsxDguy8mSCo+5BbjRuxpGSCRsrHRxgl+4Akuu/Pqoq6l6Fc9oc9kOfGRivytMNmUNljgfC7HMwd3dk7h7O3cB52rGqavlt06PUGT40DW4TcjIEuNJNve6NrgI6lbt5JFG+oXueyDfk88PyvJ7zNeXZWURAZ52933ewgs2NbtoeFo6KZ7JsdiwYcuRPNFjTQygPEIMzYaMcUm1oBYCAfU0LKe3uPc09AlyH4sL8trG5D4mPmZGCGMe4XtAJPS66+SvoQowTaheb5KWdmansNDz/AKBSU1FblUWzH7QTyMyWiIOJcQPD1oNWjiDaPEA1x5PFWVWOoMDt4bbzxuPWlPvzMQy9pddHrXCxJrU3fPod3ySosYk4dIQ3o1vJ998K+zqvHExWxN2sHvJPVx9SvdvVaoJpbnKT8jTVPMbxwOvmCAS/o0UeD1/oriRC1NWjlF07OSnYWHvAdu3cSSIW950Y83u47x20g1xtVZ2M2R4adwcdkTZC7fP3LD4+9a+tzS4bbF3wuiycIXbW+yI+WiNgc0PJcCSOnmR9io5Wng7RtaSHubuoPDPF3kZc5/iJuuAasrDPEz6mPOmu+/8Apj6fhxxtt1DvGy7e8ijhhD99Rh8Y5LuDRW1p8LejGtY32i1rW13jhZdtNFt8iq814Q6ewU5sRYNu+nhpMW3lschNnlzi4EchauFjFtBwPh7sNJp/LWckP6nzFuTHjd79/c858ka27+yPTD0+FjjIyGNj3clwjja/nysBe/8Amn9m37xXsxlen1Lx/wA0/s2/eK3LkfNZhDR2ObujyOu8AcNYbNgAeQseSUGhNB3HI8DY6JY4NIcd19OjeennS0ToUXkXD4Vz093Hsj+qb9DiLHRguaJK3bdoJAN+nvWTwP4/7N/6nprfoil8xQ0QZrcNpslvhoOuh5DxH4UFW1LSGBoDJwDI4Nt76bdO54uzR46dArruzUQqi7hzS4miXtB6X7xx8CVI9mYDd7yHG6JBaOvAFdOR/CFHhbVaF6nqPERTvxH6Hnk6PG575BNtLn7y0Fo8QYAQT+6PgCfVQxtGYI2MfOSQS8lrqaS+Puxt+y/jyvSPszFTtxdb3SHh26gSQDZA5r7LI56q0NDi2sbbiI2bW9Pfz8fEVVid24L1PDzpKlkfp9DOOiRu+jGSdwa1tA9Swkm+f1ui9fmNnJOQ4l29zSSKG4jn3+zXvsq9JosbnOcS4F7nOsUCC6ro/UvKfs/C8MsvHdivCa3DdfP9ftKvg/wXqP1F/wBx+iKWRpEIBccjb9IHOoii4E8UD18X1cK3pODGyVzo5d5YwRPb1p3tWT6qMXZqFoIt5u6J2+GyORx1469Vd0vS2Y27YXHeQTuryFeQVhiaknpS+5MmZODSm39i8hCFqMJ5FJSKS8lM3TfY/fk++ValfTS6i4hpIaOrqHQe9VNNPg/fk++VYlaXNLQ4sJaQHiiWkjggHix71wh8p0fM4PC/6gSnBn1B8ONIIIw75LjSyuyseTcQY8lrmeCuLeBXB4W9ldsMeFsb54cyJsjYy578WQRwd5J3bRK7o0k+XPBF9QqMvYYz/KH5eWZp8rCdg99HjxY4ZEXB24taTvduA5J6cClV1v8A6eOzXB8+bueYYYnvOJE43FIXtdFZ+hB4Dg32q6rptZ43ov6326hx2ZZigyZ5NPDhKGwvEIeNtNMtEDh1+dAEkKMva5kUj5ZnSxQR6dHlPxZMUtmj3ZLo+8LrvyrZXTnzVyTsq18OfA6V23VJZZXEMAMHeQsjoc+Ktl3x1VDUuxDslsvfZhdJkadFgvkGO1oqPIdKJA0Or/Ftr3Xaiqu/Ir79S9D20xHtcQMgPZPDj9w/HkZkPknbui2xuo05oJs1wDdL2h7UwPwpdQDZmw44nLhJHskJhsPAaT+cC34grne23ZSWR0k8Imn+VZeDJNFAMfvIo8aCRgLBMdkluLTTqrrzS2OzOkyP004edE1jHtmhETRFG8YjiRGJBD4GybTZ28WnQdUVtJ7UZD5mR5TdPiMsTpnYseYX5+OzujI3dGWgP467aq75Ctwds8eTHblRwZ0kUhpmzDlLnjZuLwPzB03dL6WquH2MkbLDJNnSZDcSGeHHD4ImyBssfd/SyNNyENA8h0SzuwwlxMPF+UV83sDAX48c0U/0ezc6F5Ldw6tPO0+qOuhFfU9srt/gxta68iRr8RmaHQ48kgbiuJBkfQ8AFG7pWNL7UDIzpsJsEwbBHC9uTsd3UgkaXWTVNB42mzu56Us/G7BNZC6AZLiH6T817u6Fhu97u9rd18fs+7qtXTuz7sfKOSzIJZJjQQSwGJtPdA0tY8Pu28E23n4q7Dc1MlcprwcCHC+OvwXXShU8jFa7qFlz43NUjtjlpZxsWW0+YW7oDN79/wDhYKvyLj/9WsvN0qISkbfMdCR5D0XXYcDGMDY2hrasAe//AJWbh8bc9+h1ySVbdT1QzqhDeq+gZzTQhC0HIRFqBiF351X/AIF6IQHm2ECutjzs2ePP1UmtA6CvgpISi2CiGC93nVfVdqSEICEIQAhCEAIQhACEihANK0ihAStK1EoUAikmkoUy9P8AY/fk++VbVKAOjBa5jydzjbWOcCC4kchevf8A6kv8t/4LPF0qOr5li0bl4d/+rJ/Lf+CO/H5sn8t/4K6kSj3tFrw78ej/AOW/8Ejkt8w/+W/8E1IUWLRarfKm/rfwP/BHypv638D/AME1LzFFncjcq/ypnv8A4X/gvN+oRN4c8N/3WP8AlNS8xpZc3JFypfOkH6Vn2ps1GF3SRpr0N0prj5l0vyLRKRXj8sj/ADx/VQdqEPTvWA+m4I5R8xTMTUvyx+I+6Fu4Drjb8K+zhc7qM7XSktIcLHI5HQLc0d9x/BxWbC/6jOk18KLqG9UFNvVaziaKEIWg5ghCEAIQhACEIQAhCEAIQhACEIQAkmkUAJJpFACSaRUAJItJQoIQSkSgBFJWglCjpCSRKlglaLXmXKBkU1Cj3tczr3ilP6rWj+/91uOnAWLmlpcSbBcVm4iVxo641TswMhi3+xEVRySfnybR8GD8SVkZreDS3ezcrRjNA8i7d/uuysvDpLLfkdsr+A3ty4XtbFtyy7ykjY76x4T/AMBdf3y5jtYQ6WOuoY6/gXcf3Wji2pYznh2kZcC6vQPYd/u/sudxsf3rpNIbsBB86IWfhVUj3lexeIQ3qmUN6r6BnNBCELucwQhCAEIQgBCEIAQhCAEIQgBCEIAQhCASEFCASiVIopQpBCdIpQEUlOkqQpGkKVIpSgRpRcFMhRcEYPCRyqyzUrUjVWfDfouM76HtGFkauGyuaT5iufKl5T5zSLsLRy9Ehl5fGxx9SOftVT/0vj/mD4FzyPsKwyhlO6lA5/M1dgO1tvd6MFq9omY9jTuaW7nXXpwtiLRo2cNawD3L1+bx7l4jhyJ3Z7c41RWOpH0WFqupfSh7mkNIAvqBXqumOB8F5v0pruoaV6njySVWeYyimZ2BlNoEEG/NaHzkAqbuysR6FzP9j3NH2dE4uykQNl8jvcZHUpGOZckG4PqbuJkh7QfUK2w8qnjYYYAB0A9SrcbFvhqrc4Srof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019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33400"/>
            <a:ext cx="8839200" cy="838200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Intermezzo: Popularity of languages</a:t>
            </a:r>
            <a:endParaRPr lang="en-US" sz="3200" b="1" dirty="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8686800" cy="3962400"/>
          </a:xfrm>
        </p:spPr>
        <p:txBody>
          <a:bodyPr>
            <a:normAutofit/>
          </a:bodyPr>
          <a:lstStyle/>
          <a:p>
            <a:r>
              <a:rPr lang="da-DK" sz="2000" dirty="0" smtClean="0"/>
              <a:t>As of recently, Python is the most popular programming language...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  <p:sp>
        <p:nvSpPr>
          <p:cNvPr id="5" name="AutoShape 2" descr="data:image/jpeg;base64,/9j/4AAQSkZJRgABAQAAAQABAAD/2wCEAAkGBxAPEBUPDxAQEBAPDxAQEA8PEBAQDw4PFREWFhUVFRUYHiggGBomHRYXITEhJSkrLi4uGB8zODMsNygtLisBCgoKDg0OGxAQFzIlHh8tListKy0tMS0tLS0tLS8tLi0tLS0vLSstLS0tLS0tLSstLS0wLS0tNzUtNzcrNy8tLv/AABEIAJ4BPwMBIgACEQEDEQH/xAAbAAACAwEBAQAAAAAAAAAAAAAAAQIEBQYDB//EAEMQAAEEAQMBBQMHCgUDBQAAAAEAAgMRBAUSITEGEyJBUTJhcRQVI4GRstEzUlNic4KSk6HBQkNUcrEHovAWY6Ph8f/EABkBAQEBAQEBAAAAAAAAAAAAAAABBAMCBf/EAC8RAAICAQIEBAUDBQAAAAAAAAABAhEDEiEEMUHwE1GR4SIyYYGxFEJiI0NSodH/2gAMAwEAAhEDEQA/APuKEIQAhCEAIQhACSaRQAkmkgEUJpKASCmkoUSSZQgEkmhCiKSaSgEkmkoASTSUKJJNCAikpJKAikpJKFEkmkoBJJpWEKAYSpdyfUJGVR71S0NxujPx+C8yp96k42psUghnVCbOqA2EIQtRxBCEIAQhCAEIQgEhBQgEkmUKASSaEKIpJpKAEk0kAkJpKFEkmkgEhMpKASSaShRJJpIBJKSShSKE0lAQkdQJ9FRdOvfUXVGT8P8AlYhn96zZZ06OkI2aJnS79Zpn96O/XHxDppNMTKbZllCf3qbZ/eqshNJsxutejOqpae+7+r+6us6rTB2rObVGuhCFsOAIQhACEIQAhCEAJJpFACSaRQAUk0lACRTSQokIKFAJJNBQokk0lAJJNCgEkmkoUSSaSASSkkoBJFNJQpXzot8bmjqWmviOQuNM67krj+1GnGN3fRj6N3tgf4HevwKx8XF1qXQ74WrplTv0d+sc5CXylfO8Q1aDaE69GzrEblLe0HTXzESOFRA3z/me4e73rpjbm6R4klFWzoNKiLYwT1f4vgPJXWdUJs6r6sVSSMbdmshCFrOIIQhACEIQAhCEAIQhAJCChAJBQhQCQhCFEUk0lAJCaSFEhMpKASSy4ceSW3meVtveA1pAa0BxAA49y9Pm1/8AqJv4m/guam3uonql5l9CofNr/wDUzfa38Ejpsn+pm/7PwU1S/wAfwKXmX1EmlROmyf6mb/s/BUs/Ela01kSurmjso1zR4XmWRpXp/B6UU+psd631XhmZrI2l3p6rEh1WM8FwBHUHghUdYzWTMMDHW5xF1zQXCfErTaPaxb7nSadqLZ2GSqYDV31I60vbHyWvBIPAJB+K4zE0zIa3YyTbH6bel9aW/h6RI1u0TvA61tZ1+xTFmyS/aWcIrqX58wDpR+KpS57zYLGOBFEG+QvX5kf+nd/BH+CkNFf+nP8ALj/Be34r6fg8rQupyc+jNJJbbbJpvUAelqo/Qz5O/ou2OiP/AE5/lsS+Y3/pv/iYsr4Nv9p2Wf6mLoXZ3HAD3u72Qc7Dw1p/2+f1rp6WPJAY3ljiHFoDg8DaaPlQV3Cyb4u/etGHTD4ao5zblvZbQ3qhNnVaDkaqEKMjw3r5kD6yaC0nIdrx+VN+qrJPG2zQsdRazNQztrbdQ8LgXPY9jQDI1vtCyDzx6qlLnfSBoJMjXlzQbc5he4xsDwzh0dWeTY4XCWZLY0w4aUlZvjI45FO4Lmgg7WkkWT6cL2Y8Hp5cLlflrW923Y+Nm8BjX7x+UL2uDjyHmxYB4pauBL+cSXVCHWS5wdt8w3wt+rhSGZN0XJw7irNdeQed5b5bA767IUo3X/8AlLyP5U/sh94rQZSwhcPg6zqUbAH40k8jy6y4BrY3hzfDwB4du43zyKtPO7TajC4Mdhs3Oe1jS0SuaXFhdxR5uq8tvnaA7dC4s9o9Uuvm4fl3M9skbBfn9hvolrGbq7oInQxNjm72Xvmx0WmMQF7K33/ipteddRaA7VC4sdodUsj5vBqZ7BTnDe0NcWmzwLIHPvUcXtFqr3MadPa3ewlznF4ax/ebRfurqPcgO2QuU0rVdRkyG97jtZAaZINrmmN/jJLST4qpoJ6GwQqseq6lGXnuJJnGcscx8bGxReJ20ROadzmkBniI43En0QHaoXHs1/UnUW4AFECRr3OaS7cAQw+nN2fRe+h6hnzZA76IxwGMk+HaN+1tcHkc2gOpQhCA8ioqRSXkpS0z2P35PvlXFS0z2P35PvlXLXPH8qPUuY0KG5G5etSJRJV8iOxS9tyRXl0yo5rP0ON5st5TwtFZGeG0uhLAgRhZv08Lujr4rqitDjgeStsbSKTtd4pI5t2TCahuRuXuzyTQkCherBzWvPqR59GN/us3QMovBN/4ir3aIHdIQCajbdc+qzez+K5jS3rtcQT+tfP9bXypt+L6muNaDrGOsA+5SZ1VfEdxSst6rdF2jgzUVLOl2tcQ7oK9oNa11W3c7yB4H1q6s7UQQd5LQG9Xv/JNbbbD23yTzR8l3yP4TzjScjEypDdNcG8vLiXzAsviVoe7w3u2ht+V0s3UtWjxoy6QiERvjm+kqOGJzjT4nOYfpHmya9Vbzxs3GUV4I9xnjdOSwTu8Jc00TyCBVhcT/wBRNzGQT+wzG1V78iRkNhhPsS7HGnAe/jlYYrVPS2fUm9GPUldd9+50Gha5jzOLIZWAR79zojIx8GOXAgmKQWbN80r+k9r8CR7Y4cmIFwmcIg55ETY7txqg1u0E8+a5LSdRxsnVGTt1KTNljxJWl8eHHFCI3dGPeDwb6WFk6Jpgk7PZboYw7IkdLucIy6ZzWz9A702g8BdvCjB8++130yPPPJG2u+33vf1LS+3ulzSjHjzI3SOdtjvftkPo17hTj8Cuj/zT+zb94r5HpHazRn4un4vyY5WQx8LG47IwZMeYcOkd6i+f6r64Pyp/Zt+8VqXIxvmUm6sdoLopLIshrSa9Aos1gkX3Et1YG08mul/0WnFM13LXNcASCWkGiOoU7VJyMyTVvzYZTQcTbSPZF0E36t0LYZXAuId4eW1V8efX+i0HyBoskAepNBDXAixVHmx0KAoO1Mgg93JsMe/2TvB3VVf+dUjrLQaMU11urZzVLRDwfTjrz0TtAZztUsO2RSW3oXtLWk7q+Neafzr/AOzMa60zi/ctC0WgM751H6Kb+Dp0/FeuLqAkO3u5G8E25tNv0VmOVrvZINEg0bojqFMFANCEIDyKSZSXkpR0z2P35PvlWyqWmnwfvyffKuLjD5Ue5cyKzu0ue/GwsnJjDS/HxZ5mB4JaXsjc4WBViwtFVNXwG5WPLjPLmsyIZIXObW5rZGFpIvi+VQcI/thmM0/5Y6WDc+fCiBk07Mx2QNmP0ji177mABFFtDg9bXth9s8uXHYI248s2VqT8HEygyWLFlja0udOYi4upu17du7kt6rbZ2SuFkE2blTxwzYk0IkbjNMRxnbmtBZGLBoA3Z8PFJZPYnHeJAJZ4zJnfOETonNa7Ey9tOdFx0dyS11jkr1tff09zzvXf19jWw2ZjYXiaTGkyPF3T2RyRQnwjbvYXOI5u6PSlxw7YZ0bM1jxi5D8bLxMPGyYmSR48mROWte17S5x+jLhdO93C62LSZBjSQPzMmR8wePlLjE2ePc3b9HsaGtqrHHWysfE7DRsxDguy8mSCo+5BbjRuxpGSCRsrHRxgl+4Akuu/Pqoq6l6Fc9oc9kOfGRivytMNmUNljgfC7HMwd3dk7h7O3cB52rGqavlt06PUGT40DW4TcjIEuNJNve6NrgI6lbt5JFG+oXueyDfk88PyvJ7zNeXZWURAZ52933ewgs2NbtoeFo6KZ7JsdiwYcuRPNFjTQygPEIMzYaMcUm1oBYCAfU0LKe3uPc09AlyH4sL8trG5D4mPmZGCGMe4XtAJPS66+SvoQowTaheb5KWdmansNDz/AKBSU1FblUWzH7QTyMyWiIOJcQPD1oNWjiDaPEA1x5PFWVWOoMDt4bbzxuPWlPvzMQy9pddHrXCxJrU3fPod3ySosYk4dIQ3o1vJ998K+zqvHExWxN2sHvJPVx9SvdvVaoJpbnKT8jTVPMbxwOvmCAS/o0UeD1/oriRC1NWjlF07OSnYWHvAdu3cSSIW950Y83u47x20g1xtVZ2M2R4adwcdkTZC7fP3LD4+9a+tzS4bbF3wuiycIXbW+yI+WiNgc0PJcCSOnmR9io5Wng7RtaSHubuoPDPF3kZc5/iJuuAasrDPEz6mPOmu+/8Apj6fhxxtt1DvGy7e8ijhhD99Rh8Y5LuDRW1p8LejGtY32i1rW13jhZdtNFt8iq814Q6ewU5sRYNu+nhpMW3lschNnlzi4EchauFjFtBwPh7sNJp/LWckP6nzFuTHjd79/c858ka27+yPTD0+FjjIyGNj3clwjja/nysBe/8Amn9m37xXsxlen1Lx/wA0/s2/eK3LkfNZhDR2ObujyOu8AcNYbNgAeQseSUGhNB3HI8DY6JY4NIcd19OjeennS0ToUXkXD4Vz093Hsj+qb9DiLHRguaJK3bdoJAN+nvWTwP4/7N/6nprfoil8xQ0QZrcNpslvhoOuh5DxH4UFW1LSGBoDJwDI4Nt76bdO54uzR46dArruzUQqi7hzS4miXtB6X7xx8CVI9mYDd7yHG6JBaOvAFdOR/CFHhbVaF6nqPERTvxH6Hnk6PG575BNtLn7y0Fo8QYAQT+6PgCfVQxtGYI2MfOSQS8lrqaS+Puxt+y/jyvSPszFTtxdb3SHh26gSQDZA5r7LI56q0NDi2sbbiI2bW9Pfz8fEVVid24L1PDzpKlkfp9DOOiRu+jGSdwa1tA9Swkm+f1ui9fmNnJOQ4l29zSSKG4jn3+zXvsq9JosbnOcS4F7nOsUCC6ro/UvKfs/C8MsvHdivCa3DdfP9ftKvg/wXqP1F/wBx+iKWRpEIBccjb9IHOoii4E8UD18X1cK3pODGyVzo5d5YwRPb1p3tWT6qMXZqFoIt5u6J2+GyORx1469Vd0vS2Y27YXHeQTuryFeQVhiaknpS+5MmZODSm39i8hCFqMJ5FJSKS8lM3TfY/fk++ValfTS6i4hpIaOrqHQe9VNNPg/fk++VYlaXNLQ4sJaQHiiWkjggHix71wh8p0fM4PC/6gSnBn1B8ONIIIw75LjSyuyseTcQY8lrmeCuLeBXB4W9ldsMeFsb54cyJsjYy578WQRwd5J3bRK7o0k+XPBF9QqMvYYz/KH5eWZp8rCdg99HjxY4ZEXB24taTvduA5J6cClV1v8A6eOzXB8+bueYYYnvOJE43FIXtdFZ+hB4Dg32q6rptZ43ov6326hx2ZZigyZ5NPDhKGwvEIeNtNMtEDh1+dAEkKMva5kUj5ZnSxQR6dHlPxZMUtmj3ZLo+8LrvyrZXTnzVyTsq18OfA6V23VJZZXEMAMHeQsjoc+Ktl3x1VDUuxDslsvfZhdJkadFgvkGO1oqPIdKJA0Or/Ftr3Xaiqu/Ir79S9D20xHtcQMgPZPDj9w/HkZkPknbui2xuo05oJs1wDdL2h7UwPwpdQDZmw44nLhJHskJhsPAaT+cC34grne23ZSWR0k8Imn+VZeDJNFAMfvIo8aCRgLBMdkluLTTqrrzS2OzOkyP004edE1jHtmhETRFG8YjiRGJBD4GybTZ28WnQdUVtJ7UZD5mR5TdPiMsTpnYseYX5+OzujI3dGWgP467aq75Ctwds8eTHblRwZ0kUhpmzDlLnjZuLwPzB03dL6WquH2MkbLDJNnSZDcSGeHHD4ImyBssfd/SyNNyENA8h0SzuwwlxMPF+UV83sDAX48c0U/0ezc6F5Ldw6tPO0+qOuhFfU9srt/gxta68iRr8RmaHQ48kgbiuJBkfQ8AFG7pWNL7UDIzpsJsEwbBHC9uTsd3UgkaXWTVNB42mzu56Us/G7BNZC6AZLiH6T817u6Fhu97u9rd18fs+7qtXTuz7sfKOSzIJZJjQQSwGJtPdA0tY8Pu28E23n4q7Dc1MlcprwcCHC+OvwXXShU8jFa7qFlz43NUjtjlpZxsWW0+YW7oDN79/wDhYKvyLj/9WsvN0qISkbfMdCR5D0XXYcDGMDY2hrasAe//AJWbh8bc9+h1ySVbdT1QzqhDeq+gZzTQhC0HIRFqBiF351X/AIF6IQHm2ECutjzs2ePP1UmtA6CvgpISi2CiGC93nVfVdqSEICEIQAhCEAIQhACEihANK0ihAStK1EoUAikmkoUy9P8AY/fk++VbVKAOjBa5jydzjbWOcCC4kchevf8A6kv8t/4LPF0qOr5li0bl4d/+rJ/Lf+CO/H5sn8t/4K6kSj3tFrw78ej/AOW/8Ejkt8w/+W/8E1IUWLRarfKm/rfwP/BHypv638D/AME1LzFFncjcq/ypnv8A4X/gvN+oRN4c8N/3WP8AlNS8xpZc3JFypfOkH6Vn2ps1GF3SRpr0N0prj5l0vyLRKRXj8sj/ADx/VQdqEPTvWA+m4I5R8xTMTUvyx+I+6Fu4Drjb8K+zhc7qM7XSktIcLHI5HQLc0d9x/BxWbC/6jOk18KLqG9UFNvVaziaKEIWg5ghCEAIQhACEIQAhCEAIQhACEIQAkmkUAJJpFACSaRUAJItJQoIQSkSgBFJWglCjpCSRKlglaLXmXKBkU1Cj3tczr3ilP6rWj+/91uOnAWLmlpcSbBcVm4iVxo641TswMhi3+xEVRySfnybR8GD8SVkZreDS3ezcrRjNA8i7d/uuysvDpLLfkdsr+A3ty4XtbFtyy7ykjY76x4T/AMBdf3y5jtYQ6WOuoY6/gXcf3Wji2pYznh2kZcC6vQPYd/u/sudxsf3rpNIbsBB86IWfhVUj3lexeIQ3qmUN6r6BnNBCELucwQhCAEIQgBCEIAQhCAEIQgBCEIAQhCASEFCASiVIopQpBCdIpQEUlOkqQpGkKVIpSgRpRcFMhRcEYPCRyqyzUrUjVWfDfouM76HtGFkauGyuaT5iufKl5T5zSLsLRy9Ehl5fGxx9SOftVT/0vj/mD4FzyPsKwyhlO6lA5/M1dgO1tvd6MFq9omY9jTuaW7nXXpwtiLRo2cNawD3L1+bx7l4jhyJ3Z7c41RWOpH0WFqupfSh7mkNIAvqBXqumOB8F5v0pruoaV6njySVWeYyimZ2BlNoEEG/NaHzkAqbuysR6FzP9j3NH2dE4uykQNl8jvcZHUpGOZckG4PqbuJkh7QfUK2w8qnjYYYAB0A9SrcbFvhqrc4Srof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873027" y="6324600"/>
            <a:ext cx="32991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effectLst/>
                <a:hlinkClick r:id="rId2"/>
              </a:rPr>
              <a:t>https://www.tiobe.com/tiobe-index</a:t>
            </a:r>
            <a:r>
              <a:rPr lang="en-GB" sz="1600" dirty="0" smtClean="0">
                <a:effectLst/>
                <a:hlinkClick r:id="rId2"/>
              </a:rPr>
              <a:t>/</a:t>
            </a:r>
            <a:endParaRPr lang="en-GB" sz="1600" dirty="0" smtClean="0">
              <a:effectLst/>
            </a:endParaRPr>
          </a:p>
          <a:p>
            <a:endParaRPr lang="en-GB" sz="1600" dirty="0" smtClean="0">
              <a:effectLst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13547"/>
            <a:ext cx="9144000" cy="383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223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33400"/>
            <a:ext cx="8839200" cy="838200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Intermezzo: Popularity of languages</a:t>
            </a:r>
            <a:endParaRPr lang="en-US" sz="3200" b="1" dirty="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8686800" cy="3962400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da-DK" sz="2000" dirty="0" smtClean="0"/>
              <a:t>... but some very old languages, like </a:t>
            </a:r>
            <a:r>
              <a:rPr lang="da-DK" sz="2000" dirty="0" smtClean="0"/>
              <a:t>Fortran</a:t>
            </a:r>
            <a:r>
              <a:rPr lang="en-DE" sz="2000" dirty="0" smtClean="0"/>
              <a:t> or COBOL</a:t>
            </a:r>
            <a:r>
              <a:rPr lang="da-DK" sz="2000" dirty="0" smtClean="0"/>
              <a:t>, </a:t>
            </a:r>
            <a:r>
              <a:rPr lang="da-DK" sz="2000" dirty="0" smtClean="0"/>
              <a:t>are still alive!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p:sp>
        <p:nvSpPr>
          <p:cNvPr id="5" name="AutoShape 2" descr="data:image/jpeg;base64,/9j/4AAQSkZJRgABAQAAAQABAAD/2wCEAAkGBxAPEBUPDxAQEBAPDxAQEA8PEBAQDw4PFREWFhUVFRUYHiggGBomHRYXITEhJSkrLi4uGB8zODMsNygtLisBCgoKDg0OGxAQFzIlHh8tListKy0tMS0tLS0tLS8tLi0tLS0vLSstLS0tLS0tLSstLS0wLS0tNzUtNzcrNy8tLv/AABEIAJ4BPwMBIgACEQEDEQH/xAAbAAACAwEBAQAAAAAAAAAAAAAAAQIEBQYDB//EAEMQAAEEAQMBBQMHCgUDBQAAAAEAAgMRBAUSITEGEyJBUTJhcRQVI4GRstEzUlNic4KSk6HBQkNUcrEHovAWY6Ph8f/EABkBAQEBAQEBAAAAAAAAAAAAAAABBAMCBf/EAC8RAAICAQIEBAUDBQAAAAAAAAABAhEDEiEEMUHwE1GR4SIyYYGxFEJiI0NSodH/2gAMAwEAAhEDEQA/APuKEIQAhCEAIQhACSaRQAkmkgEUJpKASCmkoUSSZQgEkmhCiKSaSgEkmkoASTSUKJJNCAikpJKAikpJKFEkmkoBJJpWEKAYSpdyfUJGVR71S0NxujPx+C8yp96k42psUghnVCbOqA2EIQtRxBCEIAQhCAEIQgEhBQgEkmUKASSaEKIpJpKAEk0kAkJpKFEkmkgEhMpKASSaShRJJpIBJKSShSKE0lAQkdQJ9FRdOvfUXVGT8P8AlYhn96zZZ06OkI2aJnS79Zpn96O/XHxDppNMTKbZllCf3qbZ/eqshNJsxutejOqpae+7+r+6us6rTB2rObVGuhCFsOAIQhACEIQAhCEAJJpFACSaRQAUk0lACRTSQokIKFAJJNBQokk0lAJJNCgEkmkoUSSaSASSkkoBJFNJQpXzot8bmjqWmviOQuNM67krj+1GnGN3fRj6N3tgf4HevwKx8XF1qXQ74WrplTv0d+sc5CXylfO8Q1aDaE69GzrEblLe0HTXzESOFRA3z/me4e73rpjbm6R4klFWzoNKiLYwT1f4vgPJXWdUJs6r6sVSSMbdmshCFrOIIQhACEIQAhCEAIQhAJCChAJBQhQCQhCFEUk0lAJCaSFEhMpKASSy4ceSW3meVtveA1pAa0BxAA49y9Pm1/8AqJv4m/guam3uonql5l9CofNr/wDUzfa38Ejpsn+pm/7PwU1S/wAfwKXmX1EmlROmyf6mb/s/BUs/Ela01kSurmjso1zR4XmWRpXp/B6UU+psd631XhmZrI2l3p6rEh1WM8FwBHUHghUdYzWTMMDHW5xF1zQXCfErTaPaxb7nSadqLZ2GSqYDV31I60vbHyWvBIPAJB+K4zE0zIa3YyTbH6bel9aW/h6RI1u0TvA61tZ1+xTFmyS/aWcIrqX58wDpR+KpS57zYLGOBFEG+QvX5kf+nd/BH+CkNFf+nP8ALj/Be34r6fg8rQupyc+jNJJbbbJpvUAelqo/Qz5O/ou2OiP/AE5/lsS+Y3/pv/iYsr4Nv9p2Wf6mLoXZ3HAD3u72Qc7Dw1p/2+f1rp6WPJAY3ljiHFoDg8DaaPlQV3Cyb4u/etGHTD4ao5zblvZbQ3qhNnVaDkaqEKMjw3r5kD6yaC0nIdrx+VN+qrJPG2zQsdRazNQztrbdQ8LgXPY9jQDI1vtCyDzx6qlLnfSBoJMjXlzQbc5he4xsDwzh0dWeTY4XCWZLY0w4aUlZvjI45FO4Lmgg7WkkWT6cL2Y8Hp5cLlflrW923Y+Nm8BjX7x+UL2uDjyHmxYB4pauBL+cSXVCHWS5wdt8w3wt+rhSGZN0XJw7irNdeQed5b5bA767IUo3X/8AlLyP5U/sh94rQZSwhcPg6zqUbAH40k8jy6y4BrY3hzfDwB4du43zyKtPO7TajC4Mdhs3Oe1jS0SuaXFhdxR5uq8tvnaA7dC4s9o9Uuvm4fl3M9skbBfn9hvolrGbq7oInQxNjm72Xvmx0WmMQF7K33/ipteddRaA7VC4sdodUsj5vBqZ7BTnDe0NcWmzwLIHPvUcXtFqr3MadPa3ewlznF4ax/ebRfurqPcgO2QuU0rVdRkyG97jtZAaZINrmmN/jJLST4qpoJ6GwQqseq6lGXnuJJnGcscx8bGxReJ20ROadzmkBniI43En0QHaoXHs1/UnUW4AFECRr3OaS7cAQw+nN2fRe+h6hnzZA76IxwGMk+HaN+1tcHkc2gOpQhCA8ioqRSXkpS0z2P35PvlXFS0z2P35PvlXLXPH8qPUuY0KG5G5etSJRJV8iOxS9tyRXl0yo5rP0ON5st5TwtFZGeG0uhLAgRhZv08Lujr4rqitDjgeStsbSKTtd4pI5t2TCahuRuXuzyTQkCherBzWvPqR59GN/us3QMovBN/4ir3aIHdIQCajbdc+qzez+K5jS3rtcQT+tfP9bXypt+L6muNaDrGOsA+5SZ1VfEdxSst6rdF2jgzUVLOl2tcQ7oK9oNa11W3c7yB4H1q6s7UQQd5LQG9Xv/JNbbbD23yTzR8l3yP4TzjScjEypDdNcG8vLiXzAsviVoe7w3u2ht+V0s3UtWjxoy6QiERvjm+kqOGJzjT4nOYfpHmya9Vbzxs3GUV4I9xnjdOSwTu8Jc00TyCBVhcT/wBRNzGQT+wzG1V78iRkNhhPsS7HGnAe/jlYYrVPS2fUm9GPUldd9+50Gha5jzOLIZWAR79zojIx8GOXAgmKQWbN80r+k9r8CR7Y4cmIFwmcIg55ETY7txqg1u0E8+a5LSdRxsnVGTt1KTNljxJWl8eHHFCI3dGPeDwb6WFk6Jpgk7PZboYw7IkdLucIy6ZzWz9A702g8BdvCjB8++130yPPPJG2u+33vf1LS+3ulzSjHjzI3SOdtjvftkPo17hTj8Cuj/zT+zb94r5HpHazRn4un4vyY5WQx8LG47IwZMeYcOkd6i+f6r64Pyp/Zt+8VqXIxvmUm6sdoLopLIshrSa9Aos1gkX3Et1YG08mul/0WnFM13LXNcASCWkGiOoU7VJyMyTVvzYZTQcTbSPZF0E36t0LYZXAuId4eW1V8efX+i0HyBoskAepNBDXAixVHmx0KAoO1Mgg93JsMe/2TvB3VVf+dUjrLQaMU11urZzVLRDwfTjrz0TtAZztUsO2RSW3oXtLWk7q+Neafzr/AOzMa60zi/ctC0WgM751H6Kb+Dp0/FeuLqAkO3u5G8E25tNv0VmOVrvZINEg0bojqFMFANCEIDyKSZSXkpR0z2P35PvlWyqWmnwfvyffKuLjD5Ue5cyKzu0ue/GwsnJjDS/HxZ5mB4JaXsjc4WBViwtFVNXwG5WPLjPLmsyIZIXObW5rZGFpIvi+VQcI/thmM0/5Y6WDc+fCiBk07Mx2QNmP0ji177mABFFtDg9bXth9s8uXHYI248s2VqT8HEygyWLFlja0udOYi4upu17du7kt6rbZ2SuFkE2blTxwzYk0IkbjNMRxnbmtBZGLBoA3Z8PFJZPYnHeJAJZ4zJnfOETonNa7Ey9tOdFx0dyS11jkr1tff09zzvXf19jWw2ZjYXiaTGkyPF3T2RyRQnwjbvYXOI5u6PSlxw7YZ0bM1jxi5D8bLxMPGyYmSR48mROWte17S5x+jLhdO93C62LSZBjSQPzMmR8wePlLjE2ePc3b9HsaGtqrHHWysfE7DRsxDguy8mSCo+5BbjRuxpGSCRsrHRxgl+4Akuu/Pqoq6l6Fc9oc9kOfGRivytMNmUNljgfC7HMwd3dk7h7O3cB52rGqavlt06PUGT40DW4TcjIEuNJNve6NrgI6lbt5JFG+oXueyDfk88PyvJ7zNeXZWURAZ52933ewgs2NbtoeFo6KZ7JsdiwYcuRPNFjTQygPEIMzYaMcUm1oBYCAfU0LKe3uPc09AlyH4sL8trG5D4mPmZGCGMe4XtAJPS66+SvoQowTaheb5KWdmansNDz/AKBSU1FblUWzH7QTyMyWiIOJcQPD1oNWjiDaPEA1x5PFWVWOoMDt4bbzxuPWlPvzMQy9pddHrXCxJrU3fPod3ySosYk4dIQ3o1vJ998K+zqvHExWxN2sHvJPVx9SvdvVaoJpbnKT8jTVPMbxwOvmCAS/o0UeD1/oriRC1NWjlF07OSnYWHvAdu3cSSIW950Y83u47x20g1xtVZ2M2R4adwcdkTZC7fP3LD4+9a+tzS4bbF3wuiycIXbW+yI+WiNgc0PJcCSOnmR9io5Wng7RtaSHubuoPDPF3kZc5/iJuuAasrDPEz6mPOmu+/8Apj6fhxxtt1DvGy7e8ijhhD99Rh8Y5LuDRW1p8LejGtY32i1rW13jhZdtNFt8iq814Q6ewU5sRYNu+nhpMW3lschNnlzi4EchauFjFtBwPh7sNJp/LWckP6nzFuTHjd79/c858ka27+yPTD0+FjjIyGNj3clwjja/nysBe/8Amn9m37xXsxlen1Lx/wA0/s2/eK3LkfNZhDR2ObujyOu8AcNYbNgAeQseSUGhNB3HI8DY6JY4NIcd19OjeennS0ToUXkXD4Vz093Hsj+qb9DiLHRguaJK3bdoJAN+nvWTwP4/7N/6nprfoil8xQ0QZrcNpslvhoOuh5DxH4UFW1LSGBoDJwDI4Nt76bdO54uzR46dArruzUQqi7hzS4miXtB6X7xx8CVI9mYDd7yHG6JBaOvAFdOR/CFHhbVaF6nqPERTvxH6Hnk6PG575BNtLn7y0Fo8QYAQT+6PgCfVQxtGYI2MfOSQS8lrqaS+Puxt+y/jyvSPszFTtxdb3SHh26gSQDZA5r7LI56q0NDi2sbbiI2bW9Pfz8fEVVid24L1PDzpKlkfp9DOOiRu+jGSdwa1tA9Swkm+f1ui9fmNnJOQ4l29zSSKG4jn3+zXvsq9JosbnOcS4F7nOsUCC6ro/UvKfs/C8MsvHdivCa3DdfP9ftKvg/wXqP1F/wBx+iKWRpEIBccjb9IHOoii4E8UD18X1cK3pODGyVzo5d5YwRPb1p3tWT6qMXZqFoIt5u6J2+GyORx1469Vd0vS2Y27YXHeQTuryFeQVhiaknpS+5MmZODSm39i8hCFqMJ5FJSKS8lM3TfY/fk++ValfTS6i4hpIaOrqHQe9VNNPg/fk++VYlaXNLQ4sJaQHiiWkjggHix71wh8p0fM4PC/6gSnBn1B8ONIIIw75LjSyuyseTcQY8lrmeCuLeBXB4W9ldsMeFsb54cyJsjYy578WQRwd5J3bRK7o0k+XPBF9QqMvYYz/KH5eWZp8rCdg99HjxY4ZEXB24taTvduA5J6cClV1v8A6eOzXB8+bueYYYnvOJE43FIXtdFZ+hB4Dg32q6rptZ43ov6326hx2ZZigyZ5NPDhKGwvEIeNtNMtEDh1+dAEkKMva5kUj5ZnSxQR6dHlPxZMUtmj3ZLo+8LrvyrZXTnzVyTsq18OfA6V23VJZZXEMAMHeQsjoc+Ktl3x1VDUuxDslsvfZhdJkadFgvkGO1oqPIdKJA0Or/Ftr3Xaiqu/Ir79S9D20xHtcQMgPZPDj9w/HkZkPknbui2xuo05oJs1wDdL2h7UwPwpdQDZmw44nLhJHskJhsPAaT+cC34grne23ZSWR0k8Imn+VZeDJNFAMfvIo8aCRgLBMdkluLTTqrrzS2OzOkyP004edE1jHtmhETRFG8YjiRGJBD4GybTZ28WnQdUVtJ7UZD5mR5TdPiMsTpnYseYX5+OzujI3dGWgP467aq75Ctwds8eTHblRwZ0kUhpmzDlLnjZuLwPzB03dL6WquH2MkbLDJNnSZDcSGeHHD4ImyBssfd/SyNNyENA8h0SzuwwlxMPF+UV83sDAX48c0U/0ezc6F5Ldw6tPO0+qOuhFfU9srt/gxta68iRr8RmaHQ48kgbiuJBkfQ8AFG7pWNL7UDIzpsJsEwbBHC9uTsd3UgkaXWTVNB42mzu56Us/G7BNZC6AZLiH6T817u6Fhu97u9rd18fs+7qtXTuz7sfKOSzIJZJjQQSwGJtPdA0tY8Pu28E23n4q7Dc1MlcprwcCHC+OvwXXShU8jFa7qFlz43NUjtjlpZxsWW0+YW7oDN79/wDhYKvyLj/9WsvN0qISkbfMdCR5D0XXYcDGMDY2hrasAe//AJWbh8bc9+h1ySVbdT1QzqhDeq+gZzTQhC0HIRFqBiF351X/AIF6IQHm2ECutjzs2ePP1UmtA6CvgpISi2CiGC93nVfVdqSEICEIQAhCEAIQhACEihANK0ihAStK1EoUAikmkoUy9P8AY/fk++VbVKAOjBa5jydzjbWOcCC4kchevf8A6kv8t/4LPF0qOr5li0bl4d/+rJ/Lf+CO/H5sn8t/4K6kSj3tFrw78ej/AOW/8Ejkt8w/+W/8E1IUWLRarfKm/rfwP/BHypv638D/AME1LzFFncjcq/ypnv8A4X/gvN+oRN4c8N/3WP8AlNS8xpZc3JFypfOkH6Vn2ps1GF3SRpr0N0prj5l0vyLRKRXj8sj/ADx/VQdqEPTvWA+m4I5R8xTMTUvyx+I+6Fu4Drjb8K+zhc7qM7XSktIcLHI5HQLc0d9x/BxWbC/6jOk18KLqG9UFNvVaziaKEIWg5ghCEAIQhACEIQAhCEAIQhACEIQAkmkUAJJpFACSaRUAJItJQoIQSkSgBFJWglCjpCSRKlglaLXmXKBkU1Cj3tczr3ilP6rWj+/91uOnAWLmlpcSbBcVm4iVxo641TswMhi3+xEVRySfnybR8GD8SVkZreDS3ezcrRjNA8i7d/uuysvDpLLfkdsr+A3ty4XtbFtyy7ykjY76x4T/AMBdf3y5jtYQ6WOuoY6/gXcf3Wji2pYznh2kZcC6vQPYd/u/sudxsf3rpNIbsBB86IWfhVUj3lexeIQ3qmUN6r6BnNBCELucwQhCAEIQgBCEIAQhCAEIQgBCEIAQhCASEFCASiVIopQpBCdIpQEUlOkqQpGkKVIpSgRpRcFMhRcEYPCRyqyzUrUjVWfDfouM76HtGFkauGyuaT5iufKl5T5zSLsLRy9Ehl5fGxx9SOftVT/0vj/mD4FzyPsKwyhlO6lA5/M1dgO1tvd6MFq9omY9jTuaW7nXXpwtiLRo2cNawD3L1+bx7l4jhyJ3Z7c41RWOpH0WFqupfSh7mkNIAvqBXqumOB8F5v0pruoaV6njySVWeYyimZ2BlNoEEG/NaHzkAqbuysR6FzP9j3NH2dE4uykQNl8jvcZHUpGOZckG4PqbuJkh7QfUK2w8qnjYYYAB0A9SrcbFvhqrc4Srof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873027" y="6324600"/>
            <a:ext cx="32991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effectLst/>
                <a:hlinkClick r:id="rId2"/>
              </a:rPr>
              <a:t>https://www.tiobe.com/tiobe-index</a:t>
            </a:r>
            <a:r>
              <a:rPr lang="en-GB" sz="1600" dirty="0" smtClean="0">
                <a:effectLst/>
                <a:hlinkClick r:id="rId2"/>
              </a:rPr>
              <a:t>/</a:t>
            </a:r>
            <a:endParaRPr lang="en-GB" sz="1600" dirty="0" smtClean="0">
              <a:effectLst/>
            </a:endParaRPr>
          </a:p>
          <a:p>
            <a:endParaRPr lang="en-GB" sz="1600" dirty="0" smtClean="0">
              <a:effectLst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32599"/>
            <a:ext cx="9144000" cy="3558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396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&amp;lt;strong&amp;gt;Figure 3.&amp;lt;/strong&amp;gt; Di-photon (&amp;amp;gamma;&amp;amp;gamma;) invariant mass distribution for the CMS data of 2011 and 2012 (black points with error bars). The data are weighted by the signal to background ratio for each sub-category of events. The solid red line shows the fit result for signal plus background; the dashed red line shows only the background.&amp;lt;br /&amp;gt;&amp;lt;a href=&amp;quot;https://cdsweb.cern.ch/record/1459463/files/Fig3-MassFactSoBWeightedMass.png&amp;quot;&amp;gt;DOWNLOAD this plot&amp;lt;/a&amp;gt;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6146" y="2350598"/>
            <a:ext cx="3291173" cy="3174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1066800"/>
          </a:xfrm>
        </p:spPr>
        <p:txBody>
          <a:bodyPr>
            <a:normAutofit/>
          </a:bodyPr>
          <a:lstStyle/>
          <a:p>
            <a:r>
              <a:rPr lang="da-DK" sz="3200" b="1" dirty="0"/>
              <a:t>Free advert </a:t>
            </a:r>
            <a:r>
              <a:rPr lang="da-DK" sz="3200" b="1" dirty="0" smtClean="0"/>
              <a:t>(#3)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1752600"/>
          </a:xfrm>
        </p:spPr>
        <p:txBody>
          <a:bodyPr>
            <a:normAutofit/>
          </a:bodyPr>
          <a:lstStyle/>
          <a:p>
            <a:r>
              <a:rPr lang="da-DK" dirty="0" smtClean="0"/>
              <a:t>Is this a right course for you? ROOT, what’s that?</a:t>
            </a:r>
            <a:endParaRPr lang="en-US" dirty="0" smtClean="0"/>
          </a:p>
          <a:p>
            <a:pPr lvl="1"/>
            <a:r>
              <a:rPr lang="en-GB" dirty="0" smtClean="0"/>
              <a:t>If you have ever asked yourself what is the software in which the Higgs discovery plots were actually made </a:t>
            </a:r>
            <a:r>
              <a:rPr lang="en-DE" dirty="0" smtClean="0"/>
              <a:t>…</a:t>
            </a:r>
            <a:r>
              <a:rPr lang="en-GB" dirty="0" smtClean="0"/>
              <a:t> </a:t>
            </a:r>
            <a:endParaRPr lang="en-US" dirty="0"/>
          </a:p>
          <a:p>
            <a:pPr lvl="1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  <p:pic>
        <p:nvPicPr>
          <p:cNvPr id="1026" name="Picture 2" descr="http://atlas.web.cern.ch/Atlas/GROUPS/PHYSICS/PAPERS/HIGG-2013-02/fig_02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881" y="2514600"/>
            <a:ext cx="4033919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304800" y="5486400"/>
            <a:ext cx="8686800" cy="1076069"/>
          </a:xfrm>
          <a:prstGeom prst="rect">
            <a:avLst/>
          </a:prstGeom>
        </p:spPr>
        <p:txBody>
          <a:bodyPr vert="horz">
            <a:normAutofit lnSpcReduction="10000"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0" sz="24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SzPct val="90000"/>
              <a:buFont typeface="Courier New" panose="02070309020205020404" pitchFamily="49" charset="0"/>
              <a:buChar char="o"/>
              <a:defRPr kumimoji="0" sz="2200" kern="1200">
                <a:solidFill>
                  <a:schemeClr val="accent2"/>
                </a:solidFill>
                <a:latin typeface="Helvetica" pitchFamily="34" charset="0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1800" kern="1200">
                <a:solidFill>
                  <a:schemeClr val="accent1"/>
                </a:solidFill>
                <a:latin typeface="Helvetica" pitchFamily="34" charset="0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1400" kern="1200">
                <a:solidFill>
                  <a:schemeClr val="accent1"/>
                </a:solidFill>
                <a:latin typeface="Helvetica" pitchFamily="34" charset="0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400" kern="1200">
                <a:solidFill>
                  <a:schemeClr val="accent3"/>
                </a:solidFill>
                <a:latin typeface="Helvetica" pitchFamily="34" charset="0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11480" lvl="1" indent="0" fontAlgn="auto">
              <a:spcAft>
                <a:spcPts val="0"/>
              </a:spcAft>
              <a:buNone/>
            </a:pPr>
            <a:r>
              <a:rPr lang="en-GB" dirty="0" smtClean="0">
                <a:effectLst/>
              </a:rPr>
              <a:t>   </a:t>
            </a:r>
            <a:r>
              <a:rPr lang="en-DE" dirty="0" smtClean="0">
                <a:effectLst/>
              </a:rPr>
              <a:t>…</a:t>
            </a:r>
            <a:r>
              <a:rPr lang="en-GB" dirty="0" smtClean="0">
                <a:effectLst/>
              </a:rPr>
              <a:t> then this is the right course for you!</a:t>
            </a:r>
          </a:p>
          <a:p>
            <a:pPr lvl="1" fontAlgn="auto">
              <a:spcAft>
                <a:spcPts val="0"/>
              </a:spcAft>
            </a:pPr>
            <a:r>
              <a:rPr lang="en-GB" dirty="0" smtClean="0">
                <a:effectLst/>
              </a:rPr>
              <a:t>At the very basic level, we can use ROOT for plotting, </a:t>
            </a:r>
            <a:r>
              <a:rPr lang="en-GB" dirty="0" err="1" smtClean="0">
                <a:effectLst/>
              </a:rPr>
              <a:t>histogramming</a:t>
            </a:r>
            <a:r>
              <a:rPr lang="en-GB" dirty="0">
                <a:effectLst/>
              </a:rPr>
              <a:t>,</a:t>
            </a:r>
            <a:r>
              <a:rPr lang="en-GB" dirty="0" smtClean="0">
                <a:effectLst/>
              </a:rPr>
              <a:t> fitting, etc.</a:t>
            </a:r>
          </a:p>
          <a:p>
            <a:pPr lvl="1" fontAlgn="auto">
              <a:spcAft>
                <a:spcPts val="0"/>
              </a:spcAft>
            </a:pPr>
            <a:endParaRPr lang="en-US" dirty="0" smtClean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73157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https://cds.cern.ch/record/2202730/files/PbPb5TeV_redOnWhite.png?subformat=icon-144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209800"/>
            <a:ext cx="5292347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1066800"/>
          </a:xfrm>
        </p:spPr>
        <p:txBody>
          <a:bodyPr>
            <a:normAutofit/>
          </a:bodyPr>
          <a:lstStyle/>
          <a:p>
            <a:r>
              <a:rPr lang="da-DK" sz="3200" b="1" dirty="0"/>
              <a:t>Free advert (#3)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1295399"/>
          </a:xfrm>
        </p:spPr>
        <p:txBody>
          <a:bodyPr>
            <a:normAutofit/>
          </a:bodyPr>
          <a:lstStyle/>
          <a:p>
            <a:r>
              <a:rPr lang="da-DK" dirty="0" smtClean="0"/>
              <a:t>This is the typical heavy-ion event at Large Hadron Collider reconstructed by ALICE Collaboration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057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1066800"/>
          </a:xfrm>
        </p:spPr>
        <p:txBody>
          <a:bodyPr>
            <a:normAutofit/>
          </a:bodyPr>
          <a:lstStyle/>
          <a:p>
            <a:r>
              <a:rPr lang="da-DK" sz="3200" b="1" dirty="0"/>
              <a:t>Free advert (#3)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3581400"/>
          </a:xfrm>
        </p:spPr>
        <p:txBody>
          <a:bodyPr>
            <a:normAutofit/>
          </a:bodyPr>
          <a:lstStyle/>
          <a:p>
            <a:r>
              <a:rPr lang="da-DK" dirty="0" smtClean="0"/>
              <a:t>Trajectories of more than 10000 particles are reconstructed by AliROOT (C++ code specific to ALICE Collaboration built on top of ROOT)</a:t>
            </a:r>
          </a:p>
          <a:p>
            <a:r>
              <a:rPr lang="da-DK" dirty="0" smtClean="0"/>
              <a:t>Most important major collaborations worldwide in high-energy physics currently use ROOT </a:t>
            </a:r>
          </a:p>
          <a:p>
            <a:pPr lvl="1"/>
            <a:r>
              <a:rPr lang="en-GB" dirty="0" smtClean="0"/>
              <a:t>Also the future ones (e.g. CBM at GSI is developing CbmRoot) 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440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1066800"/>
          </a:xfrm>
        </p:spPr>
        <p:txBody>
          <a:bodyPr>
            <a:normAutofit/>
          </a:bodyPr>
          <a:lstStyle/>
          <a:p>
            <a:r>
              <a:rPr lang="da-DK" sz="3200" b="1" dirty="0"/>
              <a:t>Free advert </a:t>
            </a:r>
            <a:r>
              <a:rPr lang="da-DK" sz="3200" b="1" dirty="0" smtClean="0"/>
              <a:t>(#4)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1295399"/>
          </a:xfrm>
        </p:spPr>
        <p:txBody>
          <a:bodyPr>
            <a:normAutofit/>
          </a:bodyPr>
          <a:lstStyle/>
          <a:p>
            <a:r>
              <a:rPr lang="da-DK" dirty="0" smtClean="0"/>
              <a:t>In terms of histogramming quality and performance, it’s difficult to beat ROOT...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470562"/>
            <a:ext cx="6905625" cy="39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7303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1066800"/>
          </a:xfrm>
        </p:spPr>
        <p:txBody>
          <a:bodyPr>
            <a:normAutofit/>
          </a:bodyPr>
          <a:lstStyle/>
          <a:p>
            <a:r>
              <a:rPr lang="da-DK" sz="3200" b="1" dirty="0" smtClean="0"/>
              <a:t>ROOT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3124200"/>
          </a:xfrm>
        </p:spPr>
        <p:txBody>
          <a:bodyPr>
            <a:normAutofit lnSpcReduction="10000"/>
          </a:bodyPr>
          <a:lstStyle/>
          <a:p>
            <a:r>
              <a:rPr lang="en-GB" dirty="0" smtClean="0"/>
              <a:t>Object-oriented framework, written in </a:t>
            </a:r>
            <a:r>
              <a:rPr lang="en-GB" dirty="0"/>
              <a:t>C++ and developed at </a:t>
            </a:r>
            <a:r>
              <a:rPr lang="en-GB" dirty="0" smtClean="0"/>
              <a:t>CERN, </a:t>
            </a:r>
            <a:r>
              <a:rPr lang="en-GB" dirty="0"/>
              <a:t>for data analysis in high-energy </a:t>
            </a:r>
            <a:r>
              <a:rPr lang="en-GB" dirty="0" smtClean="0"/>
              <a:t>physics</a:t>
            </a:r>
          </a:p>
          <a:p>
            <a:r>
              <a:rPr lang="en-GB" dirty="0" smtClean="0"/>
              <a:t>The </a:t>
            </a:r>
            <a:r>
              <a:rPr lang="en-GB" dirty="0"/>
              <a:t>development was initiated by René </a:t>
            </a:r>
            <a:r>
              <a:rPr lang="en-GB" dirty="0" err="1"/>
              <a:t>Brun</a:t>
            </a:r>
            <a:r>
              <a:rPr lang="en-GB" dirty="0"/>
              <a:t> and </a:t>
            </a:r>
            <a:r>
              <a:rPr lang="en-GB" dirty="0" err="1"/>
              <a:t>Fons</a:t>
            </a:r>
            <a:r>
              <a:rPr lang="en-GB" dirty="0"/>
              <a:t> </a:t>
            </a:r>
            <a:r>
              <a:rPr lang="en-GB" dirty="0" err="1"/>
              <a:t>Rademakers</a:t>
            </a:r>
            <a:r>
              <a:rPr lang="en-GB" dirty="0"/>
              <a:t> in </a:t>
            </a:r>
            <a:r>
              <a:rPr lang="en-GB" dirty="0" smtClean="0"/>
              <a:t>1994, and is still under active development</a:t>
            </a:r>
          </a:p>
          <a:p>
            <a:pPr lvl="1"/>
            <a:r>
              <a:rPr lang="en-GB" dirty="0" smtClean="0"/>
              <a:t>Latest release</a:t>
            </a:r>
            <a:r>
              <a:rPr lang="en-GB" dirty="0"/>
              <a:t>: Version </a:t>
            </a:r>
            <a:r>
              <a:rPr lang="en-GB" dirty="0" smtClean="0"/>
              <a:t>6.</a:t>
            </a:r>
            <a:r>
              <a:rPr lang="en-DE" dirty="0" smtClean="0"/>
              <a:t>34</a:t>
            </a:r>
            <a:r>
              <a:rPr lang="en-GB" dirty="0" smtClean="0"/>
              <a:t>/0</a:t>
            </a:r>
            <a:r>
              <a:rPr lang="en-DE" dirty="0" smtClean="0"/>
              <a:t>8</a:t>
            </a:r>
            <a:r>
              <a:rPr lang="en-GB" dirty="0" smtClean="0"/>
              <a:t> (</a:t>
            </a:r>
            <a:r>
              <a:rPr lang="en-DE" dirty="0" smtClean="0"/>
              <a:t>April</a:t>
            </a:r>
            <a:r>
              <a:rPr lang="en-GB" dirty="0" smtClean="0"/>
              <a:t> </a:t>
            </a:r>
            <a:r>
              <a:rPr lang="en-DE" dirty="0" smtClean="0"/>
              <a:t>8</a:t>
            </a:r>
            <a:r>
              <a:rPr lang="en-GB" dirty="0" smtClean="0"/>
              <a:t>, 202</a:t>
            </a:r>
            <a:r>
              <a:rPr lang="en-DE" dirty="0" smtClean="0"/>
              <a:t>5</a:t>
            </a:r>
            <a:r>
              <a:rPr lang="en-GB" dirty="0" smtClean="0"/>
              <a:t>)</a:t>
            </a:r>
            <a:endParaRPr lang="en-GB" dirty="0" smtClean="0"/>
          </a:p>
          <a:p>
            <a:r>
              <a:rPr lang="en-GB" dirty="0" smtClean="0"/>
              <a:t>Webpage: </a:t>
            </a:r>
            <a:r>
              <a:rPr lang="en-US" sz="1800" dirty="0">
                <a:hlinkClick r:id="rId2"/>
              </a:rPr>
              <a:t>https://root.cern.ch</a:t>
            </a:r>
            <a:r>
              <a:rPr lang="en-US" sz="1800" dirty="0" smtClean="0">
                <a:hlinkClick r:id="rId2"/>
              </a:rPr>
              <a:t>/</a:t>
            </a:r>
            <a:r>
              <a:rPr lang="en-US" sz="1800" dirty="0" smtClean="0"/>
              <a:t> </a:t>
            </a:r>
          </a:p>
          <a:p>
            <a:r>
              <a:rPr lang="en-GB" dirty="0" smtClean="0"/>
              <a:t>Root forum: </a:t>
            </a:r>
            <a:r>
              <a:rPr lang="en-US" sz="1800" dirty="0">
                <a:hlinkClick r:id="rId3"/>
              </a:rPr>
              <a:t>https://root-forum.cern.ch</a:t>
            </a:r>
            <a:r>
              <a:rPr lang="en-US" sz="1800" dirty="0" smtClean="0">
                <a:hlinkClick r:id="rId3"/>
              </a:rPr>
              <a:t>/</a:t>
            </a:r>
            <a:endParaRPr lang="en-US" sz="1800" dirty="0" smtClean="0"/>
          </a:p>
          <a:p>
            <a:r>
              <a:rPr lang="en-US" dirty="0"/>
              <a:t>Source code: </a:t>
            </a:r>
            <a:r>
              <a:rPr lang="en-US" sz="1800" dirty="0">
                <a:hlinkClick r:id="rId4"/>
              </a:rPr>
              <a:t>https://</a:t>
            </a:r>
            <a:r>
              <a:rPr lang="en-US" sz="1800" dirty="0" smtClean="0">
                <a:hlinkClick r:id="rId4"/>
              </a:rPr>
              <a:t>github.com/root-project/root</a:t>
            </a:r>
            <a:endParaRPr lang="en-US" sz="1800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  <p:pic>
        <p:nvPicPr>
          <p:cNvPr id="5122" name="Picture 2" descr="https://root.cern.ch/img/logos/ROOT_Logo/misc/logo_full-plus-text-hor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4343400"/>
            <a:ext cx="6626225" cy="2264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7857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895600"/>
            <a:ext cx="8839200" cy="838200"/>
          </a:xfrm>
        </p:spPr>
        <p:txBody>
          <a:bodyPr>
            <a:noAutofit/>
          </a:bodyPr>
          <a:lstStyle/>
          <a:p>
            <a:pPr algn="ctr"/>
            <a:r>
              <a:rPr lang="da-DK" b="1" dirty="0" smtClean="0"/>
              <a:t>Thanks!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561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0</TotalTime>
  <Words>1656</Words>
  <Application>Microsoft Office PowerPoint</Application>
  <PresentationFormat>On-screen Show (4:3)</PresentationFormat>
  <Paragraphs>253</Paragraphs>
  <Slides>36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Arial</vt:lpstr>
      <vt:lpstr>Arial Unicode MS</vt:lpstr>
      <vt:lpstr>Courier New</vt:lpstr>
      <vt:lpstr>Georgia</vt:lpstr>
      <vt:lpstr>Helvetica</vt:lpstr>
      <vt:lpstr>Trebuchet MS</vt:lpstr>
      <vt:lpstr>Wingdings 2</vt:lpstr>
      <vt:lpstr>Urban</vt:lpstr>
      <vt:lpstr>Scientific computing in  high-energy physics Lecture 1, 24.04.2025</vt:lpstr>
      <vt:lpstr>Outline of today’s lecture</vt:lpstr>
      <vt:lpstr>Course trivia</vt:lpstr>
      <vt:lpstr>Course trivia</vt:lpstr>
      <vt:lpstr>Webpage</vt:lpstr>
      <vt:lpstr>Webpage</vt:lpstr>
      <vt:lpstr>Course trivia</vt:lpstr>
      <vt:lpstr>Course trivia</vt:lpstr>
      <vt:lpstr>Course trivia</vt:lpstr>
      <vt:lpstr>Course trivia</vt:lpstr>
      <vt:lpstr>Trivia</vt:lpstr>
      <vt:lpstr>Free adverts</vt:lpstr>
      <vt:lpstr>Free advert (#1)</vt:lpstr>
      <vt:lpstr>Free advert (#1)</vt:lpstr>
      <vt:lpstr>Free advert (#1)</vt:lpstr>
      <vt:lpstr>Free advert (#1)</vt:lpstr>
      <vt:lpstr>Free advert (#1)</vt:lpstr>
      <vt:lpstr>Free advert (#1)</vt:lpstr>
      <vt:lpstr>Free advert (#1)</vt:lpstr>
      <vt:lpstr>Key people</vt:lpstr>
      <vt:lpstr>Getting Ubuntu for Windows users</vt:lpstr>
      <vt:lpstr>Free advert (#2)</vt:lpstr>
      <vt:lpstr>Free advert (#2)</vt:lpstr>
      <vt:lpstr>Linux shells</vt:lpstr>
      <vt:lpstr>Why shell?</vt:lpstr>
      <vt:lpstr>A bit of Bash history </vt:lpstr>
      <vt:lpstr>The current status of Bash </vt:lpstr>
      <vt:lpstr>Interpreted vs. compiled languages  </vt:lpstr>
      <vt:lpstr>Intermezzo: Popularity of languages</vt:lpstr>
      <vt:lpstr>Intermezzo: Popularity of languages</vt:lpstr>
      <vt:lpstr>Free advert (#3)</vt:lpstr>
      <vt:lpstr>Free advert (#3)</vt:lpstr>
      <vt:lpstr>Free advert (#3)</vt:lpstr>
      <vt:lpstr>Free advert (#4)</vt:lpstr>
      <vt:lpstr>ROOT</vt:lpstr>
      <vt:lpstr>Thanks!</vt:lpstr>
    </vt:vector>
  </TitlesOfParts>
  <Company>NIKHEF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adminuser</dc:creator>
  <cp:lastModifiedBy>Ante</cp:lastModifiedBy>
  <cp:revision>4916</cp:revision>
  <dcterms:created xsi:type="dcterms:W3CDTF">2011-04-15T12:26:50Z</dcterms:created>
  <dcterms:modified xsi:type="dcterms:W3CDTF">2025-04-14T08:09:38Z</dcterms:modified>
</cp:coreProperties>
</file>