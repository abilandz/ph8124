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88" r:id="rId1"/>
  </p:sldMasterIdLst>
  <p:notesMasterIdLst>
    <p:notesMasterId r:id="rId37"/>
  </p:notesMasterIdLst>
  <p:handoutMasterIdLst>
    <p:handoutMasterId r:id="rId38"/>
  </p:handoutMasterIdLst>
  <p:sldIdLst>
    <p:sldId id="785" r:id="rId2"/>
    <p:sldId id="1160" r:id="rId3"/>
    <p:sldId id="1163" r:id="rId4"/>
    <p:sldId id="1250" r:id="rId5"/>
    <p:sldId id="1255" r:id="rId6"/>
    <p:sldId id="1256" r:id="rId7"/>
    <p:sldId id="1164" r:id="rId8"/>
    <p:sldId id="1165" r:id="rId9"/>
    <p:sldId id="1167" r:id="rId10"/>
    <p:sldId id="1226" r:id="rId11"/>
    <p:sldId id="1243" r:id="rId12"/>
    <p:sldId id="1228" r:id="rId13"/>
    <p:sldId id="1225" r:id="rId14"/>
    <p:sldId id="1230" r:id="rId15"/>
    <p:sldId id="1231" r:id="rId16"/>
    <p:sldId id="1252" r:id="rId17"/>
    <p:sldId id="1232" r:id="rId18"/>
    <p:sldId id="1257" r:id="rId19"/>
    <p:sldId id="1247" r:id="rId20"/>
    <p:sldId id="1229" r:id="rId21"/>
    <p:sldId id="1233" r:id="rId22"/>
    <p:sldId id="1234" r:id="rId23"/>
    <p:sldId id="1238" r:id="rId24"/>
    <p:sldId id="1235" r:id="rId25"/>
    <p:sldId id="1236" r:id="rId26"/>
    <p:sldId id="1248" r:id="rId27"/>
    <p:sldId id="1244" r:id="rId28"/>
    <p:sldId id="1253" r:id="rId29"/>
    <p:sldId id="1254" r:id="rId30"/>
    <p:sldId id="1227" r:id="rId31"/>
    <p:sldId id="1239" r:id="rId32"/>
    <p:sldId id="1240" r:id="rId33"/>
    <p:sldId id="1245" r:id="rId34"/>
    <p:sldId id="1242" r:id="rId35"/>
    <p:sldId id="1158" r:id="rId3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Arial" charset="0"/>
        <a:ea typeface="+mn-ea"/>
        <a:cs typeface="+mn-cs"/>
      </a:defRPr>
    </a:lvl1pPr>
    <a:lvl2pPr marL="4572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Arial" charset="0"/>
        <a:ea typeface="+mn-ea"/>
        <a:cs typeface="+mn-cs"/>
      </a:defRPr>
    </a:lvl2pPr>
    <a:lvl3pPr marL="9144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Arial" charset="0"/>
        <a:ea typeface="+mn-ea"/>
        <a:cs typeface="+mn-cs"/>
      </a:defRPr>
    </a:lvl3pPr>
    <a:lvl4pPr marL="13716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Arial" charset="0"/>
        <a:ea typeface="+mn-ea"/>
        <a:cs typeface="+mn-cs"/>
      </a:defRPr>
    </a:lvl4pPr>
    <a:lvl5pPr marL="18288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Arial" charset="0"/>
        <a:ea typeface="+mn-ea"/>
        <a:cs typeface="+mn-cs"/>
      </a:defRPr>
    </a:lvl5pPr>
    <a:lvl6pPr marL="2286000" algn="l" defTabSz="914400" rtl="0" eaLnBrk="1" latinLnBrk="0" hangingPunct="1">
      <a:defRPr kern="1200">
        <a:solidFill>
          <a:schemeClr val="tx1"/>
        </a:solidFill>
        <a:effectLst>
          <a:outerShdw blurRad="38100" dist="38100" dir="2700000" algn="tl">
            <a:srgbClr val="000000">
              <a:alpha val="43137"/>
            </a:srgbClr>
          </a:outerShdw>
        </a:effectLst>
        <a:latin typeface="Arial" charset="0"/>
        <a:ea typeface="+mn-ea"/>
        <a:cs typeface="+mn-cs"/>
      </a:defRPr>
    </a:lvl6pPr>
    <a:lvl7pPr marL="2743200" algn="l" defTabSz="914400" rtl="0" eaLnBrk="1" latinLnBrk="0" hangingPunct="1">
      <a:defRPr kern="1200">
        <a:solidFill>
          <a:schemeClr val="tx1"/>
        </a:solidFill>
        <a:effectLst>
          <a:outerShdw blurRad="38100" dist="38100" dir="2700000" algn="tl">
            <a:srgbClr val="000000">
              <a:alpha val="43137"/>
            </a:srgbClr>
          </a:outerShdw>
        </a:effectLst>
        <a:latin typeface="Arial" charset="0"/>
        <a:ea typeface="+mn-ea"/>
        <a:cs typeface="+mn-cs"/>
      </a:defRPr>
    </a:lvl7pPr>
    <a:lvl8pPr marL="3200400" algn="l" defTabSz="914400" rtl="0" eaLnBrk="1" latinLnBrk="0" hangingPunct="1">
      <a:defRPr kern="1200">
        <a:solidFill>
          <a:schemeClr val="tx1"/>
        </a:solidFill>
        <a:effectLst>
          <a:outerShdw blurRad="38100" dist="38100" dir="2700000" algn="tl">
            <a:srgbClr val="000000">
              <a:alpha val="43137"/>
            </a:srgbClr>
          </a:outerShdw>
        </a:effectLst>
        <a:latin typeface="Arial" charset="0"/>
        <a:ea typeface="+mn-ea"/>
        <a:cs typeface="+mn-cs"/>
      </a:defRPr>
    </a:lvl8pPr>
    <a:lvl9pPr marL="3657600" algn="l" defTabSz="914400" rtl="0" eaLnBrk="1" latinLnBrk="0" hangingPunct="1">
      <a:defRPr kern="1200">
        <a:solidFill>
          <a:schemeClr val="tx1"/>
        </a:solidFill>
        <a:effectLst>
          <a:outerShdw blurRad="38100" dist="38100" dir="2700000" algn="tl">
            <a:srgbClr val="000000">
              <a:alpha val="43137"/>
            </a:srgbClr>
          </a:outerShdw>
        </a:effectLst>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5" autoAdjust="0"/>
    <p:restoredTop sz="84014" autoAdjust="0"/>
  </p:normalViewPr>
  <p:slideViewPr>
    <p:cSldViewPr>
      <p:cViewPr varScale="1">
        <p:scale>
          <a:sx n="74" d="100"/>
          <a:sy n="74" d="100"/>
        </p:scale>
        <p:origin x="1248" y="36"/>
      </p:cViewPr>
      <p:guideLst>
        <p:guide orient="horz" pos="2160"/>
        <p:guide pos="2880"/>
      </p:guideLst>
    </p:cSldViewPr>
  </p:slideViewPr>
  <p:outlineViewPr>
    <p:cViewPr>
      <p:scale>
        <a:sx n="33" d="100"/>
        <a:sy n="33" d="100"/>
      </p:scale>
      <p:origin x="0" y="1500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929CBCE-E64B-4074-AF48-7FACC033E4C9}" type="datetimeFigureOut">
              <a:rPr lang="en-US" smtClean="0"/>
              <a:t>4/8/2024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FC6A9F9-D224-445E-81A0-6F35CA4CE53F}" type="slidenum">
              <a:rPr lang="en-US" smtClean="0"/>
              <a:t>‹#›</a:t>
            </a:fld>
            <a:endParaRPr lang="en-US"/>
          </a:p>
        </p:txBody>
      </p:sp>
    </p:spTree>
    <p:extLst>
      <p:ext uri="{BB962C8B-B14F-4D97-AF65-F5344CB8AC3E}">
        <p14:creationId xmlns:p14="http://schemas.microsoft.com/office/powerpoint/2010/main" val="21224822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effectLst/>
              </a:defRPr>
            </a:lvl1pPr>
          </a:lstStyle>
          <a:p>
            <a:pPr>
              <a:defRPr/>
            </a:pPr>
            <a:endParaRPr lang="en-US" dirty="0"/>
          </a:p>
        </p:txBody>
      </p:sp>
      <p:sp>
        <p:nvSpPr>
          <p:cNvPr id="7577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effectLst/>
              </a:defRPr>
            </a:lvl1pPr>
          </a:lstStyle>
          <a:p>
            <a:pPr>
              <a:defRPr/>
            </a:pPr>
            <a:endParaRPr lang="en-US" dirty="0"/>
          </a:p>
        </p:txBody>
      </p:sp>
      <p:sp>
        <p:nvSpPr>
          <p:cNvPr id="471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8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7578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effectLst/>
              </a:defRPr>
            </a:lvl1pPr>
          </a:lstStyle>
          <a:p>
            <a:pPr>
              <a:defRPr/>
            </a:pPr>
            <a:endParaRPr lang="en-US" dirty="0"/>
          </a:p>
        </p:txBody>
      </p:sp>
      <p:sp>
        <p:nvSpPr>
          <p:cNvPr id="7578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effectLst/>
              </a:defRPr>
            </a:lvl1pPr>
          </a:lstStyle>
          <a:p>
            <a:pPr>
              <a:defRPr/>
            </a:pPr>
            <a:fld id="{417EDA05-EA9F-415A-8831-732C41A9BAF2}" type="slidenum">
              <a:rPr lang="en-US"/>
              <a:pPr>
                <a:defRPr/>
              </a:pPr>
              <a:t>‹#›</a:t>
            </a:fld>
            <a:endParaRPr lang="en-US" dirty="0"/>
          </a:p>
        </p:txBody>
      </p:sp>
    </p:spTree>
    <p:extLst>
      <p:ext uri="{BB962C8B-B14F-4D97-AF65-F5344CB8AC3E}">
        <p14:creationId xmlns:p14="http://schemas.microsoft.com/office/powerpoint/2010/main" val="124944490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F71A8D7B-0D86-4A44-803B-95714DFFD043}" type="slidenum">
              <a:rPr lang="en-US" smtClean="0"/>
              <a:pPr/>
              <a:t>1</a:t>
            </a:fld>
            <a:endParaRPr lang="en-US" dirty="0"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p:spPr>
        <p:txBody>
          <a:bodyPr/>
          <a:lstStyle/>
          <a:p>
            <a:pPr eaLnBrk="1" hangingPunct="1"/>
            <a:endParaRPr lang="da-DK"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pPr>
              <a:defRPr/>
            </a:pPr>
            <a:endParaRPr lang="en-US" dirty="0"/>
          </a:p>
        </p:txBody>
      </p:sp>
      <p:sp>
        <p:nvSpPr>
          <p:cNvPr id="17" name="Footer Placeholder 16"/>
          <p:cNvSpPr>
            <a:spLocks noGrp="1"/>
          </p:cNvSpPr>
          <p:nvPr>
            <p:ph type="ftr" sz="quarter" idx="11"/>
          </p:nvPr>
        </p:nvSpPr>
        <p:spPr>
          <a:xfrm>
            <a:off x="5410200" y="4205288"/>
            <a:ext cx="1295400" cy="457200"/>
          </a:xfrm>
        </p:spPr>
        <p:txBody>
          <a:bodyPr/>
          <a:lstStyle/>
          <a:p>
            <a:pPr>
              <a:defRPr/>
            </a:pPr>
            <a:endParaRPr lang="en-US" dirty="0"/>
          </a:p>
        </p:txBody>
      </p:sp>
      <p:sp>
        <p:nvSpPr>
          <p:cNvPr id="29" name="Slide Number Placeholder 28"/>
          <p:cNvSpPr>
            <a:spLocks noGrp="1"/>
          </p:cNvSpPr>
          <p:nvPr>
            <p:ph type="sldNum" sz="quarter" idx="12"/>
          </p:nvPr>
        </p:nvSpPr>
        <p:spPr>
          <a:xfrm>
            <a:off x="8320088" y="1136"/>
            <a:ext cx="747712" cy="365760"/>
          </a:xfrm>
        </p:spPr>
        <p:txBody>
          <a:bodyPr/>
          <a:lstStyle>
            <a:lvl1pPr algn="r">
              <a:defRPr sz="100">
                <a:solidFill>
                  <a:schemeClr val="bg1"/>
                </a:solidFill>
              </a:defRPr>
            </a:lvl1pPr>
          </a:lstStyle>
          <a:p>
            <a:pPr>
              <a:defRPr/>
            </a:pPr>
            <a:fld id="{104CDDBA-CA9C-4B9E-A469-01F6E1F88F12}" type="slidenum">
              <a:rPr lang="en-US" smtClean="0"/>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kumimoji="0" lang="en-US" dirty="0" smtClean="0"/>
              <a:t>Click to edit Master title style</a:t>
            </a:r>
            <a:endParaRPr kumimoji="0" lang="en-US" dirty="0"/>
          </a:p>
        </p:txBody>
      </p:sp>
      <p:sp>
        <p:nvSpPr>
          <p:cNvPr id="3" name="Content Placeholder 2"/>
          <p:cNvSpPr>
            <a:spLocks noGrp="1"/>
          </p:cNvSpPr>
          <p:nvPr>
            <p:ph idx="1"/>
          </p:nvPr>
        </p:nvSpPr>
        <p:spPr/>
        <p:txBody>
          <a:bodyPr/>
          <a:lstStyle>
            <a:lvl1pPr marL="365760" indent="-256032">
              <a:buClr>
                <a:schemeClr val="tx1"/>
              </a:buClr>
              <a:buSzPct val="125000"/>
              <a:buFont typeface="Arial" panose="020B0604020202020204" pitchFamily="34" charset="0"/>
              <a:buChar char="•"/>
              <a:defRPr sz="2400"/>
            </a:lvl1pPr>
            <a:lvl2pPr marL="658368" indent="-246888">
              <a:buSzPct val="90000"/>
              <a:buFont typeface="Courier New" panose="02070309020205020404" pitchFamily="49" charset="0"/>
              <a:buChar char="o"/>
              <a:defRPr sz="2200"/>
            </a:lvl2pPr>
            <a:lvl3pPr>
              <a:defRPr sz="1800"/>
            </a:lvl3pPr>
            <a:lvl4pPr>
              <a:defRPr sz="1400"/>
            </a:lvl4pPr>
            <a:lvl5pPr>
              <a:defRPr sz="1400"/>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a:xfrm>
            <a:off x="8305800" y="6477000"/>
            <a:ext cx="762000" cy="365760"/>
          </a:xfrm>
        </p:spPr>
        <p:txBody>
          <a:bodyPr/>
          <a:lstStyle>
            <a:lvl1pPr>
              <a:defRPr sz="2400">
                <a:solidFill>
                  <a:schemeClr val="accent1"/>
                </a:solidFill>
              </a:defRPr>
            </a:lvl1pPr>
          </a:lstStyle>
          <a:p>
            <a:pPr>
              <a:defRPr/>
            </a:pPr>
            <a:fld id="{B3B39CE4-1B0F-442B-AED0-7E4EF4FD7138}" type="slidenum">
              <a:rPr lang="en-US" smtClean="0"/>
              <a:pPr>
                <a:defRPr/>
              </a:pPr>
              <a:t>‹#›</a:t>
            </a:fld>
            <a:endParaRPr lang="en-US" dirty="0"/>
          </a:p>
        </p:txBody>
      </p:sp>
      <p:pic>
        <p:nvPicPr>
          <p:cNvPr id="7" name="Picture 4" descr="http://www.cdtm.de/wp-content/uploads/tum-logo.gif"/>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6200" y="6477000"/>
            <a:ext cx="533400" cy="2807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659BDACA-D2CE-451A-85DD-854488BD9876}" type="slidenum">
              <a:rPr lang="en-US" smtClean="0"/>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40889718-E319-434D-B5FC-0EEDDAC15CA0}"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pPr>
              <a:defRPr/>
            </a:pPr>
            <a:endParaRPr lang="en-US" dirty="0"/>
          </a:p>
        </p:txBody>
      </p:sp>
      <p:sp>
        <p:nvSpPr>
          <p:cNvPr id="27" name="Slide Number Placeholder 26"/>
          <p:cNvSpPr>
            <a:spLocks noGrp="1"/>
          </p:cNvSpPr>
          <p:nvPr>
            <p:ph type="sldNum" sz="quarter" idx="11"/>
          </p:nvPr>
        </p:nvSpPr>
        <p:spPr/>
        <p:txBody>
          <a:bodyPr rtlCol="0"/>
          <a:lstStyle/>
          <a:p>
            <a:pPr>
              <a:defRPr/>
            </a:pPr>
            <a:fld id="{46AF5403-7044-4204-997E-5058D1097743}" type="slidenum">
              <a:rPr lang="en-US" smtClean="0"/>
              <a:pPr>
                <a:defRPr/>
              </a:pPr>
              <a:t>‹#›</a:t>
            </a:fld>
            <a:endParaRPr lang="en-US" dirty="0"/>
          </a:p>
        </p:txBody>
      </p:sp>
      <p:sp>
        <p:nvSpPr>
          <p:cNvPr id="28" name="Footer Placeholder 27"/>
          <p:cNvSpPr>
            <a:spLocks noGrp="1"/>
          </p:cNvSpPr>
          <p:nvPr>
            <p:ph type="ftr" sz="quarter" idx="12"/>
          </p:nvPr>
        </p:nvSpPr>
        <p:spPr/>
        <p:txBody>
          <a:bodyPr rtlCol="0"/>
          <a:lstStyle/>
          <a:p>
            <a:pPr>
              <a:defRPr/>
            </a:pP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pPr>
              <a:defRPr/>
            </a:pPr>
            <a:endParaRPr lang="en-US" dirty="0"/>
          </a:p>
        </p:txBody>
      </p:sp>
      <p:sp>
        <p:nvSpPr>
          <p:cNvPr id="4" name="Footer Placeholder 3"/>
          <p:cNvSpPr>
            <a:spLocks noGrp="1"/>
          </p:cNvSpPr>
          <p:nvPr>
            <p:ph type="ftr" sz="quarter" idx="11"/>
          </p:nvPr>
        </p:nvSpPr>
        <p:spPr>
          <a:xfrm>
            <a:off x="5257800" y="612648"/>
            <a:ext cx="1325880" cy="457200"/>
          </a:xfrm>
        </p:spPr>
        <p:txBody>
          <a:bodyPr/>
          <a:lstStyle/>
          <a:p>
            <a:pPr>
              <a:defRPr/>
            </a:pPr>
            <a:endParaRPr lang="en-US" dirty="0"/>
          </a:p>
        </p:txBody>
      </p:sp>
      <p:sp>
        <p:nvSpPr>
          <p:cNvPr id="5" name="Slide Number Placeholder 4"/>
          <p:cNvSpPr>
            <a:spLocks noGrp="1"/>
          </p:cNvSpPr>
          <p:nvPr>
            <p:ph type="sldNum" sz="quarter" idx="12"/>
          </p:nvPr>
        </p:nvSpPr>
        <p:spPr>
          <a:xfrm>
            <a:off x="8174736" y="2272"/>
            <a:ext cx="762000" cy="365760"/>
          </a:xfrm>
        </p:spPr>
        <p:txBody>
          <a:bodyPr/>
          <a:lstStyle/>
          <a:p>
            <a:pPr>
              <a:defRPr/>
            </a:pPr>
            <a:fld id="{A1F5EF5F-AF56-4F36-BDCD-7B3CD0D77B7D}" type="slidenum">
              <a:rPr lang="en-US" smtClean="0"/>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9821D816-5B1B-4C44-B98A-C0E904DC0ED8}"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1F8DF71C-C909-4954-B404-384DA610BEDF}" type="slidenum">
              <a:rPr lang="en-US" smtClean="0"/>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202BF0E0-CCD0-405B-949F-4B99F361AF34}"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A6F44AC-69C0-4E96-8A84-D71A1F0592CE}"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84165527-9FED-4606-9920-D2906CAFEE27}"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pPr>
              <a:defRPr/>
            </a:pPr>
            <a:endParaRPr lang="en-US" dirty="0"/>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pPr>
              <a:defRPr/>
            </a:pPr>
            <a:endParaRPr lang="en-US" dirty="0"/>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pPr>
              <a:defRPr/>
            </a:pPr>
            <a:fld id="{3373942E-D30E-48EE-AF6D-153445E48414}"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4289" r:id="rId1"/>
    <p:sldLayoutId id="2147484290" r:id="rId2"/>
    <p:sldLayoutId id="2147484291" r:id="rId3"/>
    <p:sldLayoutId id="2147484292" r:id="rId4"/>
    <p:sldLayoutId id="2147484293" r:id="rId5"/>
    <p:sldLayoutId id="2147484294" r:id="rId6"/>
    <p:sldLayoutId id="2147484295" r:id="rId7"/>
    <p:sldLayoutId id="2147484296" r:id="rId8"/>
    <p:sldLayoutId id="2147484297" r:id="rId9"/>
    <p:sldLayoutId id="2147484298" r:id="rId10"/>
    <p:sldLayoutId id="2147484299" r:id="rId11"/>
  </p:sldLayoutIdLst>
  <p:hf hdr="0" ftr="0" dt="0"/>
  <p:txStyles>
    <p:titleStyle>
      <a:lvl1pPr algn="l" rtl="0" eaLnBrk="1" latinLnBrk="0" hangingPunct="1">
        <a:spcBef>
          <a:spcPct val="0"/>
        </a:spcBef>
        <a:buNone/>
        <a:defRPr kumimoji="0" sz="36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Helvetica" pitchFamily="34" charset="0"/>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Helvetica" pitchFamily="34" charset="0"/>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Helvetica" pitchFamily="34" charset="0"/>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Helvetica" pitchFamily="34" charset="0"/>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Helvetica" pitchFamily="34" charset="0"/>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portal.mytum.de/displayRoomMap?roomid=2024@5101&amp;disable_decoration=yes" TargetMode="External"/><Relationship Id="rId2" Type="http://schemas.openxmlformats.org/officeDocument/2006/relationships/hyperlink" Target="https://academics.nat.tum.de/org/mh/details/mod/PH8124/" TargetMode="External"/><Relationship Id="rId1" Type="http://schemas.openxmlformats.org/officeDocument/2006/relationships/slideLayout" Target="../slideLayouts/slideLayout2.xml"/><Relationship Id="rId5" Type="http://schemas.openxmlformats.org/officeDocument/2006/relationships/hyperlink" Target="https://www.ph.tum.de/about/visit/roomfinder/?room=2101" TargetMode="External"/><Relationship Id="rId4" Type="http://schemas.openxmlformats.org/officeDocument/2006/relationships/hyperlink" Target="mailto:ante.bilandzic@tum.de"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tum-conf.zoom.u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bilandz.gitbook.io/ss2024"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bilandz.github.io/PH8124/"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root.cern/manual/" TargetMode="External"/><Relationship Id="rId2" Type="http://schemas.openxmlformats.org/officeDocument/2006/relationships/hyperlink" Target="http://tldp.org/LDP/abs/abs-guide.pd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ph.tum.de/academics/msc/physics/nonphy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istrowatch.com/" TargetMode="External"/><Relationship Id="rId2" Type="http://schemas.openxmlformats.org/officeDocument/2006/relationships/hyperlink" Target="https://distrowatch.com/images/other/distro-family-tree.png"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hyperlink" Target="https://www.putty.org/" TargetMode="External"/><Relationship Id="rId2" Type="http://schemas.openxmlformats.org/officeDocument/2006/relationships/hyperlink" Target="https://learn.microsoft.com/en-gb/windows/wsl/about"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git.savannah.gnu.org/cgit/bash.git" TargetMode="External"/><Relationship Id="rId2" Type="http://schemas.openxmlformats.org/officeDocument/2006/relationships/hyperlink" Target="https://www.gnu.org/software/bash/" TargetMode="Externa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tutorialspoint.com/execute_bash_online.php"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tiobe.com/tiobe-index/"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tiobe.com/tiobe-index/"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root-forum.cern.ch/" TargetMode="External"/><Relationship Id="rId2" Type="http://schemas.openxmlformats.org/officeDocument/2006/relationships/hyperlink" Target="https://root.cern.ch/" TargetMode="Externa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hyperlink" Target="https://github.com/root-project/root"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685800" y="1981200"/>
            <a:ext cx="7772400" cy="1555750"/>
          </a:xfrm>
        </p:spPr>
        <p:txBody>
          <a:bodyPr>
            <a:noAutofit/>
          </a:bodyPr>
          <a:lstStyle/>
          <a:p>
            <a:pPr algn="ctr">
              <a:defRPr/>
            </a:pPr>
            <a:r>
              <a:rPr lang="en-US" sz="3800" dirty="0" smtClean="0"/>
              <a:t>Scientific computing in </a:t>
            </a:r>
            <a:br>
              <a:rPr lang="en-US" sz="3800" dirty="0" smtClean="0"/>
            </a:br>
            <a:r>
              <a:rPr lang="en-US" sz="3800" dirty="0" smtClean="0"/>
              <a:t>high-energy physics</a:t>
            </a:r>
            <a:br>
              <a:rPr lang="en-US" sz="3800" dirty="0" smtClean="0"/>
            </a:br>
            <a:r>
              <a:rPr lang="en-US" sz="2400" dirty="0" smtClean="0"/>
              <a:t>Lecture 1, </a:t>
            </a:r>
            <a:r>
              <a:rPr lang="en-DE" sz="2400" dirty="0" smtClean="0"/>
              <a:t>18.</a:t>
            </a:r>
            <a:r>
              <a:rPr lang="en-US" sz="2400" dirty="0" smtClean="0"/>
              <a:t>04.202</a:t>
            </a:r>
            <a:r>
              <a:rPr lang="en-DE" sz="2400" dirty="0" smtClean="0"/>
              <a:t>4</a:t>
            </a:r>
            <a:endParaRPr lang="en-US" sz="2400" dirty="0" smtClean="0"/>
          </a:p>
        </p:txBody>
      </p:sp>
      <p:sp>
        <p:nvSpPr>
          <p:cNvPr id="6" name="Rectangle 14"/>
          <p:cNvSpPr>
            <a:spLocks noGrp="1" noChangeArrowheads="1"/>
          </p:cNvSpPr>
          <p:nvPr>
            <p:ph type="sldNum" sz="quarter" idx="12"/>
          </p:nvPr>
        </p:nvSpPr>
        <p:spPr/>
        <p:txBody>
          <a:bodyPr/>
          <a:lstStyle/>
          <a:p>
            <a:pPr>
              <a:defRPr/>
            </a:pPr>
            <a:fld id="{E990592B-5274-44DA-8083-FD1DFDCEF72C}" type="slidenum">
              <a:rPr lang="en-US">
                <a:solidFill>
                  <a:schemeClr val="accent1"/>
                </a:solidFill>
              </a:rPr>
              <a:pPr>
                <a:defRPr/>
              </a:pPr>
              <a:t>1</a:t>
            </a:fld>
            <a:endParaRPr lang="en-US" dirty="0">
              <a:solidFill>
                <a:schemeClr val="accent1"/>
              </a:solidFill>
            </a:endParaRPr>
          </a:p>
        </p:txBody>
      </p:sp>
      <p:sp>
        <p:nvSpPr>
          <p:cNvPr id="74755" name="Rectangle 3"/>
          <p:cNvSpPr>
            <a:spLocks noChangeArrowheads="1"/>
          </p:cNvSpPr>
          <p:nvPr/>
        </p:nvSpPr>
        <p:spPr bwMode="auto">
          <a:xfrm>
            <a:off x="838200" y="4114800"/>
            <a:ext cx="7315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algn="ctr" eaLnBrk="1" hangingPunct="1">
              <a:defRPr/>
            </a:pPr>
            <a:r>
              <a:rPr lang="en-US" sz="2000" dirty="0">
                <a:latin typeface="Helvetica" pitchFamily="34" charset="0"/>
              </a:rPr>
              <a:t>Ante </a:t>
            </a:r>
            <a:r>
              <a:rPr lang="en-US" sz="2000" dirty="0" smtClean="0">
                <a:latin typeface="Helvetica" pitchFamily="34" charset="0"/>
              </a:rPr>
              <a:t>Bilandzic</a:t>
            </a:r>
          </a:p>
          <a:p>
            <a:pPr algn="ctr" eaLnBrk="1" hangingPunct="1">
              <a:defRPr/>
            </a:pPr>
            <a:r>
              <a:rPr lang="en-US" sz="2000" dirty="0">
                <a:latin typeface="Helvetica" pitchFamily="34" charset="0"/>
              </a:rPr>
              <a:t>(E62, Dense and Strange Hadronic Matter)</a:t>
            </a:r>
          </a:p>
        </p:txBody>
      </p:sp>
      <p:sp>
        <p:nvSpPr>
          <p:cNvPr id="74760" name="AutoShape 8" descr="2011-Nov-24-ALICE_logo_WhiteOut_Black_WithoutStrapline"/>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a:lstStyle/>
          <a:p>
            <a:pPr>
              <a:defRPr/>
            </a:pPr>
            <a:endParaRPr lang="da-DK"/>
          </a:p>
        </p:txBody>
      </p:sp>
      <p:sp>
        <p:nvSpPr>
          <p:cNvPr id="2" name="AutoShape 2" descr="Inline image 1"/>
          <p:cNvSpPr>
            <a:spLocks noChangeAspect="1" noChangeArrowheads="1"/>
          </p:cNvSpPr>
          <p:nvPr/>
        </p:nvSpPr>
        <p:spPr bwMode="auto">
          <a:xfrm>
            <a:off x="155575" y="-327025"/>
            <a:ext cx="1285875" cy="685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Inline image 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340" name="Picture 4" descr="http://www.cdtm.de/wp-content/uploads/tum-logo.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7400" y="5299800"/>
            <a:ext cx="1368000" cy="7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88347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en-US" sz="3200" b="1" dirty="0" smtClean="0">
                <a:effectLst/>
              </a:rPr>
              <a:t>Outline of today’s lecture</a:t>
            </a:r>
            <a:endParaRPr lang="en-US" sz="3200" dirty="0"/>
          </a:p>
        </p:txBody>
      </p:sp>
      <p:sp>
        <p:nvSpPr>
          <p:cNvPr id="3" name="Content Placeholder 2"/>
          <p:cNvSpPr>
            <a:spLocks noGrp="1"/>
          </p:cNvSpPr>
          <p:nvPr>
            <p:ph idx="1"/>
          </p:nvPr>
        </p:nvSpPr>
        <p:spPr>
          <a:xfrm>
            <a:off x="304800" y="1371600"/>
            <a:ext cx="8686800" cy="5029200"/>
          </a:xfrm>
        </p:spPr>
        <p:txBody>
          <a:bodyPr>
            <a:normAutofit/>
          </a:bodyPr>
          <a:lstStyle/>
          <a:p>
            <a:r>
              <a:rPr lang="da-DK" dirty="0" smtClean="0"/>
              <a:t>Course trivia</a:t>
            </a:r>
          </a:p>
          <a:p>
            <a:r>
              <a:rPr lang="da-DK" dirty="0" smtClean="0"/>
              <a:t>Free adverts</a:t>
            </a:r>
          </a:p>
          <a:p>
            <a:pPr lvl="1"/>
            <a:r>
              <a:rPr lang="da-DK" dirty="0" smtClean="0"/>
              <a:t>Linux</a:t>
            </a:r>
          </a:p>
          <a:p>
            <a:pPr lvl="1"/>
            <a:r>
              <a:rPr lang="da-DK" dirty="0" smtClean="0"/>
              <a:t>Bash</a:t>
            </a:r>
          </a:p>
          <a:p>
            <a:pPr lvl="1"/>
            <a:r>
              <a:rPr lang="da-DK" dirty="0" smtClean="0"/>
              <a:t>ROOT</a:t>
            </a:r>
          </a:p>
          <a:p>
            <a:endParaRPr lang="da-DK"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2</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4114800"/>
            <a:ext cx="8058564" cy="1136708"/>
          </a:xfrm>
          <a:prstGeom prst="rect">
            <a:avLst/>
          </a:prstGeom>
        </p:spPr>
      </p:pic>
    </p:spTree>
    <p:extLst>
      <p:ext uri="{BB962C8B-B14F-4D97-AF65-F5344CB8AC3E}">
        <p14:creationId xmlns:p14="http://schemas.microsoft.com/office/powerpoint/2010/main" val="1064913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Course trivia</a:t>
            </a:r>
            <a:endParaRPr lang="en-US" sz="3200" dirty="0"/>
          </a:p>
        </p:txBody>
      </p:sp>
      <p:sp>
        <p:nvSpPr>
          <p:cNvPr id="3" name="Content Placeholder 2"/>
          <p:cNvSpPr>
            <a:spLocks noGrp="1"/>
          </p:cNvSpPr>
          <p:nvPr>
            <p:ph idx="1"/>
          </p:nvPr>
        </p:nvSpPr>
        <p:spPr>
          <a:xfrm>
            <a:off x="304800" y="1371600"/>
            <a:ext cx="8686800" cy="1447800"/>
          </a:xfrm>
        </p:spPr>
        <p:txBody>
          <a:bodyPr>
            <a:normAutofit/>
          </a:bodyPr>
          <a:lstStyle/>
          <a:p>
            <a:r>
              <a:rPr lang="en-US" b="1" dirty="0" smtClean="0"/>
              <a:t>PH8124:</a:t>
            </a:r>
            <a:r>
              <a:rPr lang="en-US" dirty="0" smtClean="0"/>
              <a:t> ‘Scientific computing in high-energy physics’</a:t>
            </a:r>
          </a:p>
          <a:p>
            <a:pPr lvl="1"/>
            <a:r>
              <a:rPr lang="en-US" sz="1800" dirty="0">
                <a:hlinkClick r:id="rId2"/>
              </a:rPr>
              <a:t>https://academics.nat.tum.de/org/mh/details/mod/PH8124</a:t>
            </a:r>
            <a:r>
              <a:rPr lang="en-US" sz="1800" dirty="0" smtClean="0">
                <a:hlinkClick r:id="rId2"/>
              </a:rPr>
              <a:t>/</a:t>
            </a:r>
            <a:r>
              <a:rPr lang="en-US" sz="1800" dirty="0" smtClean="0"/>
              <a:t> </a:t>
            </a:r>
            <a:endParaRPr lang="en-US" sz="1800" dirty="0" smtClean="0"/>
          </a:p>
          <a:p>
            <a:pPr lvl="1"/>
            <a:endParaRPr lang="en-US" sz="1400"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3</a:t>
            </a:fld>
            <a:endParaRPr lang="en-US" dirty="0"/>
          </a:p>
        </p:txBody>
      </p:sp>
      <p:sp>
        <p:nvSpPr>
          <p:cNvPr id="5" name="Content Placeholder 2"/>
          <p:cNvSpPr txBox="1">
            <a:spLocks/>
          </p:cNvSpPr>
          <p:nvPr/>
        </p:nvSpPr>
        <p:spPr>
          <a:xfrm>
            <a:off x="304800" y="1981200"/>
            <a:ext cx="8686800" cy="2590800"/>
          </a:xfrm>
          <a:prstGeom prst="rect">
            <a:avLst/>
          </a:prstGeom>
        </p:spPr>
        <p:txBody>
          <a:bodyPr vert="horz">
            <a:normAutofit/>
          </a:bodyPr>
          <a:lstStyle>
            <a:lvl1pPr marL="365760" indent="-256032" algn="l" rtl="0" eaLnBrk="1" latinLnBrk="0" hangingPunct="1">
              <a:spcBef>
                <a:spcPts val="300"/>
              </a:spcBef>
              <a:buClr>
                <a:schemeClr val="tx1"/>
              </a:buClr>
              <a:buSzPct val="125000"/>
              <a:buFont typeface="Arial" panose="020B0604020202020204" pitchFamily="34" charset="0"/>
              <a:buChar char="•"/>
              <a:defRPr kumimoji="0" sz="2400" kern="1200">
                <a:solidFill>
                  <a:schemeClr val="tx1"/>
                </a:solidFill>
                <a:latin typeface="Helvetica" pitchFamily="34" charset="0"/>
                <a:ea typeface="+mn-ea"/>
                <a:cs typeface="+mn-cs"/>
              </a:defRPr>
            </a:lvl1pPr>
            <a:lvl2pPr marL="658368" indent="-246888" algn="l" rtl="0" eaLnBrk="1" latinLnBrk="0" hangingPunct="1">
              <a:spcBef>
                <a:spcPts val="300"/>
              </a:spcBef>
              <a:buClr>
                <a:schemeClr val="accent2"/>
              </a:buClr>
              <a:buSzPct val="90000"/>
              <a:buFont typeface="Courier New" panose="02070309020205020404" pitchFamily="49" charset="0"/>
              <a:buChar char="o"/>
              <a:defRPr kumimoji="0" sz="2200" kern="1200">
                <a:solidFill>
                  <a:schemeClr val="accent2"/>
                </a:solidFill>
                <a:latin typeface="Helvetica" pitchFamily="34" charset="0"/>
                <a:ea typeface="+mn-ea"/>
                <a:cs typeface="+mn-cs"/>
              </a:defRPr>
            </a:lvl2pPr>
            <a:lvl3pPr marL="923544" indent="-219456" algn="l" rtl="0" eaLnBrk="1" latinLnBrk="0" hangingPunct="1">
              <a:spcBef>
                <a:spcPts val="300"/>
              </a:spcBef>
              <a:buClr>
                <a:schemeClr val="accent1"/>
              </a:buClr>
              <a:buFont typeface="Wingdings 2"/>
              <a:buChar char=""/>
              <a:defRPr kumimoji="0" sz="1800" kern="1200">
                <a:solidFill>
                  <a:schemeClr val="accent1"/>
                </a:solidFill>
                <a:latin typeface="Helvetica" pitchFamily="34" charset="0"/>
                <a:ea typeface="+mn-ea"/>
                <a:cs typeface="+mn-cs"/>
              </a:defRPr>
            </a:lvl3pPr>
            <a:lvl4pPr marL="1179576" indent="-201168" algn="l" rtl="0" eaLnBrk="1" latinLnBrk="0" hangingPunct="1">
              <a:spcBef>
                <a:spcPts val="300"/>
              </a:spcBef>
              <a:buClr>
                <a:schemeClr val="accent1"/>
              </a:buClr>
              <a:buFont typeface="Wingdings 2"/>
              <a:buChar char=""/>
              <a:defRPr kumimoji="0" sz="1400" kern="1200">
                <a:solidFill>
                  <a:schemeClr val="accent1"/>
                </a:solidFill>
                <a:latin typeface="Helvetica" pitchFamily="34" charset="0"/>
                <a:ea typeface="+mn-ea"/>
                <a:cs typeface="+mn-cs"/>
              </a:defRPr>
            </a:lvl4pPr>
            <a:lvl5pPr marL="1389888" indent="-182880" algn="l" rtl="0" eaLnBrk="1" latinLnBrk="0" hangingPunct="1">
              <a:spcBef>
                <a:spcPts val="300"/>
              </a:spcBef>
              <a:buClr>
                <a:schemeClr val="accent3"/>
              </a:buClr>
              <a:buFont typeface="Georgia"/>
              <a:buChar char="▫"/>
              <a:defRPr kumimoji="0" sz="1400" kern="1200">
                <a:solidFill>
                  <a:schemeClr val="accent3"/>
                </a:solidFill>
                <a:latin typeface="Helvetica" pitchFamily="34" charset="0"/>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fontAlgn="auto">
              <a:spcAft>
                <a:spcPts val="0"/>
              </a:spcAft>
              <a:buNone/>
            </a:pPr>
            <a:endParaRPr lang="en-US" sz="1600" dirty="0" smtClean="0">
              <a:effectLst/>
            </a:endParaRPr>
          </a:p>
          <a:p>
            <a:pPr fontAlgn="auto">
              <a:spcAft>
                <a:spcPts val="0"/>
              </a:spcAft>
            </a:pPr>
            <a:r>
              <a:rPr lang="da-DK" dirty="0" smtClean="0">
                <a:effectLst/>
              </a:rPr>
              <a:t>When &amp; where:</a:t>
            </a:r>
            <a:endParaRPr lang="en-US" dirty="0" smtClean="0">
              <a:effectLst/>
            </a:endParaRPr>
          </a:p>
          <a:p>
            <a:pPr lvl="1" fontAlgn="auto">
              <a:spcAft>
                <a:spcPts val="0"/>
              </a:spcAft>
            </a:pPr>
            <a:r>
              <a:rPr lang="en-US" dirty="0" smtClean="0">
                <a:effectLst/>
              </a:rPr>
              <a:t>Thursday: 14:00-16:00 (hybrid mode)</a:t>
            </a:r>
          </a:p>
          <a:p>
            <a:pPr lvl="1" fontAlgn="auto">
              <a:spcAft>
                <a:spcPts val="0"/>
              </a:spcAft>
            </a:pPr>
            <a:r>
              <a:rPr lang="en-US" dirty="0" smtClean="0">
                <a:effectLst/>
              </a:rPr>
              <a:t>Physics Department, E62 seminar room 2024</a:t>
            </a:r>
          </a:p>
          <a:p>
            <a:pPr lvl="2" fontAlgn="auto">
              <a:spcAft>
                <a:spcPts val="0"/>
              </a:spcAft>
            </a:pPr>
            <a:r>
              <a:rPr lang="en-US" dirty="0" err="1" smtClean="0">
                <a:effectLst/>
              </a:rPr>
              <a:t>Roomfinder</a:t>
            </a:r>
            <a:r>
              <a:rPr lang="en-US" dirty="0" smtClean="0">
                <a:effectLst/>
              </a:rPr>
              <a:t>: </a:t>
            </a:r>
            <a:r>
              <a:rPr lang="en-US" sz="1200" dirty="0" smtClean="0">
                <a:effectLst/>
                <a:hlinkClick r:id="rId3"/>
              </a:rPr>
              <a:t>https</a:t>
            </a:r>
            <a:r>
              <a:rPr lang="en-US" sz="1200" dirty="0">
                <a:effectLst/>
                <a:hlinkClick r:id="rId3"/>
              </a:rPr>
              <a:t>://</a:t>
            </a:r>
            <a:r>
              <a:rPr lang="en-US" sz="1200" dirty="0" smtClean="0">
                <a:effectLst/>
                <a:hlinkClick r:id="rId3"/>
              </a:rPr>
              <a:t>portal.mytum.de/displayRoomMap?roomid=2024@5101&amp;disable_decoration=yes</a:t>
            </a:r>
            <a:endParaRPr lang="en-US" sz="1200" dirty="0" smtClean="0">
              <a:effectLst/>
            </a:endParaRPr>
          </a:p>
          <a:p>
            <a:pPr lvl="1" fontAlgn="auto">
              <a:spcAft>
                <a:spcPts val="0"/>
              </a:spcAft>
            </a:pPr>
            <a:r>
              <a:rPr lang="en-US" dirty="0" smtClean="0">
                <a:effectLst/>
              </a:rPr>
              <a:t>12 contact days (last lecture is on July </a:t>
            </a:r>
            <a:r>
              <a:rPr lang="en-DE" dirty="0" smtClean="0">
                <a:effectLst/>
              </a:rPr>
              <a:t>18</a:t>
            </a:r>
            <a:r>
              <a:rPr lang="en-US" dirty="0" err="1" smtClean="0">
                <a:effectLst/>
              </a:rPr>
              <a:t>th</a:t>
            </a:r>
            <a:r>
              <a:rPr lang="en-US" dirty="0" smtClean="0">
                <a:effectLst/>
              </a:rPr>
              <a:t>) </a:t>
            </a:r>
          </a:p>
          <a:p>
            <a:pPr marL="109728" indent="0" fontAlgn="auto">
              <a:spcAft>
                <a:spcPts val="0"/>
              </a:spcAft>
              <a:buNone/>
            </a:pPr>
            <a:endParaRPr lang="en-US" dirty="0">
              <a:effectLst/>
            </a:endParaRPr>
          </a:p>
        </p:txBody>
      </p:sp>
      <p:sp>
        <p:nvSpPr>
          <p:cNvPr id="6" name="Content Placeholder 2"/>
          <p:cNvSpPr txBox="1">
            <a:spLocks/>
          </p:cNvSpPr>
          <p:nvPr/>
        </p:nvSpPr>
        <p:spPr>
          <a:xfrm>
            <a:off x="304800" y="3886200"/>
            <a:ext cx="8686800" cy="1752600"/>
          </a:xfrm>
          <a:prstGeom prst="rect">
            <a:avLst/>
          </a:prstGeom>
        </p:spPr>
        <p:txBody>
          <a:bodyPr vert="horz">
            <a:normAutofit/>
          </a:bodyPr>
          <a:lstStyle>
            <a:lvl1pPr marL="365760" indent="-256032" algn="l" rtl="0" eaLnBrk="1" latinLnBrk="0" hangingPunct="1">
              <a:spcBef>
                <a:spcPts val="300"/>
              </a:spcBef>
              <a:buClr>
                <a:schemeClr val="tx1"/>
              </a:buClr>
              <a:buSzPct val="125000"/>
              <a:buFont typeface="Arial" panose="020B0604020202020204" pitchFamily="34" charset="0"/>
              <a:buChar char="•"/>
              <a:defRPr kumimoji="0" sz="2400" kern="1200">
                <a:solidFill>
                  <a:schemeClr val="tx1"/>
                </a:solidFill>
                <a:latin typeface="Helvetica" pitchFamily="34" charset="0"/>
                <a:ea typeface="+mn-ea"/>
                <a:cs typeface="+mn-cs"/>
              </a:defRPr>
            </a:lvl1pPr>
            <a:lvl2pPr marL="658368" indent="-246888" algn="l" rtl="0" eaLnBrk="1" latinLnBrk="0" hangingPunct="1">
              <a:spcBef>
                <a:spcPts val="300"/>
              </a:spcBef>
              <a:buClr>
                <a:schemeClr val="accent2"/>
              </a:buClr>
              <a:buSzPct val="90000"/>
              <a:buFont typeface="Courier New" panose="02070309020205020404" pitchFamily="49" charset="0"/>
              <a:buChar char="o"/>
              <a:defRPr kumimoji="0" sz="2200" kern="1200">
                <a:solidFill>
                  <a:schemeClr val="accent2"/>
                </a:solidFill>
                <a:latin typeface="Helvetica" pitchFamily="34" charset="0"/>
                <a:ea typeface="+mn-ea"/>
                <a:cs typeface="+mn-cs"/>
              </a:defRPr>
            </a:lvl2pPr>
            <a:lvl3pPr marL="923544" indent="-219456" algn="l" rtl="0" eaLnBrk="1" latinLnBrk="0" hangingPunct="1">
              <a:spcBef>
                <a:spcPts val="300"/>
              </a:spcBef>
              <a:buClr>
                <a:schemeClr val="accent1"/>
              </a:buClr>
              <a:buFont typeface="Wingdings 2"/>
              <a:buChar char=""/>
              <a:defRPr kumimoji="0" sz="1800" kern="1200">
                <a:solidFill>
                  <a:schemeClr val="accent1"/>
                </a:solidFill>
                <a:latin typeface="Helvetica" pitchFamily="34" charset="0"/>
                <a:ea typeface="+mn-ea"/>
                <a:cs typeface="+mn-cs"/>
              </a:defRPr>
            </a:lvl3pPr>
            <a:lvl4pPr marL="1179576" indent="-201168" algn="l" rtl="0" eaLnBrk="1" latinLnBrk="0" hangingPunct="1">
              <a:spcBef>
                <a:spcPts val="300"/>
              </a:spcBef>
              <a:buClr>
                <a:schemeClr val="accent1"/>
              </a:buClr>
              <a:buFont typeface="Wingdings 2"/>
              <a:buChar char=""/>
              <a:defRPr kumimoji="0" sz="1400" kern="1200">
                <a:solidFill>
                  <a:schemeClr val="accent1"/>
                </a:solidFill>
                <a:latin typeface="Helvetica" pitchFamily="34" charset="0"/>
                <a:ea typeface="+mn-ea"/>
                <a:cs typeface="+mn-cs"/>
              </a:defRPr>
            </a:lvl4pPr>
            <a:lvl5pPr marL="1389888" indent="-182880" algn="l" rtl="0" eaLnBrk="1" latinLnBrk="0" hangingPunct="1">
              <a:spcBef>
                <a:spcPts val="300"/>
              </a:spcBef>
              <a:buClr>
                <a:schemeClr val="accent3"/>
              </a:buClr>
              <a:buFont typeface="Georgia"/>
              <a:buChar char="▫"/>
              <a:defRPr kumimoji="0" sz="1400" kern="1200">
                <a:solidFill>
                  <a:schemeClr val="accent3"/>
                </a:solidFill>
                <a:latin typeface="Helvetica" pitchFamily="34" charset="0"/>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fontAlgn="auto">
              <a:spcAft>
                <a:spcPts val="0"/>
              </a:spcAft>
              <a:buFont typeface="Arial" panose="020B0604020202020204" pitchFamily="34" charset="0"/>
              <a:buNone/>
            </a:pPr>
            <a:endParaRPr lang="en-US" dirty="0" smtClean="0">
              <a:effectLst/>
            </a:endParaRPr>
          </a:p>
          <a:p>
            <a:pPr fontAlgn="auto">
              <a:spcAft>
                <a:spcPts val="0"/>
              </a:spcAft>
            </a:pPr>
            <a:r>
              <a:rPr lang="da-DK" dirty="0" smtClean="0">
                <a:effectLst/>
              </a:rPr>
              <a:t>Examination:</a:t>
            </a:r>
            <a:endParaRPr lang="en-US" dirty="0" smtClean="0">
              <a:effectLst/>
            </a:endParaRPr>
          </a:p>
          <a:p>
            <a:pPr lvl="1" fontAlgn="auto">
              <a:spcAft>
                <a:spcPts val="0"/>
              </a:spcAft>
            </a:pPr>
            <a:r>
              <a:rPr lang="en-GB" dirty="0" err="1" smtClean="0">
                <a:effectLst/>
              </a:rPr>
              <a:t>Homeworks</a:t>
            </a:r>
            <a:r>
              <a:rPr lang="en-GB" dirty="0" smtClean="0">
                <a:effectLst/>
              </a:rPr>
              <a:t> (10 in total) </a:t>
            </a:r>
            <a:endParaRPr lang="en-US" dirty="0" smtClean="0">
              <a:effectLst/>
            </a:endParaRPr>
          </a:p>
          <a:p>
            <a:pPr lvl="1" fontAlgn="auto">
              <a:spcAft>
                <a:spcPts val="0"/>
              </a:spcAft>
            </a:pPr>
            <a:r>
              <a:rPr lang="en-US" dirty="0">
                <a:effectLst/>
              </a:rPr>
              <a:t>O</a:t>
            </a:r>
            <a:r>
              <a:rPr lang="en-US" dirty="0" smtClean="0">
                <a:effectLst/>
              </a:rPr>
              <a:t>ral examination </a:t>
            </a:r>
            <a:r>
              <a:rPr lang="en-US" dirty="0">
                <a:effectLst/>
              </a:rPr>
              <a:t>during the presentation of </a:t>
            </a:r>
            <a:r>
              <a:rPr lang="en-US" dirty="0" smtClean="0">
                <a:effectLst/>
              </a:rPr>
              <a:t>the </a:t>
            </a:r>
            <a:r>
              <a:rPr lang="en-US" dirty="0">
                <a:effectLst/>
              </a:rPr>
              <a:t>final project</a:t>
            </a:r>
            <a:endParaRPr lang="en-US" dirty="0" smtClean="0">
              <a:effectLst/>
            </a:endParaRPr>
          </a:p>
        </p:txBody>
      </p:sp>
      <p:sp>
        <p:nvSpPr>
          <p:cNvPr id="7" name="Content Placeholder 2"/>
          <p:cNvSpPr txBox="1">
            <a:spLocks/>
          </p:cNvSpPr>
          <p:nvPr/>
        </p:nvSpPr>
        <p:spPr>
          <a:xfrm>
            <a:off x="304800" y="5105400"/>
            <a:ext cx="8686800" cy="1371600"/>
          </a:xfrm>
          <a:prstGeom prst="rect">
            <a:avLst/>
          </a:prstGeom>
        </p:spPr>
        <p:txBody>
          <a:bodyPr vert="horz">
            <a:normAutofit fontScale="92500" lnSpcReduction="10000"/>
          </a:bodyPr>
          <a:lstStyle>
            <a:lvl1pPr marL="365760" indent="-256032" algn="l" rtl="0" eaLnBrk="1" latinLnBrk="0" hangingPunct="1">
              <a:spcBef>
                <a:spcPts val="300"/>
              </a:spcBef>
              <a:buClr>
                <a:schemeClr val="tx1"/>
              </a:buClr>
              <a:buSzPct val="125000"/>
              <a:buFont typeface="Arial" panose="020B0604020202020204" pitchFamily="34" charset="0"/>
              <a:buChar char="•"/>
              <a:defRPr kumimoji="0" sz="2400" kern="1200">
                <a:solidFill>
                  <a:schemeClr val="tx1"/>
                </a:solidFill>
                <a:latin typeface="Helvetica" pitchFamily="34" charset="0"/>
                <a:ea typeface="+mn-ea"/>
                <a:cs typeface="+mn-cs"/>
              </a:defRPr>
            </a:lvl1pPr>
            <a:lvl2pPr marL="658368" indent="-246888" algn="l" rtl="0" eaLnBrk="1" latinLnBrk="0" hangingPunct="1">
              <a:spcBef>
                <a:spcPts val="300"/>
              </a:spcBef>
              <a:buClr>
                <a:schemeClr val="accent2"/>
              </a:buClr>
              <a:buSzPct val="90000"/>
              <a:buFont typeface="Courier New" panose="02070309020205020404" pitchFamily="49" charset="0"/>
              <a:buChar char="o"/>
              <a:defRPr kumimoji="0" sz="2200" kern="1200">
                <a:solidFill>
                  <a:schemeClr val="accent2"/>
                </a:solidFill>
                <a:latin typeface="Helvetica" pitchFamily="34" charset="0"/>
                <a:ea typeface="+mn-ea"/>
                <a:cs typeface="+mn-cs"/>
              </a:defRPr>
            </a:lvl2pPr>
            <a:lvl3pPr marL="923544" indent="-219456" algn="l" rtl="0" eaLnBrk="1" latinLnBrk="0" hangingPunct="1">
              <a:spcBef>
                <a:spcPts val="300"/>
              </a:spcBef>
              <a:buClr>
                <a:schemeClr val="accent1"/>
              </a:buClr>
              <a:buFont typeface="Wingdings 2"/>
              <a:buChar char=""/>
              <a:defRPr kumimoji="0" sz="1800" kern="1200">
                <a:solidFill>
                  <a:schemeClr val="accent1"/>
                </a:solidFill>
                <a:latin typeface="Helvetica" pitchFamily="34" charset="0"/>
                <a:ea typeface="+mn-ea"/>
                <a:cs typeface="+mn-cs"/>
              </a:defRPr>
            </a:lvl3pPr>
            <a:lvl4pPr marL="1179576" indent="-201168" algn="l" rtl="0" eaLnBrk="1" latinLnBrk="0" hangingPunct="1">
              <a:spcBef>
                <a:spcPts val="300"/>
              </a:spcBef>
              <a:buClr>
                <a:schemeClr val="accent1"/>
              </a:buClr>
              <a:buFont typeface="Wingdings 2"/>
              <a:buChar char=""/>
              <a:defRPr kumimoji="0" sz="1400" kern="1200">
                <a:solidFill>
                  <a:schemeClr val="accent1"/>
                </a:solidFill>
                <a:latin typeface="Helvetica" pitchFamily="34" charset="0"/>
                <a:ea typeface="+mn-ea"/>
                <a:cs typeface="+mn-cs"/>
              </a:defRPr>
            </a:lvl4pPr>
            <a:lvl5pPr marL="1389888" indent="-182880" algn="l" rtl="0" eaLnBrk="1" latinLnBrk="0" hangingPunct="1">
              <a:spcBef>
                <a:spcPts val="300"/>
              </a:spcBef>
              <a:buClr>
                <a:schemeClr val="accent3"/>
              </a:buClr>
              <a:buFont typeface="Georgia"/>
              <a:buChar char="▫"/>
              <a:defRPr kumimoji="0" sz="1400" kern="1200">
                <a:solidFill>
                  <a:schemeClr val="accent3"/>
                </a:solidFill>
                <a:latin typeface="Helvetica" pitchFamily="34" charset="0"/>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fontAlgn="auto">
              <a:spcAft>
                <a:spcPts val="0"/>
              </a:spcAft>
              <a:buFont typeface="Arial" panose="020B0604020202020204" pitchFamily="34" charset="0"/>
              <a:buNone/>
            </a:pPr>
            <a:endParaRPr lang="en-US" dirty="0" smtClean="0">
              <a:effectLst/>
            </a:endParaRPr>
          </a:p>
          <a:p>
            <a:pPr fontAlgn="auto">
              <a:spcAft>
                <a:spcPts val="0"/>
              </a:spcAft>
            </a:pPr>
            <a:r>
              <a:rPr lang="da-DK" dirty="0" smtClean="0">
                <a:effectLst/>
              </a:rPr>
              <a:t>Contact:</a:t>
            </a:r>
          </a:p>
          <a:p>
            <a:pPr lvl="1" fontAlgn="auto">
              <a:spcAft>
                <a:spcPts val="0"/>
              </a:spcAft>
            </a:pPr>
            <a:r>
              <a:rPr lang="da-DK" dirty="0">
                <a:effectLst/>
              </a:rPr>
              <a:t>Ante Bilandzic, </a:t>
            </a:r>
            <a:r>
              <a:rPr lang="da-DK" dirty="0" smtClean="0">
                <a:effectLst/>
                <a:hlinkClick r:id="rId4"/>
              </a:rPr>
              <a:t>ante.bilandzic@tum.de</a:t>
            </a:r>
            <a:endParaRPr lang="da-DK" dirty="0">
              <a:effectLst/>
            </a:endParaRPr>
          </a:p>
          <a:p>
            <a:pPr lvl="2" fontAlgn="auto">
              <a:spcAft>
                <a:spcPts val="0"/>
              </a:spcAft>
            </a:pPr>
            <a:r>
              <a:rPr lang="da-DK" dirty="0" smtClean="0">
                <a:effectLst/>
              </a:rPr>
              <a:t>Office PH </a:t>
            </a:r>
            <a:r>
              <a:rPr lang="da-DK" dirty="0">
                <a:effectLst/>
              </a:rPr>
              <a:t>2101 (</a:t>
            </a:r>
            <a:r>
              <a:rPr lang="da-DK" dirty="0">
                <a:effectLst/>
                <a:hlinkClick r:id="rId5"/>
              </a:rPr>
              <a:t>https://www.ph.tum.de/about/visit/roomfinder/?</a:t>
            </a:r>
            <a:r>
              <a:rPr lang="da-DK" dirty="0" smtClean="0">
                <a:effectLst/>
                <a:hlinkClick r:id="rId5"/>
              </a:rPr>
              <a:t>room=2101</a:t>
            </a:r>
            <a:r>
              <a:rPr lang="da-DK" dirty="0" smtClean="0">
                <a:effectLst/>
              </a:rPr>
              <a:t>)</a:t>
            </a:r>
            <a:endParaRPr lang="en-US" dirty="0" smtClean="0">
              <a:effectLst/>
            </a:endParaRPr>
          </a:p>
        </p:txBody>
      </p:sp>
    </p:spTree>
    <p:extLst>
      <p:ext uri="{BB962C8B-B14F-4D97-AF65-F5344CB8AC3E}">
        <p14:creationId xmlns:p14="http://schemas.microsoft.com/office/powerpoint/2010/main" val="22667883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Course trivia</a:t>
            </a:r>
            <a:endParaRPr lang="en-US" sz="3200" dirty="0"/>
          </a:p>
        </p:txBody>
      </p:sp>
      <p:sp>
        <p:nvSpPr>
          <p:cNvPr id="3" name="Content Placeholder 2"/>
          <p:cNvSpPr>
            <a:spLocks noGrp="1"/>
          </p:cNvSpPr>
          <p:nvPr>
            <p:ph idx="1"/>
          </p:nvPr>
        </p:nvSpPr>
        <p:spPr>
          <a:xfrm>
            <a:off x="304800" y="1371600"/>
            <a:ext cx="8686800" cy="4876800"/>
          </a:xfrm>
        </p:spPr>
        <p:txBody>
          <a:bodyPr>
            <a:normAutofit/>
          </a:bodyPr>
          <a:lstStyle/>
          <a:p>
            <a:r>
              <a:rPr lang="en-US" dirty="0" smtClean="0"/>
              <a:t>Pandemic is over </a:t>
            </a:r>
            <a:r>
              <a:rPr lang="en-DE" dirty="0" smtClean="0"/>
              <a:t>–</a:t>
            </a:r>
            <a:r>
              <a:rPr lang="en-US" dirty="0" smtClean="0"/>
              <a:t> the presence in person is encouraged</a:t>
            </a:r>
          </a:p>
          <a:p>
            <a:r>
              <a:rPr lang="en-US" dirty="0" smtClean="0"/>
              <a:t>Parallel online coverage via </a:t>
            </a:r>
            <a:r>
              <a:rPr lang="en-US" b="1" dirty="0" smtClean="0">
                <a:solidFill>
                  <a:srgbClr val="C00000"/>
                </a:solidFill>
              </a:rPr>
              <a:t>Zoom</a:t>
            </a:r>
          </a:p>
          <a:p>
            <a:pPr lvl="1"/>
            <a:r>
              <a:rPr lang="en-GB" sz="1900" dirty="0"/>
              <a:t>TUM offers the licensed version at the following link: </a:t>
            </a:r>
            <a:r>
              <a:rPr lang="en-GB" sz="1500" dirty="0" smtClean="0">
                <a:hlinkClick r:id="rId2"/>
              </a:rPr>
              <a:t>https</a:t>
            </a:r>
            <a:r>
              <a:rPr lang="en-GB" sz="1500" dirty="0">
                <a:hlinkClick r:id="rId2"/>
              </a:rPr>
              <a:t>://</a:t>
            </a:r>
            <a:r>
              <a:rPr lang="en-GB" sz="1500" dirty="0" smtClean="0">
                <a:hlinkClick r:id="rId2"/>
              </a:rPr>
              <a:t>tum-conf.zoom.us</a:t>
            </a:r>
            <a:endParaRPr lang="en-GB" sz="1500" dirty="0" smtClean="0"/>
          </a:p>
          <a:p>
            <a:pPr lvl="1"/>
            <a:r>
              <a:rPr lang="en-GB" sz="1900" dirty="0"/>
              <a:t>'Sign In' with your TUM </a:t>
            </a:r>
            <a:r>
              <a:rPr lang="en-GB" sz="1900" dirty="0" smtClean="0"/>
              <a:t>credentials</a:t>
            </a:r>
          </a:p>
          <a:p>
            <a:r>
              <a:rPr lang="en-GB" dirty="0" smtClean="0"/>
              <a:t>For </a:t>
            </a:r>
            <a:r>
              <a:rPr lang="en-GB" dirty="0"/>
              <a:t>this lecture, I have created the recurring meetings on Thursdays, from </a:t>
            </a:r>
            <a:r>
              <a:rPr lang="en-GB" dirty="0" smtClean="0"/>
              <a:t>13:30-16:00 </a:t>
            </a:r>
          </a:p>
          <a:p>
            <a:pPr lvl="1"/>
            <a:r>
              <a:rPr lang="en-GB" b="1" dirty="0" smtClean="0">
                <a:solidFill>
                  <a:srgbClr val="C00000"/>
                </a:solidFill>
              </a:rPr>
              <a:t>Zoom</a:t>
            </a:r>
            <a:r>
              <a:rPr lang="en-GB" dirty="0" smtClean="0"/>
              <a:t> coordinates will be distributed regularly via the official mailing list to all registered students for this course</a:t>
            </a:r>
          </a:p>
          <a:p>
            <a:r>
              <a:rPr lang="en-US" dirty="0" smtClean="0"/>
              <a:t>The lectures are recorded, and recordings shared immediately afterward via email</a:t>
            </a:r>
          </a:p>
          <a:p>
            <a:pPr marL="109728" indent="0">
              <a:buNone/>
            </a:pPr>
            <a:endParaRPr lang="en-US"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4</a:t>
            </a:fld>
            <a:endParaRPr lang="en-US" dirty="0"/>
          </a:p>
        </p:txBody>
      </p:sp>
    </p:spTree>
    <p:extLst>
      <p:ext uri="{BB962C8B-B14F-4D97-AF65-F5344CB8AC3E}">
        <p14:creationId xmlns:p14="http://schemas.microsoft.com/office/powerpoint/2010/main" val="26418182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Webpage</a:t>
            </a:r>
            <a:endParaRPr lang="en-US" sz="3200" dirty="0"/>
          </a:p>
        </p:txBody>
      </p:sp>
      <p:sp>
        <p:nvSpPr>
          <p:cNvPr id="3" name="Content Placeholder 2"/>
          <p:cNvSpPr>
            <a:spLocks noGrp="1"/>
          </p:cNvSpPr>
          <p:nvPr>
            <p:ph idx="1"/>
          </p:nvPr>
        </p:nvSpPr>
        <p:spPr>
          <a:xfrm>
            <a:off x="304800" y="1371600"/>
            <a:ext cx="8686800" cy="1447800"/>
          </a:xfrm>
        </p:spPr>
        <p:txBody>
          <a:bodyPr>
            <a:normAutofit/>
          </a:bodyPr>
          <a:lstStyle/>
          <a:p>
            <a:r>
              <a:rPr lang="en-US" sz="2000" dirty="0" smtClean="0"/>
              <a:t>The course has a dedicated webpage:</a:t>
            </a:r>
          </a:p>
          <a:p>
            <a:pPr lvl="1"/>
            <a:r>
              <a:rPr lang="en-US" sz="1600" dirty="0" smtClean="0">
                <a:hlinkClick r:id="rId2"/>
              </a:rPr>
              <a:t>https</a:t>
            </a:r>
            <a:r>
              <a:rPr lang="en-US" sz="1600" dirty="0">
                <a:hlinkClick r:id="rId2"/>
              </a:rPr>
              <a:t>://</a:t>
            </a:r>
            <a:r>
              <a:rPr lang="en-US" sz="1600" dirty="0" smtClean="0">
                <a:hlinkClick r:id="rId2"/>
              </a:rPr>
              <a:t>abilandz.gitbook.io/ss2024</a:t>
            </a:r>
            <a:r>
              <a:rPr lang="en-DE" sz="1600" dirty="0" smtClean="0"/>
              <a:t> (GitBook version)</a:t>
            </a:r>
            <a:endParaRPr lang="en-DE" sz="1800" dirty="0" smtClean="0"/>
          </a:p>
          <a:p>
            <a:pPr lvl="1"/>
            <a:endParaRPr lang="en-US" dirty="0" smtClean="0"/>
          </a:p>
          <a:p>
            <a:endParaRPr lang="en-US"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5</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716" y="2286000"/>
            <a:ext cx="7585284" cy="4373880"/>
          </a:xfrm>
          <a:prstGeom prst="rect">
            <a:avLst/>
          </a:prstGeom>
        </p:spPr>
      </p:pic>
    </p:spTree>
    <p:extLst>
      <p:ext uri="{BB962C8B-B14F-4D97-AF65-F5344CB8AC3E}">
        <p14:creationId xmlns:p14="http://schemas.microsoft.com/office/powerpoint/2010/main" val="3187129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Webpage</a:t>
            </a:r>
            <a:endParaRPr lang="en-US" sz="3200" dirty="0"/>
          </a:p>
        </p:txBody>
      </p:sp>
      <p:sp>
        <p:nvSpPr>
          <p:cNvPr id="3" name="Content Placeholder 2"/>
          <p:cNvSpPr>
            <a:spLocks noGrp="1"/>
          </p:cNvSpPr>
          <p:nvPr>
            <p:ph idx="1"/>
          </p:nvPr>
        </p:nvSpPr>
        <p:spPr>
          <a:xfrm>
            <a:off x="304800" y="1371600"/>
            <a:ext cx="8686800" cy="1447800"/>
          </a:xfrm>
        </p:spPr>
        <p:txBody>
          <a:bodyPr>
            <a:normAutofit/>
          </a:bodyPr>
          <a:lstStyle/>
          <a:p>
            <a:r>
              <a:rPr lang="en-US" sz="2000" dirty="0" smtClean="0"/>
              <a:t>The course has a dedicated webpage</a:t>
            </a:r>
            <a:r>
              <a:rPr lang="en-US" sz="2000" dirty="0" smtClean="0"/>
              <a:t>:</a:t>
            </a:r>
            <a:endParaRPr lang="en-DE" sz="1600" dirty="0" smtClean="0"/>
          </a:p>
          <a:p>
            <a:pPr lvl="1"/>
            <a:r>
              <a:rPr lang="en-US" sz="1600" dirty="0">
                <a:hlinkClick r:id="rId2"/>
              </a:rPr>
              <a:t>https://abilandz.github.io/PH8124</a:t>
            </a:r>
            <a:r>
              <a:rPr lang="en-US" sz="1600" dirty="0" smtClean="0">
                <a:hlinkClick r:id="rId2"/>
              </a:rPr>
              <a:t>/</a:t>
            </a:r>
            <a:r>
              <a:rPr lang="en-DE" sz="1600" dirty="0" smtClean="0"/>
              <a:t> (GitHub Pages version)</a:t>
            </a:r>
          </a:p>
          <a:p>
            <a:pPr lvl="1"/>
            <a:endParaRPr lang="en-DE" sz="1800" dirty="0" smtClean="0"/>
          </a:p>
          <a:p>
            <a:pPr lvl="1"/>
            <a:endParaRPr lang="en-US" dirty="0" smtClean="0"/>
          </a:p>
          <a:p>
            <a:endParaRPr lang="en-US"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6</a:t>
            </a:fld>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209800"/>
            <a:ext cx="7315200" cy="4503201"/>
          </a:xfrm>
          <a:prstGeom prst="rect">
            <a:avLst/>
          </a:prstGeom>
        </p:spPr>
      </p:pic>
    </p:spTree>
    <p:extLst>
      <p:ext uri="{BB962C8B-B14F-4D97-AF65-F5344CB8AC3E}">
        <p14:creationId xmlns:p14="http://schemas.microsoft.com/office/powerpoint/2010/main" val="17286983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a:t>Course </a:t>
            </a:r>
            <a:r>
              <a:rPr lang="da-DK" sz="3200" b="1" dirty="0" smtClean="0"/>
              <a:t>trivia</a:t>
            </a:r>
            <a:endParaRPr lang="en-US" sz="3200" dirty="0"/>
          </a:p>
        </p:txBody>
      </p:sp>
      <p:sp>
        <p:nvSpPr>
          <p:cNvPr id="3" name="Content Placeholder 2"/>
          <p:cNvSpPr>
            <a:spLocks noGrp="1"/>
          </p:cNvSpPr>
          <p:nvPr>
            <p:ph idx="1"/>
          </p:nvPr>
        </p:nvSpPr>
        <p:spPr>
          <a:xfrm>
            <a:off x="304800" y="1371600"/>
            <a:ext cx="8686800" cy="4800600"/>
          </a:xfrm>
        </p:spPr>
        <p:txBody>
          <a:bodyPr>
            <a:normAutofit/>
          </a:bodyPr>
          <a:lstStyle/>
          <a:p>
            <a:r>
              <a:rPr lang="en-US" dirty="0" smtClean="0"/>
              <a:t>After each lecture, executive summary of the covered material will be shared via email </a:t>
            </a:r>
          </a:p>
          <a:p>
            <a:r>
              <a:rPr lang="en-US" dirty="0" smtClean="0"/>
              <a:t>The course webpage will be updated regularly</a:t>
            </a:r>
          </a:p>
          <a:p>
            <a:r>
              <a:rPr lang="en-GB" dirty="0" smtClean="0"/>
              <a:t>In the same way, I will also share the homework </a:t>
            </a:r>
            <a:r>
              <a:rPr lang="en-GB" dirty="0" smtClean="0"/>
              <a:t>exercises</a:t>
            </a:r>
            <a:endParaRPr lang="en-DE" dirty="0" smtClean="0"/>
          </a:p>
          <a:p>
            <a:pPr marL="109728" indent="0">
              <a:buNone/>
            </a:pPr>
            <a:endParaRPr lang="en-US" sz="800" dirty="0" smtClean="0"/>
          </a:p>
          <a:p>
            <a:pPr fontAlgn="auto">
              <a:spcAft>
                <a:spcPts val="0"/>
              </a:spcAft>
            </a:pPr>
            <a:r>
              <a:rPr lang="da-DK" dirty="0" smtClean="0"/>
              <a:t>Recommended literature:</a:t>
            </a:r>
          </a:p>
          <a:p>
            <a:pPr lvl="1"/>
            <a:r>
              <a:rPr lang="en-GB" sz="2000" dirty="0" smtClean="0"/>
              <a:t>Mendel </a:t>
            </a:r>
            <a:r>
              <a:rPr lang="en-GB" sz="2000" dirty="0"/>
              <a:t>Cooper: </a:t>
            </a:r>
            <a:r>
              <a:rPr lang="en-GB" sz="2000" dirty="0" smtClean="0"/>
              <a:t>‘Advanced </a:t>
            </a:r>
            <a:r>
              <a:rPr lang="en-GB" sz="2000" dirty="0"/>
              <a:t>Bash-Scripting </a:t>
            </a:r>
            <a:r>
              <a:rPr lang="en-GB" sz="2000" dirty="0" smtClean="0"/>
              <a:t>Guide’ </a:t>
            </a:r>
            <a:r>
              <a:rPr lang="en-GB" sz="1600" dirty="0"/>
              <a:t>(</a:t>
            </a:r>
            <a:r>
              <a:rPr lang="en-GB" sz="1600" dirty="0">
                <a:hlinkClick r:id="rId2"/>
              </a:rPr>
              <a:t>http://tldp.org/LDP/abs/abs-guide.pdf</a:t>
            </a:r>
            <a:r>
              <a:rPr lang="en-GB" sz="1600" dirty="0"/>
              <a:t>)</a:t>
            </a:r>
            <a:r>
              <a:rPr lang="en-GB" dirty="0"/>
              <a:t> </a:t>
            </a:r>
            <a:endParaRPr lang="en-GB" dirty="0" smtClean="0"/>
          </a:p>
          <a:p>
            <a:pPr lvl="1"/>
            <a:r>
              <a:rPr lang="en-GB" sz="2000" dirty="0" smtClean="0"/>
              <a:t>Cameron </a:t>
            </a:r>
            <a:r>
              <a:rPr lang="en-GB" sz="2000" dirty="0"/>
              <a:t>Newham and Bill Rosenblatt, </a:t>
            </a:r>
            <a:r>
              <a:rPr lang="en-GB" sz="2000" dirty="0" smtClean="0"/>
              <a:t>‘Learning </a:t>
            </a:r>
            <a:r>
              <a:rPr lang="en-GB" sz="2000" dirty="0"/>
              <a:t>the bash Shell: Unix Shell Programming (In a Nutshell (O'Reilly</a:t>
            </a:r>
            <a:r>
              <a:rPr lang="en-GB" sz="2000" dirty="0" smtClean="0"/>
              <a:t>))’</a:t>
            </a:r>
            <a:r>
              <a:rPr lang="en-GB" dirty="0"/>
              <a:t> </a:t>
            </a:r>
            <a:endParaRPr lang="en-GB" dirty="0" smtClean="0"/>
          </a:p>
          <a:p>
            <a:pPr lvl="1"/>
            <a:r>
              <a:rPr lang="en-GB" sz="2000" dirty="0" smtClean="0"/>
              <a:t>Richard </a:t>
            </a:r>
            <a:r>
              <a:rPr lang="en-GB" sz="2000" dirty="0"/>
              <a:t>Blum and Christine </a:t>
            </a:r>
            <a:r>
              <a:rPr lang="en-GB" sz="2000" dirty="0" err="1"/>
              <a:t>Bresnahan</a:t>
            </a:r>
            <a:r>
              <a:rPr lang="en-GB" sz="2000" dirty="0"/>
              <a:t>, ‘Linux Command Line and Shell Scripting Bible</a:t>
            </a:r>
            <a:r>
              <a:rPr lang="en-GB" sz="2000" dirty="0" smtClean="0"/>
              <a:t>’</a:t>
            </a:r>
          </a:p>
          <a:p>
            <a:pPr lvl="1"/>
            <a:r>
              <a:rPr lang="en-GB" sz="2000" dirty="0" smtClean="0"/>
              <a:t>ROOT </a:t>
            </a:r>
            <a:r>
              <a:rPr lang="en-DE" sz="2000" dirty="0" smtClean="0"/>
              <a:t>tutorials </a:t>
            </a:r>
            <a:r>
              <a:rPr lang="en-GB" sz="1600" dirty="0" smtClean="0"/>
              <a:t>(</a:t>
            </a:r>
            <a:r>
              <a:rPr lang="en-US" sz="1600" dirty="0" smtClean="0">
                <a:hlinkClick r:id="rId3"/>
              </a:rPr>
              <a:t>https://root.cern/manual/</a:t>
            </a:r>
            <a:r>
              <a:rPr lang="en-GB" sz="1600" dirty="0" smtClean="0"/>
              <a:t>)</a:t>
            </a:r>
            <a:endParaRPr lang="en-GB" sz="1600"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7</a:t>
            </a:fld>
            <a:endParaRPr lang="en-US" dirty="0"/>
          </a:p>
        </p:txBody>
      </p:sp>
    </p:spTree>
    <p:extLst>
      <p:ext uri="{BB962C8B-B14F-4D97-AF65-F5344CB8AC3E}">
        <p14:creationId xmlns:p14="http://schemas.microsoft.com/office/powerpoint/2010/main" val="26565170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a:t>Course </a:t>
            </a:r>
            <a:r>
              <a:rPr lang="da-DK" sz="3200" b="1" dirty="0" smtClean="0"/>
              <a:t>trivia</a:t>
            </a:r>
            <a:endParaRPr lang="en-US" sz="3200" dirty="0"/>
          </a:p>
        </p:txBody>
      </p:sp>
      <p:sp>
        <p:nvSpPr>
          <p:cNvPr id="3" name="Content Placeholder 2"/>
          <p:cNvSpPr>
            <a:spLocks noGrp="1"/>
          </p:cNvSpPr>
          <p:nvPr>
            <p:ph idx="1"/>
          </p:nvPr>
        </p:nvSpPr>
        <p:spPr>
          <a:xfrm>
            <a:off x="304800" y="1371600"/>
            <a:ext cx="8686800" cy="1981200"/>
          </a:xfrm>
        </p:spPr>
        <p:txBody>
          <a:bodyPr>
            <a:normAutofit fontScale="92500" lnSpcReduction="10000"/>
          </a:bodyPr>
          <a:lstStyle/>
          <a:p>
            <a:r>
              <a:rPr lang="en-US" dirty="0" smtClean="0"/>
              <a:t>Grading:</a:t>
            </a:r>
          </a:p>
          <a:p>
            <a:pPr lvl="1"/>
            <a:r>
              <a:rPr lang="da-DK" dirty="0" smtClean="0"/>
              <a:t>3 ECTS points</a:t>
            </a:r>
          </a:p>
          <a:p>
            <a:pPr lvl="1"/>
            <a:r>
              <a:rPr lang="da-DK" dirty="0" smtClean="0"/>
              <a:t>Final grade = grade at final project examination </a:t>
            </a:r>
            <a:r>
              <a:rPr lang="en-DE" dirty="0" smtClean="0"/>
              <a:t>+</a:t>
            </a:r>
            <a:r>
              <a:rPr lang="da-DK" dirty="0" smtClean="0"/>
              <a:t> ‘</a:t>
            </a:r>
            <a:r>
              <a:rPr lang="en-DE" dirty="0" smtClean="0"/>
              <a:t>one intermediate stepping of 0.3 to the better grade</a:t>
            </a:r>
            <a:r>
              <a:rPr lang="da-DK" dirty="0" smtClean="0"/>
              <a:t>’ </a:t>
            </a:r>
            <a:r>
              <a:rPr lang="da-DK" dirty="0" smtClean="0"/>
              <a:t>if you have completed correctly 75% of all homeworks</a:t>
            </a:r>
          </a:p>
          <a:p>
            <a:pPr lvl="2"/>
            <a:r>
              <a:rPr lang="da-DK" dirty="0" smtClean="0"/>
              <a:t>There will be in total 10 homework exercises, one after each lecture</a:t>
            </a:r>
          </a:p>
          <a:p>
            <a:pPr lvl="2"/>
            <a:endParaRPr lang="da-DK" dirty="0" smtClean="0"/>
          </a:p>
          <a:p>
            <a:pPr lvl="1"/>
            <a:endParaRPr lang="da-DK"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8</a:t>
            </a:fld>
            <a:endParaRPr lang="en-US" dirty="0"/>
          </a:p>
        </p:txBody>
      </p:sp>
      <p:sp>
        <p:nvSpPr>
          <p:cNvPr id="8" name="Content Placeholder 2"/>
          <p:cNvSpPr txBox="1">
            <a:spLocks/>
          </p:cNvSpPr>
          <p:nvPr/>
        </p:nvSpPr>
        <p:spPr>
          <a:xfrm>
            <a:off x="304800" y="3276600"/>
            <a:ext cx="8686800" cy="3200400"/>
          </a:xfrm>
          <a:prstGeom prst="rect">
            <a:avLst/>
          </a:prstGeom>
        </p:spPr>
        <p:txBody>
          <a:bodyPr vert="horz">
            <a:normAutofit/>
          </a:bodyPr>
          <a:lstStyle>
            <a:lvl1pPr marL="365760" indent="-256032" algn="l" rtl="0" eaLnBrk="1" latinLnBrk="0" hangingPunct="1">
              <a:spcBef>
                <a:spcPts val="300"/>
              </a:spcBef>
              <a:buClr>
                <a:schemeClr val="tx1"/>
              </a:buClr>
              <a:buSzPct val="125000"/>
              <a:buFont typeface="Arial" panose="020B0604020202020204" pitchFamily="34" charset="0"/>
              <a:buChar char="•"/>
              <a:defRPr kumimoji="0" sz="2400" kern="1200">
                <a:solidFill>
                  <a:schemeClr val="tx1"/>
                </a:solidFill>
                <a:latin typeface="Helvetica" pitchFamily="34" charset="0"/>
                <a:ea typeface="+mn-ea"/>
                <a:cs typeface="+mn-cs"/>
              </a:defRPr>
            </a:lvl1pPr>
            <a:lvl2pPr marL="658368" indent="-246888" algn="l" rtl="0" eaLnBrk="1" latinLnBrk="0" hangingPunct="1">
              <a:spcBef>
                <a:spcPts val="300"/>
              </a:spcBef>
              <a:buClr>
                <a:schemeClr val="accent2"/>
              </a:buClr>
              <a:buSzPct val="90000"/>
              <a:buFont typeface="Courier New" panose="02070309020205020404" pitchFamily="49" charset="0"/>
              <a:buChar char="o"/>
              <a:defRPr kumimoji="0" sz="2200" kern="1200">
                <a:solidFill>
                  <a:schemeClr val="accent2"/>
                </a:solidFill>
                <a:latin typeface="Helvetica" pitchFamily="34" charset="0"/>
                <a:ea typeface="+mn-ea"/>
                <a:cs typeface="+mn-cs"/>
              </a:defRPr>
            </a:lvl2pPr>
            <a:lvl3pPr marL="923544" indent="-219456" algn="l" rtl="0" eaLnBrk="1" latinLnBrk="0" hangingPunct="1">
              <a:spcBef>
                <a:spcPts val="300"/>
              </a:spcBef>
              <a:buClr>
                <a:schemeClr val="accent1"/>
              </a:buClr>
              <a:buFont typeface="Wingdings 2"/>
              <a:buChar char=""/>
              <a:defRPr kumimoji="0" sz="1800" kern="1200">
                <a:solidFill>
                  <a:schemeClr val="accent1"/>
                </a:solidFill>
                <a:latin typeface="Helvetica" pitchFamily="34" charset="0"/>
                <a:ea typeface="+mn-ea"/>
                <a:cs typeface="+mn-cs"/>
              </a:defRPr>
            </a:lvl3pPr>
            <a:lvl4pPr marL="1179576" indent="-201168" algn="l" rtl="0" eaLnBrk="1" latinLnBrk="0" hangingPunct="1">
              <a:spcBef>
                <a:spcPts val="300"/>
              </a:spcBef>
              <a:buClr>
                <a:schemeClr val="accent1"/>
              </a:buClr>
              <a:buFont typeface="Wingdings 2"/>
              <a:buChar char=""/>
              <a:defRPr kumimoji="0" sz="1400" kern="1200">
                <a:solidFill>
                  <a:schemeClr val="accent1"/>
                </a:solidFill>
                <a:latin typeface="Helvetica" pitchFamily="34" charset="0"/>
                <a:ea typeface="+mn-ea"/>
                <a:cs typeface="+mn-cs"/>
              </a:defRPr>
            </a:lvl4pPr>
            <a:lvl5pPr marL="1389888" indent="-182880" algn="l" rtl="0" eaLnBrk="1" latinLnBrk="0" hangingPunct="1">
              <a:spcBef>
                <a:spcPts val="300"/>
              </a:spcBef>
              <a:buClr>
                <a:schemeClr val="accent3"/>
              </a:buClr>
              <a:buFont typeface="Georgia"/>
              <a:buChar char="▫"/>
              <a:defRPr kumimoji="0" sz="1400" kern="1200">
                <a:solidFill>
                  <a:schemeClr val="accent3"/>
                </a:solidFill>
                <a:latin typeface="Helvetica" pitchFamily="34" charset="0"/>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fontAlgn="auto">
              <a:spcAft>
                <a:spcPts val="0"/>
              </a:spcAft>
            </a:pPr>
            <a:r>
              <a:rPr lang="da-DK" dirty="0" smtClean="0">
                <a:effectLst/>
              </a:rPr>
              <a:t>Oral examination at the final project presentation:</a:t>
            </a:r>
            <a:endParaRPr lang="en-US" dirty="0" smtClean="0">
              <a:effectLst/>
            </a:endParaRPr>
          </a:p>
          <a:p>
            <a:pPr lvl="1" fontAlgn="auto">
              <a:spcAft>
                <a:spcPts val="0"/>
              </a:spcAft>
            </a:pPr>
            <a:r>
              <a:rPr lang="da-DK" dirty="0" smtClean="0">
                <a:effectLst/>
              </a:rPr>
              <a:t>The topic for the final programming project will be offered at some point towards the end of the lecture</a:t>
            </a:r>
          </a:p>
          <a:p>
            <a:pPr lvl="1" fontAlgn="auto">
              <a:spcAft>
                <a:spcPts val="0"/>
              </a:spcAft>
            </a:pPr>
            <a:r>
              <a:rPr lang="en-GB" dirty="0" smtClean="0">
                <a:effectLst/>
              </a:rPr>
              <a:t>The oral </a:t>
            </a:r>
            <a:r>
              <a:rPr lang="en-GB" dirty="0">
                <a:effectLst/>
              </a:rPr>
              <a:t>exam of about 25 minutes </a:t>
            </a:r>
            <a:r>
              <a:rPr lang="en-GB" dirty="0" smtClean="0">
                <a:effectLst/>
              </a:rPr>
              <a:t>consists of presenting:</a:t>
            </a:r>
          </a:p>
          <a:p>
            <a:pPr marL="1046988" lvl="2" indent="-342900" fontAlgn="auto">
              <a:spcAft>
                <a:spcPts val="0"/>
              </a:spcAft>
              <a:buFont typeface="+mj-lt"/>
              <a:buAutoNum type="arabicPeriod"/>
            </a:pPr>
            <a:r>
              <a:rPr lang="en-GB" dirty="0" smtClean="0">
                <a:effectLst/>
              </a:rPr>
              <a:t>How your programme was designed/implemented?</a:t>
            </a:r>
          </a:p>
          <a:p>
            <a:pPr marL="1046988" lvl="2" indent="-342900" fontAlgn="auto">
              <a:spcAft>
                <a:spcPts val="0"/>
              </a:spcAft>
              <a:buFont typeface="+mj-lt"/>
              <a:buAutoNum type="arabicPeriod"/>
            </a:pPr>
            <a:r>
              <a:rPr lang="en-GB" dirty="0" smtClean="0">
                <a:effectLst/>
              </a:rPr>
              <a:t>Testing the execution of your code (crash-free, bug-free, efficiency in terms of CPU usage and memory consumption)</a:t>
            </a:r>
          </a:p>
          <a:p>
            <a:pPr marL="1046988" lvl="2" indent="-342900" fontAlgn="auto">
              <a:spcAft>
                <a:spcPts val="0"/>
              </a:spcAft>
              <a:buFont typeface="+mj-lt"/>
              <a:buAutoNum type="arabicPeriod"/>
            </a:pPr>
            <a:r>
              <a:rPr lang="en-GB" dirty="0" smtClean="0">
                <a:effectLst/>
              </a:rPr>
              <a:t>Testing the code flexibility (e.g. how you would add some new feature in</a:t>
            </a:r>
            <a:r>
              <a:rPr lang="en-DE" dirty="0" smtClean="0">
                <a:effectLst/>
              </a:rPr>
              <a:t> </a:t>
            </a:r>
            <a:r>
              <a:rPr lang="en-GB" dirty="0" smtClean="0">
                <a:effectLst/>
              </a:rPr>
              <a:t>the code?)  </a:t>
            </a:r>
            <a:endParaRPr lang="da-DK" dirty="0" smtClean="0">
              <a:effectLst/>
            </a:endParaRPr>
          </a:p>
        </p:txBody>
      </p:sp>
    </p:spTree>
    <p:extLst>
      <p:ext uri="{BB962C8B-B14F-4D97-AF65-F5344CB8AC3E}">
        <p14:creationId xmlns:p14="http://schemas.microsoft.com/office/powerpoint/2010/main" val="5526732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a:t>Course </a:t>
            </a:r>
            <a:r>
              <a:rPr lang="da-DK" sz="3200" b="1" dirty="0" smtClean="0"/>
              <a:t>t</a:t>
            </a:r>
            <a:r>
              <a:rPr lang="en-US" sz="3200" b="1" dirty="0" err="1" smtClean="0">
                <a:effectLst/>
              </a:rPr>
              <a:t>rivia</a:t>
            </a:r>
            <a:endParaRPr lang="en-US" sz="3200" dirty="0"/>
          </a:p>
        </p:txBody>
      </p:sp>
      <p:sp>
        <p:nvSpPr>
          <p:cNvPr id="3" name="Content Placeholder 2"/>
          <p:cNvSpPr>
            <a:spLocks noGrp="1"/>
          </p:cNvSpPr>
          <p:nvPr>
            <p:ph idx="1"/>
          </p:nvPr>
        </p:nvSpPr>
        <p:spPr>
          <a:xfrm>
            <a:off x="304800" y="1371600"/>
            <a:ext cx="8686800" cy="4724400"/>
          </a:xfrm>
        </p:spPr>
        <p:txBody>
          <a:bodyPr>
            <a:normAutofit/>
          </a:bodyPr>
          <a:lstStyle/>
          <a:p>
            <a:r>
              <a:rPr lang="da-DK" dirty="0" smtClean="0"/>
              <a:t>Preliminary list of topics to be covered:</a:t>
            </a:r>
          </a:p>
          <a:p>
            <a:pPr marL="109728" indent="0">
              <a:buNone/>
            </a:pPr>
            <a:endParaRPr lang="en-US" sz="1000" dirty="0" smtClean="0"/>
          </a:p>
          <a:p>
            <a:pPr lvl="1"/>
            <a:r>
              <a:rPr lang="en-GB" b="1" dirty="0"/>
              <a:t>Linux: </a:t>
            </a:r>
            <a:r>
              <a:rPr lang="en-GB" dirty="0" err="1"/>
              <a:t>filesystem</a:t>
            </a:r>
            <a:r>
              <a:rPr lang="en-GB" dirty="0"/>
              <a:t> hierarchy and file manipulation, handling processes and jobs, frequently used </a:t>
            </a:r>
            <a:r>
              <a:rPr lang="en-GB" dirty="0" smtClean="0"/>
              <a:t>commands, etc.</a:t>
            </a:r>
          </a:p>
          <a:p>
            <a:pPr marL="411480" lvl="1" indent="0">
              <a:buNone/>
            </a:pPr>
            <a:endParaRPr lang="en-GB" sz="800" dirty="0" smtClean="0"/>
          </a:p>
          <a:p>
            <a:pPr lvl="1"/>
            <a:r>
              <a:rPr lang="en-US" b="1" dirty="0"/>
              <a:t>Bash: </a:t>
            </a:r>
            <a:r>
              <a:rPr lang="en-US" dirty="0"/>
              <a:t>shell environment, variables, string manipulation, built-in commands, aliases, functions, conditional statements, loops, command substitution, command chain, test constructs, piping, redirections, code blocks, subshells, process substitution, brace expansion, regular expressions, here-strings and here-documents, etc</a:t>
            </a:r>
            <a:r>
              <a:rPr lang="en-US" dirty="0" smtClean="0"/>
              <a:t>.</a:t>
            </a:r>
          </a:p>
          <a:p>
            <a:pPr marL="411480" lvl="1" indent="0">
              <a:buNone/>
            </a:pPr>
            <a:endParaRPr lang="en-US" sz="800" dirty="0" smtClean="0"/>
          </a:p>
          <a:p>
            <a:pPr lvl="1"/>
            <a:r>
              <a:rPr lang="en-GB" b="1" dirty="0"/>
              <a:t>ROOT: </a:t>
            </a:r>
            <a:r>
              <a:rPr lang="en-GB" dirty="0"/>
              <a:t>using ROOT GUI, plotting, </a:t>
            </a:r>
            <a:r>
              <a:rPr lang="en-GB" dirty="0" err="1"/>
              <a:t>histogramming</a:t>
            </a:r>
            <a:r>
              <a:rPr lang="en-GB" dirty="0" smtClean="0"/>
              <a:t>, functions, </a:t>
            </a:r>
            <a:r>
              <a:rPr lang="en-GB" dirty="0"/>
              <a:t>fitting, trees</a:t>
            </a:r>
            <a:r>
              <a:rPr lang="en-GB" dirty="0" smtClean="0"/>
              <a:t>, file merging, </a:t>
            </a:r>
            <a:r>
              <a:rPr lang="en-GB" dirty="0"/>
              <a:t>etc</a:t>
            </a:r>
            <a:r>
              <a:rPr lang="en-GB" dirty="0" smtClean="0"/>
              <a:t>.</a:t>
            </a:r>
            <a:endParaRPr lang="en-GB"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9</a:t>
            </a:fld>
            <a:endParaRPr lang="en-US" dirty="0"/>
          </a:p>
        </p:txBody>
      </p:sp>
    </p:spTree>
    <p:extLst>
      <p:ext uri="{BB962C8B-B14F-4D97-AF65-F5344CB8AC3E}">
        <p14:creationId xmlns:p14="http://schemas.microsoft.com/office/powerpoint/2010/main" val="40480551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a:t>Course </a:t>
            </a:r>
            <a:r>
              <a:rPr lang="da-DK" sz="3200" b="1" dirty="0" smtClean="0"/>
              <a:t>t</a:t>
            </a:r>
            <a:r>
              <a:rPr lang="en-US" sz="3200" b="1" dirty="0" err="1" smtClean="0">
                <a:effectLst/>
              </a:rPr>
              <a:t>rivia</a:t>
            </a:r>
            <a:endParaRPr lang="en-US" sz="3200" dirty="0"/>
          </a:p>
        </p:txBody>
      </p:sp>
      <p:sp>
        <p:nvSpPr>
          <p:cNvPr id="3" name="Content Placeholder 2"/>
          <p:cNvSpPr>
            <a:spLocks noGrp="1"/>
          </p:cNvSpPr>
          <p:nvPr>
            <p:ph idx="1"/>
          </p:nvPr>
        </p:nvSpPr>
        <p:spPr>
          <a:xfrm>
            <a:off x="304800" y="1371600"/>
            <a:ext cx="8686800" cy="4724400"/>
          </a:xfrm>
        </p:spPr>
        <p:txBody>
          <a:bodyPr>
            <a:normAutofit/>
          </a:bodyPr>
          <a:lstStyle/>
          <a:p>
            <a:r>
              <a:rPr lang="da-DK" dirty="0"/>
              <a:t>Course </a:t>
            </a:r>
            <a:r>
              <a:rPr lang="da-DK" dirty="0" smtClean="0"/>
              <a:t>classification:</a:t>
            </a:r>
          </a:p>
          <a:p>
            <a:pPr lvl="1"/>
            <a:r>
              <a:rPr lang="da-DK" dirty="0" smtClean="0"/>
              <a:t>At the moment, classified as a ‘</a:t>
            </a:r>
            <a:r>
              <a:rPr lang="en-GB" dirty="0" smtClean="0"/>
              <a:t>Non-physics elective course’</a:t>
            </a:r>
          </a:p>
          <a:p>
            <a:pPr lvl="1"/>
            <a:r>
              <a:rPr lang="en-GB" dirty="0"/>
              <a:t>O</a:t>
            </a:r>
            <a:r>
              <a:rPr lang="en-GB" dirty="0" smtClean="0"/>
              <a:t>pen </a:t>
            </a:r>
            <a:r>
              <a:rPr lang="en-GB" dirty="0"/>
              <a:t>both to Bachelor and </a:t>
            </a:r>
            <a:r>
              <a:rPr lang="en-GB" dirty="0" smtClean="0"/>
              <a:t>Masters students</a:t>
            </a:r>
          </a:p>
          <a:p>
            <a:pPr lvl="2"/>
            <a:r>
              <a:rPr lang="en-GB" dirty="0">
                <a:hlinkClick r:id="rId2"/>
              </a:rPr>
              <a:t>https://www.ph.tum.de/academics/msc/physics/nonphys/</a:t>
            </a:r>
            <a:r>
              <a:rPr lang="en-GB" dirty="0" smtClean="0"/>
              <a:t> </a:t>
            </a:r>
            <a:endParaRPr lang="da-DK" dirty="0" smtClean="0"/>
          </a:p>
          <a:p>
            <a:r>
              <a:rPr lang="da-DK" dirty="0" smtClean="0"/>
              <a:t>Course evaluation:</a:t>
            </a:r>
            <a:endParaRPr lang="en-US" dirty="0" smtClean="0"/>
          </a:p>
          <a:p>
            <a:pPr lvl="1"/>
            <a:r>
              <a:rPr lang="en-GB" dirty="0" smtClean="0"/>
              <a:t>At some point during the lecture, you will be asked to evaluate this course: Please, do it! (</a:t>
            </a:r>
            <a:r>
              <a:rPr lang="en-GB" dirty="0"/>
              <a:t>r</a:t>
            </a:r>
            <a:r>
              <a:rPr lang="en-GB" dirty="0" smtClean="0"/>
              <a:t>eminder will be sent later)</a:t>
            </a:r>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10</a:t>
            </a:fld>
            <a:endParaRPr lang="en-US" dirty="0"/>
          </a:p>
        </p:txBody>
      </p:sp>
    </p:spTree>
    <p:extLst>
      <p:ext uri="{BB962C8B-B14F-4D97-AF65-F5344CB8AC3E}">
        <p14:creationId xmlns:p14="http://schemas.microsoft.com/office/powerpoint/2010/main" val="41818114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en-US" sz="3200" b="1" dirty="0" smtClean="0">
                <a:effectLst/>
              </a:rPr>
              <a:t>Trivia</a:t>
            </a:r>
            <a:endParaRPr lang="en-US" sz="3200" dirty="0"/>
          </a:p>
        </p:txBody>
      </p:sp>
      <p:sp>
        <p:nvSpPr>
          <p:cNvPr id="3" name="Content Placeholder 2"/>
          <p:cNvSpPr>
            <a:spLocks noGrp="1"/>
          </p:cNvSpPr>
          <p:nvPr>
            <p:ph idx="1"/>
          </p:nvPr>
        </p:nvSpPr>
        <p:spPr>
          <a:xfrm>
            <a:off x="304800" y="1371600"/>
            <a:ext cx="8686800" cy="4724400"/>
          </a:xfrm>
        </p:spPr>
        <p:txBody>
          <a:bodyPr>
            <a:normAutofit/>
          </a:bodyPr>
          <a:lstStyle/>
          <a:p>
            <a:r>
              <a:rPr lang="da-DK" dirty="0" smtClean="0"/>
              <a:t>No lecture on: </a:t>
            </a:r>
          </a:p>
          <a:p>
            <a:pPr lvl="1"/>
            <a:r>
              <a:rPr lang="da-DK" dirty="0" smtClean="0">
                <a:solidFill>
                  <a:srgbClr val="FF0000"/>
                </a:solidFill>
              </a:rPr>
              <a:t>May </a:t>
            </a:r>
            <a:r>
              <a:rPr lang="en-DE" dirty="0" smtClean="0">
                <a:solidFill>
                  <a:srgbClr val="FF0000"/>
                </a:solidFill>
              </a:rPr>
              <a:t>9</a:t>
            </a:r>
            <a:r>
              <a:rPr lang="da-DK" dirty="0" smtClean="0">
                <a:solidFill>
                  <a:srgbClr val="FF0000"/>
                </a:solidFill>
              </a:rPr>
              <a:t>th </a:t>
            </a:r>
            <a:r>
              <a:rPr lang="da-DK" dirty="0" smtClean="0">
                <a:solidFill>
                  <a:srgbClr val="FF0000"/>
                </a:solidFill>
              </a:rPr>
              <a:t>– Ascension Day</a:t>
            </a:r>
          </a:p>
          <a:p>
            <a:pPr lvl="1"/>
            <a:r>
              <a:rPr lang="en-DE" dirty="0" smtClean="0">
                <a:solidFill>
                  <a:srgbClr val="FF0000"/>
                </a:solidFill>
              </a:rPr>
              <a:t>May</a:t>
            </a:r>
            <a:r>
              <a:rPr lang="da-DK" dirty="0" smtClean="0">
                <a:solidFill>
                  <a:srgbClr val="FF0000"/>
                </a:solidFill>
              </a:rPr>
              <a:t> </a:t>
            </a:r>
            <a:r>
              <a:rPr lang="en-DE" dirty="0">
                <a:solidFill>
                  <a:srgbClr val="FF0000"/>
                </a:solidFill>
              </a:rPr>
              <a:t>3</a:t>
            </a:r>
            <a:r>
              <a:rPr lang="en-DE" dirty="0" smtClean="0">
                <a:solidFill>
                  <a:srgbClr val="FF0000"/>
                </a:solidFill>
              </a:rPr>
              <a:t>0</a:t>
            </a:r>
            <a:r>
              <a:rPr lang="da-DK" dirty="0" smtClean="0">
                <a:solidFill>
                  <a:srgbClr val="FF0000"/>
                </a:solidFill>
              </a:rPr>
              <a:t>th </a:t>
            </a:r>
            <a:r>
              <a:rPr lang="da-DK" dirty="0" smtClean="0">
                <a:solidFill>
                  <a:srgbClr val="FF0000"/>
                </a:solidFill>
              </a:rPr>
              <a:t>– Corpus Christi</a:t>
            </a:r>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11</a:t>
            </a:fld>
            <a:endParaRPr lang="en-US" dirty="0"/>
          </a:p>
        </p:txBody>
      </p:sp>
    </p:spTree>
    <p:extLst>
      <p:ext uri="{BB962C8B-B14F-4D97-AF65-F5344CB8AC3E}">
        <p14:creationId xmlns:p14="http://schemas.microsoft.com/office/powerpoint/2010/main" val="39251875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0800"/>
            <a:ext cx="8229600" cy="1066800"/>
          </a:xfrm>
        </p:spPr>
        <p:txBody>
          <a:bodyPr>
            <a:normAutofit/>
          </a:bodyPr>
          <a:lstStyle/>
          <a:p>
            <a:r>
              <a:rPr lang="da-DK" b="1" dirty="0" smtClean="0"/>
              <a:t>Free adverts</a:t>
            </a:r>
            <a:endParaRPr lang="en-US" b="1"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12</a:t>
            </a:fld>
            <a:endParaRPr lang="en-US" dirty="0"/>
          </a:p>
        </p:txBody>
      </p:sp>
    </p:spTree>
    <p:extLst>
      <p:ext uri="{BB962C8B-B14F-4D97-AF65-F5344CB8AC3E}">
        <p14:creationId xmlns:p14="http://schemas.microsoft.com/office/powerpoint/2010/main" val="5139660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Free advert (#1)</a:t>
            </a:r>
            <a:endParaRPr lang="en-US" sz="3200" dirty="0"/>
          </a:p>
        </p:txBody>
      </p:sp>
      <p:sp>
        <p:nvSpPr>
          <p:cNvPr id="3" name="Content Placeholder 2"/>
          <p:cNvSpPr>
            <a:spLocks noGrp="1"/>
          </p:cNvSpPr>
          <p:nvPr>
            <p:ph idx="1"/>
          </p:nvPr>
        </p:nvSpPr>
        <p:spPr>
          <a:xfrm>
            <a:off x="304800" y="1371600"/>
            <a:ext cx="8686800" cy="990600"/>
          </a:xfrm>
        </p:spPr>
        <p:txBody>
          <a:bodyPr>
            <a:normAutofit/>
          </a:bodyPr>
          <a:lstStyle/>
          <a:p>
            <a:r>
              <a:rPr lang="en-GB" dirty="0" smtClean="0"/>
              <a:t>Why Linux? Statistics for all desktop/laptop computers:</a:t>
            </a:r>
            <a:endParaRPr lang="en-GB"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13</a:t>
            </a:fld>
            <a:endParaRPr lang="en-US" dirty="0"/>
          </a:p>
        </p:txBody>
      </p:sp>
      <p:pic>
        <p:nvPicPr>
          <p:cNvPr id="7" name="Picture 6"/>
          <p:cNvPicPr>
            <a:picLocks noChangeAspect="1"/>
          </p:cNvPicPr>
          <p:nvPr/>
        </p:nvPicPr>
        <p:blipFill>
          <a:blip r:embed="rId2"/>
          <a:stretch>
            <a:fillRect/>
          </a:stretch>
        </p:blipFill>
        <p:spPr>
          <a:xfrm>
            <a:off x="1447800" y="2209800"/>
            <a:ext cx="6019800" cy="3753136"/>
          </a:xfrm>
          <a:prstGeom prst="rect">
            <a:avLst/>
          </a:prstGeom>
        </p:spPr>
      </p:pic>
    </p:spTree>
    <p:extLst>
      <p:ext uri="{BB962C8B-B14F-4D97-AF65-F5344CB8AC3E}">
        <p14:creationId xmlns:p14="http://schemas.microsoft.com/office/powerpoint/2010/main" val="192006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914400" y="1793655"/>
            <a:ext cx="7543800" cy="4988145"/>
          </a:xfrm>
          <a:prstGeom prst="rect">
            <a:avLst/>
          </a:prstGeom>
        </p:spPr>
      </p:pic>
      <p:sp>
        <p:nvSpPr>
          <p:cNvPr id="2" name="Title 1"/>
          <p:cNvSpPr>
            <a:spLocks noGrp="1"/>
          </p:cNvSpPr>
          <p:nvPr>
            <p:ph type="title"/>
          </p:nvPr>
        </p:nvSpPr>
        <p:spPr>
          <a:xfrm>
            <a:off x="228600" y="381000"/>
            <a:ext cx="8686800" cy="1066800"/>
          </a:xfrm>
        </p:spPr>
        <p:txBody>
          <a:bodyPr>
            <a:normAutofit/>
          </a:bodyPr>
          <a:lstStyle/>
          <a:p>
            <a:r>
              <a:rPr lang="da-DK" sz="3200" b="1" dirty="0" smtClean="0"/>
              <a:t>Free advert (#1)</a:t>
            </a:r>
            <a:endParaRPr lang="en-US" sz="3200" dirty="0"/>
          </a:p>
        </p:txBody>
      </p:sp>
      <p:sp>
        <p:nvSpPr>
          <p:cNvPr id="3" name="Content Placeholder 2"/>
          <p:cNvSpPr>
            <a:spLocks noGrp="1"/>
          </p:cNvSpPr>
          <p:nvPr>
            <p:ph idx="1"/>
          </p:nvPr>
        </p:nvSpPr>
        <p:spPr>
          <a:xfrm>
            <a:off x="304800" y="1371600"/>
            <a:ext cx="8686800" cy="990600"/>
          </a:xfrm>
        </p:spPr>
        <p:txBody>
          <a:bodyPr>
            <a:normAutofit/>
          </a:bodyPr>
          <a:lstStyle/>
          <a:p>
            <a:r>
              <a:rPr lang="en-GB" dirty="0" smtClean="0"/>
              <a:t>Why </a:t>
            </a:r>
            <a:r>
              <a:rPr lang="en-GB" dirty="0"/>
              <a:t>Linux? Statistics for </a:t>
            </a:r>
            <a:r>
              <a:rPr lang="en-GB" dirty="0" smtClean="0"/>
              <a:t>supercomputers</a:t>
            </a:r>
            <a:r>
              <a:rPr lang="en-GB" dirty="0"/>
              <a:t>:</a:t>
            </a:r>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14</a:t>
            </a:fld>
            <a:endParaRPr lang="en-US" dirty="0"/>
          </a:p>
        </p:txBody>
      </p:sp>
    </p:spTree>
    <p:extLst>
      <p:ext uri="{BB962C8B-B14F-4D97-AF65-F5344CB8AC3E}">
        <p14:creationId xmlns:p14="http://schemas.microsoft.com/office/powerpoint/2010/main" val="41961320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Free advert (#1)</a:t>
            </a:r>
            <a:endParaRPr lang="en-US" sz="3200" dirty="0"/>
          </a:p>
        </p:txBody>
      </p:sp>
      <p:sp>
        <p:nvSpPr>
          <p:cNvPr id="3" name="Content Placeholder 2"/>
          <p:cNvSpPr>
            <a:spLocks noGrp="1"/>
          </p:cNvSpPr>
          <p:nvPr>
            <p:ph idx="1"/>
          </p:nvPr>
        </p:nvSpPr>
        <p:spPr>
          <a:xfrm>
            <a:off x="304800" y="1371600"/>
            <a:ext cx="8686800" cy="3048000"/>
          </a:xfrm>
        </p:spPr>
        <p:txBody>
          <a:bodyPr>
            <a:normAutofit lnSpcReduction="10000"/>
          </a:bodyPr>
          <a:lstStyle/>
          <a:p>
            <a:r>
              <a:rPr lang="en-GB" dirty="0" smtClean="0"/>
              <a:t>Why </a:t>
            </a:r>
            <a:r>
              <a:rPr lang="en-GB" dirty="0"/>
              <a:t>Linux? </a:t>
            </a:r>
            <a:endParaRPr lang="en-GB" dirty="0" smtClean="0"/>
          </a:p>
          <a:p>
            <a:r>
              <a:rPr lang="en-GB" dirty="0"/>
              <a:t>Linux is by far the leading operating system in computers used in scientific </a:t>
            </a:r>
            <a:r>
              <a:rPr lang="en-GB" dirty="0" smtClean="0"/>
              <a:t>research (CERN, NASA, etc.)</a:t>
            </a:r>
          </a:p>
          <a:p>
            <a:r>
              <a:rPr lang="en-GB" b="1" dirty="0" smtClean="0">
                <a:solidFill>
                  <a:srgbClr val="C00000"/>
                </a:solidFill>
              </a:rPr>
              <a:t>Linux kernel:</a:t>
            </a:r>
            <a:r>
              <a:rPr lang="en-GB" b="1" dirty="0" smtClean="0"/>
              <a:t> </a:t>
            </a:r>
            <a:r>
              <a:rPr lang="en-GB" dirty="0" smtClean="0"/>
              <a:t>developed by </a:t>
            </a:r>
            <a:r>
              <a:rPr lang="en-GB" dirty="0"/>
              <a:t>Linus </a:t>
            </a:r>
            <a:r>
              <a:rPr lang="en-GB" dirty="0" smtClean="0"/>
              <a:t>Torvalds in the early 90s</a:t>
            </a:r>
          </a:p>
          <a:p>
            <a:r>
              <a:rPr lang="en-GB" b="1" dirty="0" smtClean="0">
                <a:solidFill>
                  <a:srgbClr val="C00000"/>
                </a:solidFill>
              </a:rPr>
              <a:t>GNU (‘GNU’s not Unix’): </a:t>
            </a:r>
            <a:r>
              <a:rPr lang="en-GB" dirty="0" smtClean="0"/>
              <a:t>open source utilities </a:t>
            </a:r>
            <a:r>
              <a:rPr lang="en-GB" dirty="0"/>
              <a:t>to perform standard actions </a:t>
            </a:r>
            <a:r>
              <a:rPr lang="en-GB" dirty="0" smtClean="0"/>
              <a:t>on the computer </a:t>
            </a:r>
            <a:r>
              <a:rPr lang="en-DE" dirty="0" smtClean="0"/>
              <a:t>–</a:t>
            </a:r>
            <a:r>
              <a:rPr lang="en-GB" dirty="0" smtClean="0"/>
              <a:t> no licencing</a:t>
            </a:r>
          </a:p>
          <a:p>
            <a:pPr lvl="1"/>
            <a:r>
              <a:rPr lang="en-GB" dirty="0" smtClean="0"/>
              <a:t>Linux kernel + GNU utilities = Linux operating system</a:t>
            </a:r>
          </a:p>
          <a:p>
            <a:r>
              <a:rPr lang="en-GB" dirty="0" smtClean="0"/>
              <a:t>Initially, the Linux OS was basically a free Unix </a:t>
            </a:r>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15</a:t>
            </a:fld>
            <a:endParaRPr lang="en-US" dirty="0"/>
          </a:p>
        </p:txBody>
      </p:sp>
      <p:pic>
        <p:nvPicPr>
          <p:cNvPr id="6" name="Picture 5"/>
          <p:cNvPicPr>
            <a:picLocks noChangeAspect="1"/>
          </p:cNvPicPr>
          <p:nvPr/>
        </p:nvPicPr>
        <p:blipFill>
          <a:blip r:embed="rId2"/>
          <a:stretch>
            <a:fillRect/>
          </a:stretch>
        </p:blipFill>
        <p:spPr>
          <a:xfrm>
            <a:off x="1066800" y="4325235"/>
            <a:ext cx="2024794" cy="2478056"/>
          </a:xfrm>
          <a:prstGeom prst="rect">
            <a:avLst/>
          </a:prstGeom>
        </p:spPr>
      </p:pic>
      <p:sp>
        <p:nvSpPr>
          <p:cNvPr id="12" name="Rectangle 11"/>
          <p:cNvSpPr/>
          <p:nvPr/>
        </p:nvSpPr>
        <p:spPr>
          <a:xfrm>
            <a:off x="3733800" y="5029200"/>
            <a:ext cx="4572000" cy="646331"/>
          </a:xfrm>
          <a:prstGeom prst="rect">
            <a:avLst/>
          </a:prstGeom>
        </p:spPr>
        <p:txBody>
          <a:bodyPr>
            <a:spAutoFit/>
          </a:bodyPr>
          <a:lstStyle/>
          <a:p>
            <a:r>
              <a:rPr lang="en-GB" dirty="0" smtClean="0">
                <a:solidFill>
                  <a:srgbClr val="222222"/>
                </a:solidFill>
                <a:effectLst/>
                <a:latin typeface="Arial" panose="020B0604020202020204" pitchFamily="34" charset="0"/>
              </a:rPr>
              <a:t>Penguin named Tux </a:t>
            </a:r>
            <a:r>
              <a:rPr lang="en-GB" dirty="0">
                <a:solidFill>
                  <a:srgbClr val="222222"/>
                </a:solidFill>
                <a:effectLst/>
                <a:latin typeface="Arial" panose="020B0604020202020204" pitchFamily="34" charset="0"/>
              </a:rPr>
              <a:t>is the most commonly used </a:t>
            </a:r>
            <a:r>
              <a:rPr lang="en-GB" dirty="0" smtClean="0">
                <a:solidFill>
                  <a:srgbClr val="222222"/>
                </a:solidFill>
                <a:effectLst/>
                <a:latin typeface="Arial" panose="020B0604020202020204" pitchFamily="34" charset="0"/>
              </a:rPr>
              <a:t>logo </a:t>
            </a:r>
            <a:r>
              <a:rPr lang="en-GB" dirty="0">
                <a:solidFill>
                  <a:srgbClr val="222222"/>
                </a:solidFill>
                <a:effectLst/>
                <a:latin typeface="Arial" panose="020B0604020202020204" pitchFamily="34" charset="0"/>
              </a:rPr>
              <a:t>for Linux</a:t>
            </a:r>
            <a:endParaRPr lang="en-US" dirty="0"/>
          </a:p>
        </p:txBody>
      </p:sp>
    </p:spTree>
    <p:extLst>
      <p:ext uri="{BB962C8B-B14F-4D97-AF65-F5344CB8AC3E}">
        <p14:creationId xmlns:p14="http://schemas.microsoft.com/office/powerpoint/2010/main" val="3910296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Free advert (#1)</a:t>
            </a:r>
            <a:endParaRPr lang="en-US" sz="3200"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16</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676400"/>
            <a:ext cx="7162800" cy="5146565"/>
          </a:xfrm>
          <a:prstGeom prst="rect">
            <a:avLst/>
          </a:prstGeom>
        </p:spPr>
      </p:pic>
      <p:sp>
        <p:nvSpPr>
          <p:cNvPr id="9" name="Content Placeholder 2"/>
          <p:cNvSpPr>
            <a:spLocks noGrp="1"/>
          </p:cNvSpPr>
          <p:nvPr>
            <p:ph idx="1"/>
          </p:nvPr>
        </p:nvSpPr>
        <p:spPr>
          <a:xfrm>
            <a:off x="304800" y="1219200"/>
            <a:ext cx="8686800" cy="990600"/>
          </a:xfrm>
        </p:spPr>
        <p:txBody>
          <a:bodyPr>
            <a:normAutofit/>
          </a:bodyPr>
          <a:lstStyle/>
          <a:p>
            <a:r>
              <a:rPr lang="en-GB" sz="2200" dirty="0" smtClean="0"/>
              <a:t>Unix family tree </a:t>
            </a:r>
            <a:r>
              <a:rPr lang="en-DE" sz="2200" dirty="0" smtClean="0"/>
              <a:t>–</a:t>
            </a:r>
            <a:r>
              <a:rPr lang="en-GB" sz="2200" dirty="0" smtClean="0"/>
              <a:t> Linux is one of its descendants </a:t>
            </a:r>
            <a:endParaRPr lang="en-GB" sz="2200" dirty="0"/>
          </a:p>
        </p:txBody>
      </p:sp>
    </p:spTree>
    <p:extLst>
      <p:ext uri="{BB962C8B-B14F-4D97-AF65-F5344CB8AC3E}">
        <p14:creationId xmlns:p14="http://schemas.microsoft.com/office/powerpoint/2010/main" val="10551992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Free advert (#1)</a:t>
            </a:r>
            <a:endParaRPr lang="en-US" sz="3200" dirty="0"/>
          </a:p>
        </p:txBody>
      </p:sp>
      <p:sp>
        <p:nvSpPr>
          <p:cNvPr id="3" name="Content Placeholder 2"/>
          <p:cNvSpPr>
            <a:spLocks noGrp="1"/>
          </p:cNvSpPr>
          <p:nvPr>
            <p:ph idx="1"/>
          </p:nvPr>
        </p:nvSpPr>
        <p:spPr>
          <a:xfrm>
            <a:off x="304800" y="1371600"/>
            <a:ext cx="8686800" cy="3505200"/>
          </a:xfrm>
        </p:spPr>
        <p:txBody>
          <a:bodyPr>
            <a:normAutofit fontScale="92500" lnSpcReduction="10000"/>
          </a:bodyPr>
          <a:lstStyle/>
          <a:p>
            <a:r>
              <a:rPr lang="en-GB" dirty="0" smtClean="0"/>
              <a:t>Linux family tree: Common Linux kernel and plethora of different Linux distributions built on top of it</a:t>
            </a:r>
          </a:p>
          <a:p>
            <a:pPr lvl="1"/>
            <a:r>
              <a:rPr lang="en-GB" dirty="0" smtClean="0"/>
              <a:t>Full-core: </a:t>
            </a:r>
            <a:r>
              <a:rPr lang="en-GB" dirty="0" err="1"/>
              <a:t>Debian</a:t>
            </a:r>
            <a:r>
              <a:rPr lang="en-GB" dirty="0"/>
              <a:t>, </a:t>
            </a:r>
            <a:r>
              <a:rPr lang="en-GB" dirty="0" smtClean="0"/>
              <a:t>Red Hat Enterprise, </a:t>
            </a:r>
            <a:r>
              <a:rPr lang="en-GB" dirty="0" err="1" smtClean="0"/>
              <a:t>openSUSE</a:t>
            </a:r>
            <a:r>
              <a:rPr lang="en-GB" dirty="0" smtClean="0"/>
              <a:t>, etc.</a:t>
            </a:r>
          </a:p>
          <a:p>
            <a:pPr lvl="1"/>
            <a:r>
              <a:rPr lang="en-GB" dirty="0" smtClean="0"/>
              <a:t>Specific: Ubuntu, Fedora, CentOS, Linux Mint, etc.  </a:t>
            </a:r>
          </a:p>
          <a:p>
            <a:r>
              <a:rPr lang="en-GB" dirty="0" smtClean="0"/>
              <a:t>Specific distributions are derivatives of full-core distributions: </a:t>
            </a:r>
          </a:p>
          <a:p>
            <a:pPr lvl="1"/>
            <a:r>
              <a:rPr lang="en-GB" dirty="0" smtClean="0"/>
              <a:t>Ubuntu is derivative of </a:t>
            </a:r>
            <a:r>
              <a:rPr lang="en-GB" dirty="0" err="1" smtClean="0"/>
              <a:t>Debian</a:t>
            </a:r>
            <a:r>
              <a:rPr lang="en-GB" dirty="0" smtClean="0"/>
              <a:t>, Fedora of Red Hat, etc. (see complete </a:t>
            </a:r>
            <a:r>
              <a:rPr lang="en-GB" dirty="0"/>
              <a:t>tree </a:t>
            </a:r>
            <a:r>
              <a:rPr lang="en-GB" dirty="0" smtClean="0"/>
              <a:t>at </a:t>
            </a:r>
            <a:r>
              <a:rPr lang="en-GB" sz="1900" dirty="0">
                <a:hlinkClick r:id="rId2"/>
              </a:rPr>
              <a:t>https://</a:t>
            </a:r>
            <a:r>
              <a:rPr lang="en-GB" sz="1900" dirty="0" smtClean="0">
                <a:hlinkClick r:id="rId2"/>
              </a:rPr>
              <a:t>distrowatch.com/images/other/distro-family-tree.png</a:t>
            </a:r>
            <a:r>
              <a:rPr lang="en-GB" dirty="0" smtClean="0"/>
              <a:t>)</a:t>
            </a:r>
          </a:p>
          <a:p>
            <a:r>
              <a:rPr lang="en-GB" dirty="0" smtClean="0"/>
              <a:t>The material presented in this course will be demonstrated on Ubuntu, but it applies also to any other Linux distribution</a:t>
            </a:r>
          </a:p>
          <a:p>
            <a:r>
              <a:rPr lang="en-GB" dirty="0" smtClean="0"/>
              <a:t>Regular updates on all distributions</a:t>
            </a:r>
            <a:r>
              <a:rPr lang="en-GB" dirty="0"/>
              <a:t>: </a:t>
            </a:r>
            <a:r>
              <a:rPr lang="en-GB" sz="1900" dirty="0">
                <a:hlinkClick r:id="rId3"/>
              </a:rPr>
              <a:t>https://</a:t>
            </a:r>
            <a:r>
              <a:rPr lang="en-GB" sz="1900" dirty="0" smtClean="0">
                <a:hlinkClick r:id="rId3"/>
              </a:rPr>
              <a:t>distrowatch.com</a:t>
            </a:r>
            <a:endParaRPr lang="en-GB" sz="1900" dirty="0" smtClean="0"/>
          </a:p>
          <a:p>
            <a:pPr marL="109728" indent="0">
              <a:buNone/>
            </a:pPr>
            <a:endParaRPr lang="en-GB"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17</a:t>
            </a:fld>
            <a:endParaRPr lang="en-US" dirty="0"/>
          </a:p>
        </p:txBody>
      </p:sp>
      <p:pic>
        <p:nvPicPr>
          <p:cNvPr id="3074" name="Picture 2" descr="The Ubuntu 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8333" y="4735830"/>
            <a:ext cx="4377267" cy="1969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29512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en-DE" sz="3200" b="1" dirty="0" smtClean="0"/>
              <a:t>Key people</a:t>
            </a:r>
            <a:endParaRPr lang="en-US" sz="3200" dirty="0"/>
          </a:p>
        </p:txBody>
      </p:sp>
      <p:sp>
        <p:nvSpPr>
          <p:cNvPr id="3" name="Content Placeholder 2"/>
          <p:cNvSpPr>
            <a:spLocks noGrp="1"/>
          </p:cNvSpPr>
          <p:nvPr>
            <p:ph idx="1"/>
          </p:nvPr>
        </p:nvSpPr>
        <p:spPr>
          <a:xfrm>
            <a:off x="381000" y="1371600"/>
            <a:ext cx="2590800" cy="1143000"/>
          </a:xfrm>
        </p:spPr>
        <p:txBody>
          <a:bodyPr>
            <a:normAutofit/>
          </a:bodyPr>
          <a:lstStyle/>
          <a:p>
            <a:r>
              <a:rPr lang="en-DE" sz="2200" dirty="0" smtClean="0"/>
              <a:t>Ken Thompson</a:t>
            </a:r>
            <a:endParaRPr lang="en-GB" sz="2200" dirty="0" smtClean="0"/>
          </a:p>
          <a:p>
            <a:pPr marL="109728" indent="0">
              <a:buNone/>
            </a:pPr>
            <a:endParaRPr lang="en-GB"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18</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42" y="2057399"/>
            <a:ext cx="2212858" cy="3242095"/>
          </a:xfrm>
          <a:prstGeom prst="rect">
            <a:avLst/>
          </a:prstGeom>
        </p:spPr>
      </p:pic>
      <p:sp>
        <p:nvSpPr>
          <p:cNvPr id="7" name="Content Placeholder 2"/>
          <p:cNvSpPr txBox="1">
            <a:spLocks/>
          </p:cNvSpPr>
          <p:nvPr/>
        </p:nvSpPr>
        <p:spPr>
          <a:xfrm>
            <a:off x="3352800" y="1371600"/>
            <a:ext cx="2328740" cy="1143000"/>
          </a:xfrm>
          <a:prstGeom prst="rect">
            <a:avLst/>
          </a:prstGeom>
        </p:spPr>
        <p:txBody>
          <a:bodyPr vert="horz">
            <a:normAutofit/>
          </a:bodyPr>
          <a:lstStyle>
            <a:lvl1pPr marL="365760" indent="-256032" algn="l" rtl="0" eaLnBrk="1" latinLnBrk="0" hangingPunct="1">
              <a:spcBef>
                <a:spcPts val="300"/>
              </a:spcBef>
              <a:buClr>
                <a:schemeClr val="tx1"/>
              </a:buClr>
              <a:buSzPct val="125000"/>
              <a:buFont typeface="Arial" panose="020B0604020202020204" pitchFamily="34" charset="0"/>
              <a:buChar char="•"/>
              <a:defRPr kumimoji="0" sz="2400" kern="1200">
                <a:solidFill>
                  <a:schemeClr val="tx1"/>
                </a:solidFill>
                <a:latin typeface="Helvetica" pitchFamily="34" charset="0"/>
                <a:ea typeface="+mn-ea"/>
                <a:cs typeface="+mn-cs"/>
              </a:defRPr>
            </a:lvl1pPr>
            <a:lvl2pPr marL="658368" indent="-246888" algn="l" rtl="0" eaLnBrk="1" latinLnBrk="0" hangingPunct="1">
              <a:spcBef>
                <a:spcPts val="300"/>
              </a:spcBef>
              <a:buClr>
                <a:schemeClr val="accent2"/>
              </a:buClr>
              <a:buSzPct val="90000"/>
              <a:buFont typeface="Courier New" panose="02070309020205020404" pitchFamily="49" charset="0"/>
              <a:buChar char="o"/>
              <a:defRPr kumimoji="0" sz="2200" kern="1200">
                <a:solidFill>
                  <a:schemeClr val="accent2"/>
                </a:solidFill>
                <a:latin typeface="Helvetica" pitchFamily="34" charset="0"/>
                <a:ea typeface="+mn-ea"/>
                <a:cs typeface="+mn-cs"/>
              </a:defRPr>
            </a:lvl2pPr>
            <a:lvl3pPr marL="923544" indent="-219456" algn="l" rtl="0" eaLnBrk="1" latinLnBrk="0" hangingPunct="1">
              <a:spcBef>
                <a:spcPts val="300"/>
              </a:spcBef>
              <a:buClr>
                <a:schemeClr val="accent1"/>
              </a:buClr>
              <a:buFont typeface="Wingdings 2"/>
              <a:buChar char=""/>
              <a:defRPr kumimoji="0" sz="1800" kern="1200">
                <a:solidFill>
                  <a:schemeClr val="accent1"/>
                </a:solidFill>
                <a:latin typeface="Helvetica" pitchFamily="34" charset="0"/>
                <a:ea typeface="+mn-ea"/>
                <a:cs typeface="+mn-cs"/>
              </a:defRPr>
            </a:lvl3pPr>
            <a:lvl4pPr marL="1179576" indent="-201168" algn="l" rtl="0" eaLnBrk="1" latinLnBrk="0" hangingPunct="1">
              <a:spcBef>
                <a:spcPts val="300"/>
              </a:spcBef>
              <a:buClr>
                <a:schemeClr val="accent1"/>
              </a:buClr>
              <a:buFont typeface="Wingdings 2"/>
              <a:buChar char=""/>
              <a:defRPr kumimoji="0" sz="1400" kern="1200">
                <a:solidFill>
                  <a:schemeClr val="accent1"/>
                </a:solidFill>
                <a:latin typeface="Helvetica" pitchFamily="34" charset="0"/>
                <a:ea typeface="+mn-ea"/>
                <a:cs typeface="+mn-cs"/>
              </a:defRPr>
            </a:lvl4pPr>
            <a:lvl5pPr marL="1389888" indent="-182880" algn="l" rtl="0" eaLnBrk="1" latinLnBrk="0" hangingPunct="1">
              <a:spcBef>
                <a:spcPts val="300"/>
              </a:spcBef>
              <a:buClr>
                <a:schemeClr val="accent3"/>
              </a:buClr>
              <a:buFont typeface="Georgia"/>
              <a:buChar char="▫"/>
              <a:defRPr kumimoji="0" sz="1400" kern="1200">
                <a:solidFill>
                  <a:schemeClr val="accent3"/>
                </a:solidFill>
                <a:latin typeface="Helvetica" pitchFamily="34" charset="0"/>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fontAlgn="auto">
              <a:spcAft>
                <a:spcPts val="0"/>
              </a:spcAft>
            </a:pPr>
            <a:r>
              <a:rPr lang="en-DE" sz="2200" dirty="0" smtClean="0">
                <a:effectLst/>
              </a:rPr>
              <a:t>Denis Ritchie</a:t>
            </a:r>
            <a:endParaRPr lang="en-GB" sz="2200" dirty="0" smtClean="0">
              <a:effectLst/>
            </a:endParaRPr>
          </a:p>
          <a:p>
            <a:pPr marL="109728" indent="0" fontAlgn="auto">
              <a:spcAft>
                <a:spcPts val="0"/>
              </a:spcAft>
              <a:buFont typeface="Arial" panose="020B0604020202020204" pitchFamily="34" charset="0"/>
              <a:buNone/>
            </a:pPr>
            <a:endParaRPr lang="en-GB" dirty="0">
              <a:effectLst/>
            </a:endParaRPr>
          </a:p>
        </p:txBody>
      </p:sp>
      <p:sp>
        <p:nvSpPr>
          <p:cNvPr id="6" name="TextBox 5"/>
          <p:cNvSpPr txBox="1"/>
          <p:nvPr/>
        </p:nvSpPr>
        <p:spPr>
          <a:xfrm>
            <a:off x="646381" y="5383649"/>
            <a:ext cx="2411238" cy="1169551"/>
          </a:xfrm>
          <a:prstGeom prst="rect">
            <a:avLst/>
          </a:prstGeom>
          <a:noFill/>
        </p:spPr>
        <p:txBody>
          <a:bodyPr wrap="none" rtlCol="0">
            <a:spAutoFit/>
          </a:bodyPr>
          <a:lstStyle/>
          <a:p>
            <a:r>
              <a:rPr lang="en-US" sz="1400" dirty="0">
                <a:effectLst/>
                <a:latin typeface="Helvetica" panose="020B0604020202020204" pitchFamily="34" charset="0"/>
                <a:cs typeface="Helvetica" panose="020B0604020202020204" pitchFamily="34" charset="0"/>
              </a:rPr>
              <a:t>UNIX </a:t>
            </a:r>
            <a:r>
              <a:rPr lang="en-DE" sz="1400" dirty="0" smtClean="0">
                <a:effectLst/>
                <a:latin typeface="Helvetica" panose="020B0604020202020204" pitchFamily="34" charset="0"/>
                <a:cs typeface="Helvetica" panose="020B0604020202020204" pitchFamily="34" charset="0"/>
              </a:rPr>
              <a:t>o</a:t>
            </a:r>
            <a:r>
              <a:rPr lang="en-US" sz="1400" dirty="0" err="1" smtClean="0">
                <a:effectLst/>
                <a:latin typeface="Helvetica" panose="020B0604020202020204" pitchFamily="34" charset="0"/>
                <a:cs typeface="Helvetica" panose="020B0604020202020204" pitchFamily="34" charset="0"/>
              </a:rPr>
              <a:t>perating</a:t>
            </a:r>
            <a:r>
              <a:rPr lang="en-US" sz="1400" dirty="0" smtClean="0">
                <a:effectLst/>
                <a:latin typeface="Helvetica" panose="020B0604020202020204" pitchFamily="34" charset="0"/>
                <a:cs typeface="Helvetica" panose="020B0604020202020204" pitchFamily="34" charset="0"/>
              </a:rPr>
              <a:t> </a:t>
            </a:r>
            <a:r>
              <a:rPr lang="en-DE" sz="1400" dirty="0" smtClean="0">
                <a:effectLst/>
                <a:latin typeface="Helvetica" panose="020B0604020202020204" pitchFamily="34" charset="0"/>
                <a:cs typeface="Helvetica" panose="020B0604020202020204" pitchFamily="34" charset="0"/>
              </a:rPr>
              <a:t>s</a:t>
            </a:r>
            <a:r>
              <a:rPr lang="en-US" sz="1400" dirty="0" err="1" smtClean="0">
                <a:effectLst/>
                <a:latin typeface="Helvetica" panose="020B0604020202020204" pitchFamily="34" charset="0"/>
                <a:cs typeface="Helvetica" panose="020B0604020202020204" pitchFamily="34" charset="0"/>
              </a:rPr>
              <a:t>ystem</a:t>
            </a:r>
            <a:r>
              <a:rPr lang="en-DE" sz="1400" dirty="0" smtClean="0">
                <a:effectLst/>
                <a:latin typeface="Helvetica" panose="020B0604020202020204" pitchFamily="34" charset="0"/>
                <a:cs typeface="Helvetica" panose="020B0604020202020204" pitchFamily="34" charset="0"/>
              </a:rPr>
              <a:t>, </a:t>
            </a:r>
          </a:p>
          <a:p>
            <a:r>
              <a:rPr lang="en-DE" sz="1400" dirty="0" smtClean="0">
                <a:effectLst/>
                <a:latin typeface="Helvetica" panose="020B0604020202020204" pitchFamily="34" charset="0"/>
                <a:cs typeface="Helvetica" panose="020B0604020202020204" pitchFamily="34" charset="0"/>
              </a:rPr>
              <a:t>UTF-8 encoding,</a:t>
            </a:r>
          </a:p>
          <a:p>
            <a:r>
              <a:rPr lang="en-DE" sz="1400" dirty="0">
                <a:effectLst/>
                <a:latin typeface="Helvetica" panose="020B0604020202020204" pitchFamily="34" charset="0"/>
                <a:cs typeface="Helvetica" panose="020B0604020202020204" pitchFamily="34" charset="0"/>
              </a:rPr>
              <a:t>Go programming language, </a:t>
            </a:r>
            <a:endParaRPr lang="en-DE" sz="1400" dirty="0" smtClean="0">
              <a:effectLst/>
              <a:latin typeface="Helvetica" panose="020B0604020202020204" pitchFamily="34" charset="0"/>
              <a:cs typeface="Helvetica" panose="020B0604020202020204" pitchFamily="34" charset="0"/>
            </a:endParaRPr>
          </a:p>
          <a:p>
            <a:r>
              <a:rPr lang="en-US" sz="1400" dirty="0" smtClean="0">
                <a:effectLst/>
                <a:latin typeface="Helvetica" panose="020B0604020202020204" pitchFamily="34" charset="0"/>
                <a:cs typeface="Helvetica" panose="020B0604020202020204" pitchFamily="34" charset="0"/>
              </a:rPr>
              <a:t>C</a:t>
            </a:r>
            <a:r>
              <a:rPr lang="en-DE" sz="1400" dirty="0" smtClean="0">
                <a:effectLst/>
                <a:latin typeface="Helvetica" panose="020B0604020202020204" pitchFamily="34" charset="0"/>
                <a:cs typeface="Helvetica" panose="020B0604020202020204" pitchFamily="34" charset="0"/>
              </a:rPr>
              <a:t>hess tablebases,</a:t>
            </a:r>
          </a:p>
          <a:p>
            <a:r>
              <a:rPr lang="en-DE" sz="1400" dirty="0" smtClean="0">
                <a:effectLst/>
                <a:latin typeface="Helvetica" panose="020B0604020202020204" pitchFamily="34" charset="0"/>
                <a:cs typeface="Helvetica" panose="020B0604020202020204" pitchFamily="34" charset="0"/>
              </a:rPr>
              <a:t>...</a:t>
            </a:r>
            <a:endParaRPr lang="en-US" sz="1400" dirty="0">
              <a:effectLst/>
              <a:latin typeface="Helvetica" panose="020B0604020202020204" pitchFamily="34" charset="0"/>
              <a:cs typeface="Helvetica" panose="020B0604020202020204" pitchFamily="34" charset="0"/>
            </a:endParaRPr>
          </a:p>
        </p:txBody>
      </p:sp>
      <p:pic>
        <p:nvPicPr>
          <p:cNvPr id="9" name="Picture 8"/>
          <p:cNvPicPr>
            <a:picLocks noChangeAspect="1"/>
          </p:cNvPicPr>
          <p:nvPr/>
        </p:nvPicPr>
        <p:blipFill>
          <a:blip r:embed="rId3"/>
          <a:stretch>
            <a:fillRect/>
          </a:stretch>
        </p:blipFill>
        <p:spPr>
          <a:xfrm>
            <a:off x="3321251" y="2078415"/>
            <a:ext cx="2622349" cy="3221080"/>
          </a:xfrm>
          <a:prstGeom prst="rect">
            <a:avLst/>
          </a:prstGeom>
        </p:spPr>
      </p:pic>
      <p:sp>
        <p:nvSpPr>
          <p:cNvPr id="11" name="TextBox 10"/>
          <p:cNvSpPr txBox="1"/>
          <p:nvPr/>
        </p:nvSpPr>
        <p:spPr>
          <a:xfrm>
            <a:off x="3429000" y="5383649"/>
            <a:ext cx="2252540" cy="738664"/>
          </a:xfrm>
          <a:prstGeom prst="rect">
            <a:avLst/>
          </a:prstGeom>
          <a:noFill/>
        </p:spPr>
        <p:txBody>
          <a:bodyPr wrap="none" rtlCol="0">
            <a:spAutoFit/>
          </a:bodyPr>
          <a:lstStyle/>
          <a:p>
            <a:r>
              <a:rPr lang="en-US" sz="1400" dirty="0" smtClean="0">
                <a:effectLst/>
                <a:latin typeface="Helvetica" panose="020B0604020202020204" pitchFamily="34" charset="0"/>
                <a:cs typeface="Helvetica" panose="020B0604020202020204" pitchFamily="34" charset="0"/>
              </a:rPr>
              <a:t>C</a:t>
            </a:r>
            <a:r>
              <a:rPr lang="en-DE" sz="1400" dirty="0" smtClean="0">
                <a:effectLst/>
                <a:latin typeface="Helvetica" panose="020B0604020202020204" pitchFamily="34" charset="0"/>
                <a:cs typeface="Helvetica" panose="020B0604020202020204" pitchFamily="34" charset="0"/>
              </a:rPr>
              <a:t> programming language,</a:t>
            </a:r>
          </a:p>
          <a:p>
            <a:r>
              <a:rPr lang="en-US" sz="1400" dirty="0">
                <a:effectLst/>
                <a:latin typeface="Helvetica" panose="020B0604020202020204" pitchFamily="34" charset="0"/>
                <a:cs typeface="Helvetica" panose="020B0604020202020204" pitchFamily="34" charset="0"/>
              </a:rPr>
              <a:t>UNIX </a:t>
            </a:r>
            <a:r>
              <a:rPr lang="en-DE" sz="1400" dirty="0" smtClean="0">
                <a:effectLst/>
                <a:latin typeface="Helvetica" panose="020B0604020202020204" pitchFamily="34" charset="0"/>
                <a:cs typeface="Helvetica" panose="020B0604020202020204" pitchFamily="34" charset="0"/>
              </a:rPr>
              <a:t>o</a:t>
            </a:r>
            <a:r>
              <a:rPr lang="en-US" sz="1400" dirty="0" err="1" smtClean="0">
                <a:effectLst/>
                <a:latin typeface="Helvetica" panose="020B0604020202020204" pitchFamily="34" charset="0"/>
                <a:cs typeface="Helvetica" panose="020B0604020202020204" pitchFamily="34" charset="0"/>
              </a:rPr>
              <a:t>perating</a:t>
            </a:r>
            <a:r>
              <a:rPr lang="en-US" sz="1400" dirty="0" smtClean="0">
                <a:effectLst/>
                <a:latin typeface="Helvetica" panose="020B0604020202020204" pitchFamily="34" charset="0"/>
                <a:cs typeface="Helvetica" panose="020B0604020202020204" pitchFamily="34" charset="0"/>
              </a:rPr>
              <a:t> </a:t>
            </a:r>
            <a:r>
              <a:rPr lang="en-DE" sz="1400" dirty="0" smtClean="0">
                <a:effectLst/>
                <a:latin typeface="Helvetica" panose="020B0604020202020204" pitchFamily="34" charset="0"/>
                <a:cs typeface="Helvetica" panose="020B0604020202020204" pitchFamily="34" charset="0"/>
              </a:rPr>
              <a:t>s</a:t>
            </a:r>
            <a:r>
              <a:rPr lang="en-US" sz="1400" dirty="0" err="1" smtClean="0">
                <a:effectLst/>
                <a:latin typeface="Helvetica" panose="020B0604020202020204" pitchFamily="34" charset="0"/>
                <a:cs typeface="Helvetica" panose="020B0604020202020204" pitchFamily="34" charset="0"/>
              </a:rPr>
              <a:t>ystem</a:t>
            </a:r>
            <a:r>
              <a:rPr lang="en-DE" sz="1400" dirty="0" smtClean="0">
                <a:effectLst/>
                <a:latin typeface="Helvetica" panose="020B0604020202020204" pitchFamily="34" charset="0"/>
                <a:cs typeface="Helvetica" panose="020B0604020202020204" pitchFamily="34" charset="0"/>
              </a:rPr>
              <a:t>,</a:t>
            </a:r>
          </a:p>
          <a:p>
            <a:r>
              <a:rPr lang="en-DE" sz="1400" dirty="0" smtClean="0">
                <a:effectLst/>
                <a:latin typeface="Helvetica" panose="020B0604020202020204" pitchFamily="34" charset="0"/>
                <a:cs typeface="Helvetica" panose="020B0604020202020204" pitchFamily="34" charset="0"/>
              </a:rPr>
              <a:t>...</a:t>
            </a:r>
            <a:endParaRPr lang="en-US" sz="1400" dirty="0">
              <a:effectLst/>
              <a:latin typeface="Helvetica" panose="020B0604020202020204" pitchFamily="34" charset="0"/>
              <a:cs typeface="Helvetica" panose="020B0604020202020204" pitchFamily="34" charset="0"/>
            </a:endParaRPr>
          </a:p>
        </p:txBody>
      </p:sp>
      <p:sp>
        <p:nvSpPr>
          <p:cNvPr id="13" name="Content Placeholder 2"/>
          <p:cNvSpPr txBox="1">
            <a:spLocks/>
          </p:cNvSpPr>
          <p:nvPr/>
        </p:nvSpPr>
        <p:spPr>
          <a:xfrm>
            <a:off x="6293051" y="1371600"/>
            <a:ext cx="2698549" cy="1143000"/>
          </a:xfrm>
          <a:prstGeom prst="rect">
            <a:avLst/>
          </a:prstGeom>
        </p:spPr>
        <p:txBody>
          <a:bodyPr vert="horz">
            <a:normAutofit/>
          </a:bodyPr>
          <a:lstStyle>
            <a:lvl1pPr marL="365760" indent="-256032" algn="l" rtl="0" eaLnBrk="1" latinLnBrk="0" hangingPunct="1">
              <a:spcBef>
                <a:spcPts val="300"/>
              </a:spcBef>
              <a:buClr>
                <a:schemeClr val="tx1"/>
              </a:buClr>
              <a:buSzPct val="125000"/>
              <a:buFont typeface="Arial" panose="020B0604020202020204" pitchFamily="34" charset="0"/>
              <a:buChar char="•"/>
              <a:defRPr kumimoji="0" sz="2400" kern="1200">
                <a:solidFill>
                  <a:schemeClr val="tx1"/>
                </a:solidFill>
                <a:latin typeface="Helvetica" pitchFamily="34" charset="0"/>
                <a:ea typeface="+mn-ea"/>
                <a:cs typeface="+mn-cs"/>
              </a:defRPr>
            </a:lvl1pPr>
            <a:lvl2pPr marL="658368" indent="-246888" algn="l" rtl="0" eaLnBrk="1" latinLnBrk="0" hangingPunct="1">
              <a:spcBef>
                <a:spcPts val="300"/>
              </a:spcBef>
              <a:buClr>
                <a:schemeClr val="accent2"/>
              </a:buClr>
              <a:buSzPct val="90000"/>
              <a:buFont typeface="Courier New" panose="02070309020205020404" pitchFamily="49" charset="0"/>
              <a:buChar char="o"/>
              <a:defRPr kumimoji="0" sz="2200" kern="1200">
                <a:solidFill>
                  <a:schemeClr val="accent2"/>
                </a:solidFill>
                <a:latin typeface="Helvetica" pitchFamily="34" charset="0"/>
                <a:ea typeface="+mn-ea"/>
                <a:cs typeface="+mn-cs"/>
              </a:defRPr>
            </a:lvl2pPr>
            <a:lvl3pPr marL="923544" indent="-219456" algn="l" rtl="0" eaLnBrk="1" latinLnBrk="0" hangingPunct="1">
              <a:spcBef>
                <a:spcPts val="300"/>
              </a:spcBef>
              <a:buClr>
                <a:schemeClr val="accent1"/>
              </a:buClr>
              <a:buFont typeface="Wingdings 2"/>
              <a:buChar char=""/>
              <a:defRPr kumimoji="0" sz="1800" kern="1200">
                <a:solidFill>
                  <a:schemeClr val="accent1"/>
                </a:solidFill>
                <a:latin typeface="Helvetica" pitchFamily="34" charset="0"/>
                <a:ea typeface="+mn-ea"/>
                <a:cs typeface="+mn-cs"/>
              </a:defRPr>
            </a:lvl3pPr>
            <a:lvl4pPr marL="1179576" indent="-201168" algn="l" rtl="0" eaLnBrk="1" latinLnBrk="0" hangingPunct="1">
              <a:spcBef>
                <a:spcPts val="300"/>
              </a:spcBef>
              <a:buClr>
                <a:schemeClr val="accent1"/>
              </a:buClr>
              <a:buFont typeface="Wingdings 2"/>
              <a:buChar char=""/>
              <a:defRPr kumimoji="0" sz="1400" kern="1200">
                <a:solidFill>
                  <a:schemeClr val="accent1"/>
                </a:solidFill>
                <a:latin typeface="Helvetica" pitchFamily="34" charset="0"/>
                <a:ea typeface="+mn-ea"/>
                <a:cs typeface="+mn-cs"/>
              </a:defRPr>
            </a:lvl4pPr>
            <a:lvl5pPr marL="1389888" indent="-182880" algn="l" rtl="0" eaLnBrk="1" latinLnBrk="0" hangingPunct="1">
              <a:spcBef>
                <a:spcPts val="300"/>
              </a:spcBef>
              <a:buClr>
                <a:schemeClr val="accent3"/>
              </a:buClr>
              <a:buFont typeface="Georgia"/>
              <a:buChar char="▫"/>
              <a:defRPr kumimoji="0" sz="1400" kern="1200">
                <a:solidFill>
                  <a:schemeClr val="accent3"/>
                </a:solidFill>
                <a:latin typeface="Helvetica" pitchFamily="34" charset="0"/>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fontAlgn="auto">
              <a:spcAft>
                <a:spcPts val="0"/>
              </a:spcAft>
            </a:pPr>
            <a:r>
              <a:rPr lang="en-DE" sz="2200" dirty="0" smtClean="0">
                <a:effectLst/>
              </a:rPr>
              <a:t>Linus Torwalds</a:t>
            </a:r>
            <a:endParaRPr lang="en-GB" sz="2200" dirty="0" smtClean="0">
              <a:effectLst/>
            </a:endParaRPr>
          </a:p>
          <a:p>
            <a:pPr marL="109728" indent="0" fontAlgn="auto">
              <a:spcAft>
                <a:spcPts val="0"/>
              </a:spcAft>
              <a:buFont typeface="Arial" panose="020B0604020202020204" pitchFamily="34" charset="0"/>
              <a:buNone/>
            </a:pPr>
            <a:endParaRPr lang="en-GB" dirty="0">
              <a:effectLst/>
            </a:endParaRPr>
          </a:p>
        </p:txBody>
      </p:sp>
      <p:sp>
        <p:nvSpPr>
          <p:cNvPr id="15" name="TextBox 14"/>
          <p:cNvSpPr txBox="1"/>
          <p:nvPr/>
        </p:nvSpPr>
        <p:spPr>
          <a:xfrm>
            <a:off x="6465461" y="5433536"/>
            <a:ext cx="2373739" cy="523220"/>
          </a:xfrm>
          <a:prstGeom prst="rect">
            <a:avLst/>
          </a:prstGeom>
          <a:noFill/>
        </p:spPr>
        <p:txBody>
          <a:bodyPr wrap="square" rtlCol="0">
            <a:spAutoFit/>
          </a:bodyPr>
          <a:lstStyle/>
          <a:p>
            <a:r>
              <a:rPr lang="en-US" sz="1400" dirty="0" smtClean="0">
                <a:effectLst/>
                <a:latin typeface="Helvetica" panose="020B0604020202020204" pitchFamily="34" charset="0"/>
                <a:cs typeface="Helvetica" panose="020B0604020202020204" pitchFamily="34" charset="0"/>
              </a:rPr>
              <a:t>L</a:t>
            </a:r>
            <a:r>
              <a:rPr lang="en-DE" sz="1400" dirty="0" smtClean="0">
                <a:effectLst/>
                <a:latin typeface="Helvetica" panose="020B0604020202020204" pitchFamily="34" charset="0"/>
                <a:cs typeface="Helvetica" panose="020B0604020202020204" pitchFamily="34" charset="0"/>
              </a:rPr>
              <a:t>inux</a:t>
            </a:r>
            <a:r>
              <a:rPr lang="en-US" sz="1400" dirty="0" smtClean="0">
                <a:effectLst/>
                <a:latin typeface="Helvetica" panose="020B0604020202020204" pitchFamily="34" charset="0"/>
                <a:cs typeface="Helvetica" panose="020B0604020202020204" pitchFamily="34" charset="0"/>
              </a:rPr>
              <a:t> </a:t>
            </a:r>
            <a:r>
              <a:rPr lang="en-DE" sz="1400" dirty="0" smtClean="0">
                <a:effectLst/>
                <a:latin typeface="Helvetica" panose="020B0604020202020204" pitchFamily="34" charset="0"/>
                <a:cs typeface="Helvetica" panose="020B0604020202020204" pitchFamily="34" charset="0"/>
              </a:rPr>
              <a:t>o</a:t>
            </a:r>
            <a:r>
              <a:rPr lang="en-US" sz="1400" dirty="0" err="1" smtClean="0">
                <a:effectLst/>
                <a:latin typeface="Helvetica" panose="020B0604020202020204" pitchFamily="34" charset="0"/>
                <a:cs typeface="Helvetica" panose="020B0604020202020204" pitchFamily="34" charset="0"/>
              </a:rPr>
              <a:t>perating</a:t>
            </a:r>
            <a:r>
              <a:rPr lang="en-US" sz="1400" dirty="0" smtClean="0">
                <a:effectLst/>
                <a:latin typeface="Helvetica" panose="020B0604020202020204" pitchFamily="34" charset="0"/>
                <a:cs typeface="Helvetica" panose="020B0604020202020204" pitchFamily="34" charset="0"/>
              </a:rPr>
              <a:t> </a:t>
            </a:r>
            <a:r>
              <a:rPr lang="en-DE" sz="1400" dirty="0" smtClean="0">
                <a:effectLst/>
                <a:latin typeface="Helvetica" panose="020B0604020202020204" pitchFamily="34" charset="0"/>
                <a:cs typeface="Helvetica" panose="020B0604020202020204" pitchFamily="34" charset="0"/>
              </a:rPr>
              <a:t>s</a:t>
            </a:r>
            <a:r>
              <a:rPr lang="en-US" sz="1400" dirty="0" err="1" smtClean="0">
                <a:effectLst/>
                <a:latin typeface="Helvetica" panose="020B0604020202020204" pitchFamily="34" charset="0"/>
                <a:cs typeface="Helvetica" panose="020B0604020202020204" pitchFamily="34" charset="0"/>
              </a:rPr>
              <a:t>ystem</a:t>
            </a:r>
            <a:r>
              <a:rPr lang="en-DE" sz="1400" dirty="0" smtClean="0">
                <a:effectLst/>
                <a:latin typeface="Helvetica" panose="020B0604020202020204" pitchFamily="34" charset="0"/>
                <a:cs typeface="Helvetica" panose="020B0604020202020204" pitchFamily="34" charset="0"/>
              </a:rPr>
              <a:t>,</a:t>
            </a:r>
          </a:p>
          <a:p>
            <a:r>
              <a:rPr lang="en-DE" sz="1400" dirty="0" smtClean="0">
                <a:effectLst/>
                <a:latin typeface="Helvetica" panose="020B0604020202020204" pitchFamily="34" charset="0"/>
                <a:cs typeface="Helvetica" panose="020B0604020202020204" pitchFamily="34" charset="0"/>
              </a:rPr>
              <a:t>Git (</a:t>
            </a:r>
            <a:r>
              <a:rPr lang="en-US" sz="1400" dirty="0" smtClean="0">
                <a:effectLst/>
                <a:latin typeface="Helvetica" panose="020B0604020202020204" pitchFamily="34" charset="0"/>
                <a:cs typeface="Helvetica" panose="020B0604020202020204" pitchFamily="34" charset="0"/>
              </a:rPr>
              <a:t>version </a:t>
            </a:r>
            <a:r>
              <a:rPr lang="en-US" sz="1400" dirty="0">
                <a:effectLst/>
                <a:latin typeface="Helvetica" panose="020B0604020202020204" pitchFamily="34" charset="0"/>
                <a:cs typeface="Helvetica" panose="020B0604020202020204" pitchFamily="34" charset="0"/>
              </a:rPr>
              <a:t>control </a:t>
            </a:r>
            <a:r>
              <a:rPr lang="en-US" sz="1400" dirty="0" smtClean="0">
                <a:effectLst/>
                <a:latin typeface="Helvetica" panose="020B0604020202020204" pitchFamily="34" charset="0"/>
                <a:cs typeface="Helvetica" panose="020B0604020202020204" pitchFamily="34" charset="0"/>
              </a:rPr>
              <a:t>system</a:t>
            </a:r>
            <a:r>
              <a:rPr lang="en-DE" sz="1400" dirty="0" smtClean="0">
                <a:effectLst/>
                <a:latin typeface="Helvetica" panose="020B0604020202020204" pitchFamily="34" charset="0"/>
                <a:cs typeface="Helvetica" panose="020B0604020202020204" pitchFamily="34" charset="0"/>
              </a:rPr>
              <a:t>)</a:t>
            </a:r>
            <a:endParaRPr lang="en-US" sz="1400" dirty="0">
              <a:effectLst/>
              <a:latin typeface="Helvetica" panose="020B0604020202020204" pitchFamily="34" charset="0"/>
              <a:cs typeface="Helvetica" panose="020B0604020202020204" pitchFamily="34" charset="0"/>
            </a:endParaRPr>
          </a:p>
        </p:txBody>
      </p:sp>
      <p:pic>
        <p:nvPicPr>
          <p:cNvPr id="16" name="Picture 15"/>
          <p:cNvPicPr>
            <a:picLocks noChangeAspect="1"/>
          </p:cNvPicPr>
          <p:nvPr/>
        </p:nvPicPr>
        <p:blipFill>
          <a:blip r:embed="rId4"/>
          <a:stretch>
            <a:fillRect/>
          </a:stretch>
        </p:blipFill>
        <p:spPr>
          <a:xfrm>
            <a:off x="6426200" y="2057400"/>
            <a:ext cx="2278661" cy="3242095"/>
          </a:xfrm>
          <a:prstGeom prst="rect">
            <a:avLst/>
          </a:prstGeom>
        </p:spPr>
      </p:pic>
    </p:spTree>
    <p:extLst>
      <p:ext uri="{BB962C8B-B14F-4D97-AF65-F5344CB8AC3E}">
        <p14:creationId xmlns:p14="http://schemas.microsoft.com/office/powerpoint/2010/main" val="35249481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Getting Ubuntu for Windows users</a:t>
            </a:r>
            <a:endParaRPr lang="en-US" sz="3200" dirty="0"/>
          </a:p>
        </p:txBody>
      </p:sp>
      <p:sp>
        <p:nvSpPr>
          <p:cNvPr id="3" name="Content Placeholder 2"/>
          <p:cNvSpPr>
            <a:spLocks noGrp="1"/>
          </p:cNvSpPr>
          <p:nvPr>
            <p:ph idx="1"/>
          </p:nvPr>
        </p:nvSpPr>
        <p:spPr>
          <a:xfrm>
            <a:off x="304800" y="1371600"/>
            <a:ext cx="8686800" cy="3048000"/>
          </a:xfrm>
        </p:spPr>
        <p:txBody>
          <a:bodyPr>
            <a:normAutofit/>
          </a:bodyPr>
          <a:lstStyle/>
          <a:p>
            <a:r>
              <a:rPr lang="en-GB" dirty="0" smtClean="0"/>
              <a:t>If you have on your laptop only Windows, you could either:</a:t>
            </a:r>
          </a:p>
          <a:p>
            <a:pPr marL="109728" indent="0">
              <a:buNone/>
            </a:pPr>
            <a:endParaRPr lang="en-GB" sz="800" dirty="0" smtClean="0"/>
          </a:p>
          <a:p>
            <a:pPr lvl="1"/>
            <a:r>
              <a:rPr lang="en-GB" dirty="0" smtClean="0"/>
              <a:t>on </a:t>
            </a:r>
            <a:r>
              <a:rPr lang="en-GB" dirty="0"/>
              <a:t>Windows 11, use </a:t>
            </a:r>
            <a:r>
              <a:rPr lang="en-GB" dirty="0" smtClean="0">
                <a:hlinkClick r:id="rId2"/>
              </a:rPr>
              <a:t>Windows </a:t>
            </a:r>
            <a:r>
              <a:rPr lang="en-GB" dirty="0">
                <a:hlinkClick r:id="rId2"/>
              </a:rPr>
              <a:t>Subsystem for </a:t>
            </a:r>
            <a:r>
              <a:rPr lang="en-GB" dirty="0" smtClean="0">
                <a:hlinkClick r:id="rId2"/>
              </a:rPr>
              <a:t>Linux</a:t>
            </a:r>
            <a:r>
              <a:rPr lang="en-GB" dirty="0" smtClean="0"/>
              <a:t> :</a:t>
            </a:r>
          </a:p>
          <a:p>
            <a:pPr marL="411480" lvl="1" indent="0">
              <a:buNone/>
            </a:pPr>
            <a:endParaRPr lang="en-GB" sz="800" dirty="0" smtClean="0"/>
          </a:p>
          <a:p>
            <a:pPr lvl="2"/>
            <a:r>
              <a:rPr lang="en-GB" sz="1600" dirty="0" smtClean="0"/>
              <a:t> Open </a:t>
            </a:r>
            <a:r>
              <a:rPr lang="en-GB" sz="1600" dirty="0"/>
              <a:t>Windows PowerShell and list available Linux distributions with command: </a:t>
            </a:r>
            <a:r>
              <a:rPr lang="en-GB" sz="1600" dirty="0" smtClean="0"/>
              <a:t>   </a:t>
            </a:r>
          </a:p>
          <a:p>
            <a:pPr marL="704088" lvl="2" indent="0">
              <a:buNone/>
            </a:pPr>
            <a:r>
              <a:rPr lang="en-GB" sz="1600" b="1" dirty="0" smtClean="0">
                <a:solidFill>
                  <a:schemeClr val="tx1"/>
                </a:solidFill>
                <a:cs typeface="Helvetica" panose="020B0604020202020204" pitchFamily="34" charset="0"/>
              </a:rPr>
              <a:t>          </a:t>
            </a:r>
            <a:r>
              <a:rPr lang="en-GB" sz="1600" b="1" dirty="0" err="1" smtClean="0">
                <a:solidFill>
                  <a:schemeClr val="tx1"/>
                </a:solidFill>
                <a:cs typeface="Helvetica" panose="020B0604020202020204" pitchFamily="34" charset="0"/>
              </a:rPr>
              <a:t>wsl</a:t>
            </a:r>
            <a:r>
              <a:rPr lang="en-GB" sz="1600" b="1" dirty="0" smtClean="0">
                <a:solidFill>
                  <a:schemeClr val="tx1"/>
                </a:solidFill>
                <a:cs typeface="Helvetica" panose="020B0604020202020204" pitchFamily="34" charset="0"/>
              </a:rPr>
              <a:t> </a:t>
            </a:r>
            <a:r>
              <a:rPr lang="en-GB" sz="1600" b="1" dirty="0">
                <a:solidFill>
                  <a:schemeClr val="tx1"/>
                </a:solidFill>
                <a:cs typeface="Helvetica" panose="020B0604020202020204" pitchFamily="34" charset="0"/>
              </a:rPr>
              <a:t>--list </a:t>
            </a:r>
            <a:r>
              <a:rPr lang="en-DE" sz="1600" b="1" dirty="0" smtClean="0">
                <a:solidFill>
                  <a:schemeClr val="tx1"/>
                </a:solidFill>
                <a:cs typeface="Helvetica" panose="020B0604020202020204" pitchFamily="34" charset="0"/>
              </a:rPr>
              <a:t>-</a:t>
            </a:r>
            <a:r>
              <a:rPr lang="en-DE" sz="1600" b="1" dirty="0" smtClean="0">
                <a:solidFill>
                  <a:schemeClr val="tx1"/>
                </a:solidFill>
                <a:cs typeface="Helvetica" panose="020B0604020202020204" pitchFamily="34" charset="0"/>
              </a:rPr>
              <a:t>-</a:t>
            </a:r>
            <a:r>
              <a:rPr lang="en-GB" sz="1600" b="1" dirty="0" smtClean="0">
                <a:solidFill>
                  <a:schemeClr val="tx1"/>
                </a:solidFill>
                <a:cs typeface="Helvetica" panose="020B0604020202020204" pitchFamily="34" charset="0"/>
              </a:rPr>
              <a:t>online</a:t>
            </a:r>
            <a:endParaRPr lang="en-GB" sz="1600" b="1" dirty="0">
              <a:solidFill>
                <a:schemeClr val="tx1"/>
              </a:solidFill>
              <a:cs typeface="Helvetica" panose="020B0604020202020204" pitchFamily="34" charset="0"/>
            </a:endParaRPr>
          </a:p>
          <a:p>
            <a:pPr marL="704088" lvl="2" indent="0">
              <a:buNone/>
            </a:pPr>
            <a:endParaRPr lang="en-GB" sz="800" dirty="0" smtClean="0"/>
          </a:p>
          <a:p>
            <a:pPr lvl="2"/>
            <a:r>
              <a:rPr lang="en-GB" sz="1600" dirty="0" smtClean="0"/>
              <a:t> Pick </a:t>
            </a:r>
            <a:r>
              <a:rPr lang="en-GB" sz="1600" dirty="0"/>
              <a:t>up your </a:t>
            </a:r>
            <a:r>
              <a:rPr lang="en-GB" sz="1600" dirty="0" smtClean="0"/>
              <a:t>favourite </a:t>
            </a:r>
            <a:r>
              <a:rPr lang="en-GB" sz="1600" dirty="0"/>
              <a:t>Linux distribution, and install </a:t>
            </a:r>
            <a:r>
              <a:rPr lang="en-GB" sz="1600" dirty="0" smtClean="0"/>
              <a:t>it</a:t>
            </a:r>
            <a:r>
              <a:rPr lang="en-DE" sz="1600" dirty="0" smtClean="0"/>
              <a:t> e.g.</a:t>
            </a:r>
            <a:r>
              <a:rPr lang="en-GB" sz="1600" dirty="0" smtClean="0"/>
              <a:t> </a:t>
            </a:r>
            <a:r>
              <a:rPr lang="en-GB" sz="1600" dirty="0" smtClean="0"/>
              <a:t>as follows:            </a:t>
            </a:r>
          </a:p>
          <a:p>
            <a:pPr marL="704088" lvl="2" indent="0">
              <a:buNone/>
            </a:pPr>
            <a:r>
              <a:rPr lang="en-GB" sz="1600" dirty="0" smtClean="0"/>
              <a:t>          </a:t>
            </a:r>
            <a:r>
              <a:rPr lang="en-GB" sz="1600" b="1" dirty="0" err="1" smtClean="0">
                <a:solidFill>
                  <a:schemeClr val="tx1"/>
                </a:solidFill>
              </a:rPr>
              <a:t>wsl</a:t>
            </a:r>
            <a:r>
              <a:rPr lang="en-GB" sz="1600" b="1" dirty="0" smtClean="0">
                <a:solidFill>
                  <a:schemeClr val="tx1"/>
                </a:solidFill>
              </a:rPr>
              <a:t> </a:t>
            </a:r>
            <a:r>
              <a:rPr lang="en-GB" sz="1600" b="1" dirty="0">
                <a:solidFill>
                  <a:schemeClr val="tx1"/>
                </a:solidFill>
              </a:rPr>
              <a:t>--install </a:t>
            </a:r>
            <a:r>
              <a:rPr lang="en-GB" sz="1600" b="1" dirty="0" smtClean="0">
                <a:solidFill>
                  <a:schemeClr val="tx1"/>
                </a:solidFill>
              </a:rPr>
              <a:t>Ubuntu-22.04</a:t>
            </a:r>
          </a:p>
          <a:p>
            <a:pPr marL="704088" lvl="2" indent="0">
              <a:buNone/>
            </a:pPr>
            <a:endParaRPr lang="en-GB" sz="800" dirty="0">
              <a:solidFill>
                <a:srgbClr val="002060"/>
              </a:solidFill>
            </a:endParaRPr>
          </a:p>
          <a:p>
            <a:pPr lvl="2"/>
            <a:r>
              <a:rPr lang="en-GB" sz="1600" dirty="0" smtClean="0">
                <a:solidFill>
                  <a:srgbClr val="002060"/>
                </a:solidFill>
              </a:rPr>
              <a:t>The </a:t>
            </a:r>
            <a:r>
              <a:rPr lang="en-GB" sz="1600" dirty="0">
                <a:solidFill>
                  <a:srgbClr val="002060"/>
                </a:solidFill>
              </a:rPr>
              <a:t>rest is easy </a:t>
            </a:r>
            <a:r>
              <a:rPr lang="en-GB" sz="1600" dirty="0"/>
              <a:t>(pick up your account, etc</a:t>
            </a:r>
            <a:r>
              <a:rPr lang="en-GB" sz="1600" dirty="0" smtClean="0"/>
              <a:t>.)</a:t>
            </a:r>
            <a:endParaRPr lang="en-GB" sz="2000" b="1" dirty="0" smtClean="0">
              <a:solidFill>
                <a:schemeClr val="tx1"/>
              </a:solidFill>
            </a:endParaRPr>
          </a:p>
          <a:p>
            <a:pPr marL="704088" lvl="2" indent="0">
              <a:buNone/>
            </a:pPr>
            <a:endParaRPr lang="en-GB" sz="2000" b="1" dirty="0" smtClean="0">
              <a:solidFill>
                <a:schemeClr val="tx1"/>
              </a:solidFill>
              <a:cs typeface="Helvetica" panose="020B0604020202020204" pitchFamily="34" charset="0"/>
            </a:endParaRPr>
          </a:p>
          <a:p>
            <a:pPr marL="411480" lvl="1" indent="0">
              <a:buNone/>
            </a:pPr>
            <a:endParaRPr lang="en-GB" sz="1600"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19</a:t>
            </a:fld>
            <a:endParaRPr lang="en-US" dirty="0"/>
          </a:p>
        </p:txBody>
      </p:sp>
      <p:sp>
        <p:nvSpPr>
          <p:cNvPr id="8" name="Content Placeholder 2"/>
          <p:cNvSpPr txBox="1">
            <a:spLocks/>
          </p:cNvSpPr>
          <p:nvPr/>
        </p:nvSpPr>
        <p:spPr>
          <a:xfrm>
            <a:off x="304800" y="4572000"/>
            <a:ext cx="8686800" cy="1295400"/>
          </a:xfrm>
          <a:prstGeom prst="rect">
            <a:avLst/>
          </a:prstGeom>
        </p:spPr>
        <p:txBody>
          <a:bodyPr vert="horz">
            <a:normAutofit/>
          </a:bodyPr>
          <a:lstStyle>
            <a:lvl1pPr marL="365760" indent="-256032" algn="l" rtl="0" eaLnBrk="1" latinLnBrk="0" hangingPunct="1">
              <a:spcBef>
                <a:spcPts val="300"/>
              </a:spcBef>
              <a:buClr>
                <a:schemeClr val="tx1"/>
              </a:buClr>
              <a:buSzPct val="125000"/>
              <a:buFont typeface="Arial" panose="020B0604020202020204" pitchFamily="34" charset="0"/>
              <a:buChar char="•"/>
              <a:defRPr kumimoji="0" sz="2400" kern="1200">
                <a:solidFill>
                  <a:schemeClr val="tx1"/>
                </a:solidFill>
                <a:latin typeface="Helvetica" pitchFamily="34" charset="0"/>
                <a:ea typeface="+mn-ea"/>
                <a:cs typeface="+mn-cs"/>
              </a:defRPr>
            </a:lvl1pPr>
            <a:lvl2pPr marL="658368" indent="-246888" algn="l" rtl="0" eaLnBrk="1" latinLnBrk="0" hangingPunct="1">
              <a:spcBef>
                <a:spcPts val="300"/>
              </a:spcBef>
              <a:buClr>
                <a:schemeClr val="accent2"/>
              </a:buClr>
              <a:buSzPct val="90000"/>
              <a:buFont typeface="Courier New" panose="02070309020205020404" pitchFamily="49" charset="0"/>
              <a:buChar char="o"/>
              <a:defRPr kumimoji="0" sz="2200" kern="1200">
                <a:solidFill>
                  <a:schemeClr val="accent2"/>
                </a:solidFill>
                <a:latin typeface="Helvetica" pitchFamily="34" charset="0"/>
                <a:ea typeface="+mn-ea"/>
                <a:cs typeface="+mn-cs"/>
              </a:defRPr>
            </a:lvl2pPr>
            <a:lvl3pPr marL="923544" indent="-219456" algn="l" rtl="0" eaLnBrk="1" latinLnBrk="0" hangingPunct="1">
              <a:spcBef>
                <a:spcPts val="300"/>
              </a:spcBef>
              <a:buClr>
                <a:schemeClr val="accent1"/>
              </a:buClr>
              <a:buFont typeface="Wingdings 2"/>
              <a:buChar char=""/>
              <a:defRPr kumimoji="0" sz="1800" kern="1200">
                <a:solidFill>
                  <a:schemeClr val="accent1"/>
                </a:solidFill>
                <a:latin typeface="Helvetica" pitchFamily="34" charset="0"/>
                <a:ea typeface="+mn-ea"/>
                <a:cs typeface="+mn-cs"/>
              </a:defRPr>
            </a:lvl3pPr>
            <a:lvl4pPr marL="1179576" indent="-201168" algn="l" rtl="0" eaLnBrk="1" latinLnBrk="0" hangingPunct="1">
              <a:spcBef>
                <a:spcPts val="300"/>
              </a:spcBef>
              <a:buClr>
                <a:schemeClr val="accent1"/>
              </a:buClr>
              <a:buFont typeface="Wingdings 2"/>
              <a:buChar char=""/>
              <a:defRPr kumimoji="0" sz="1400" kern="1200">
                <a:solidFill>
                  <a:schemeClr val="accent1"/>
                </a:solidFill>
                <a:latin typeface="Helvetica" pitchFamily="34" charset="0"/>
                <a:ea typeface="+mn-ea"/>
                <a:cs typeface="+mn-cs"/>
              </a:defRPr>
            </a:lvl4pPr>
            <a:lvl5pPr marL="1389888" indent="-182880" algn="l" rtl="0" eaLnBrk="1" latinLnBrk="0" hangingPunct="1">
              <a:spcBef>
                <a:spcPts val="300"/>
              </a:spcBef>
              <a:buClr>
                <a:schemeClr val="accent3"/>
              </a:buClr>
              <a:buFont typeface="Georgia"/>
              <a:buChar char="▫"/>
              <a:defRPr kumimoji="0" sz="1400" kern="1200">
                <a:solidFill>
                  <a:schemeClr val="accent3"/>
                </a:solidFill>
                <a:latin typeface="Helvetica" pitchFamily="34" charset="0"/>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lvl="1" fontAlgn="auto">
              <a:spcAft>
                <a:spcPts val="0"/>
              </a:spcAft>
            </a:pPr>
            <a:r>
              <a:rPr lang="en-GB" dirty="0" smtClean="0">
                <a:effectLst/>
              </a:rPr>
              <a:t>or, install </a:t>
            </a:r>
            <a:r>
              <a:rPr lang="en-GB" dirty="0" err="1" smtClean="0">
                <a:effectLst/>
              </a:rPr>
              <a:t>PuTTY</a:t>
            </a:r>
            <a:r>
              <a:rPr lang="en-GB" dirty="0" smtClean="0">
                <a:effectLst/>
              </a:rPr>
              <a:t> </a:t>
            </a:r>
            <a:r>
              <a:rPr lang="en-GB" dirty="0">
                <a:effectLst/>
              </a:rPr>
              <a:t>(</a:t>
            </a:r>
            <a:r>
              <a:rPr lang="en-GB" sz="1800" dirty="0">
                <a:effectLst/>
              </a:rPr>
              <a:t> </a:t>
            </a:r>
            <a:r>
              <a:rPr lang="en-GB" sz="1800" dirty="0">
                <a:effectLst/>
                <a:hlinkClick r:id="rId3"/>
              </a:rPr>
              <a:t>https://www.putty.org</a:t>
            </a:r>
            <a:r>
              <a:rPr lang="en-GB" sz="1800" dirty="0" smtClean="0">
                <a:effectLst/>
                <a:hlinkClick r:id="rId3"/>
              </a:rPr>
              <a:t>/</a:t>
            </a:r>
            <a:r>
              <a:rPr lang="en-GB" sz="1800" dirty="0" smtClean="0">
                <a:effectLst/>
              </a:rPr>
              <a:t> </a:t>
            </a:r>
            <a:r>
              <a:rPr lang="en-GB" dirty="0">
                <a:effectLst/>
              </a:rPr>
              <a:t>) and then use it to connect </a:t>
            </a:r>
            <a:r>
              <a:rPr lang="en-GB" dirty="0" smtClean="0">
                <a:effectLst/>
              </a:rPr>
              <a:t>and work remotely on </a:t>
            </a:r>
            <a:r>
              <a:rPr lang="en-GB" dirty="0">
                <a:effectLst/>
              </a:rPr>
              <a:t>some </a:t>
            </a:r>
            <a:r>
              <a:rPr lang="en-GB" dirty="0" smtClean="0">
                <a:effectLst/>
              </a:rPr>
              <a:t>computer </a:t>
            </a:r>
            <a:r>
              <a:rPr lang="en-GB" dirty="0">
                <a:effectLst/>
              </a:rPr>
              <a:t>running Linux</a:t>
            </a:r>
            <a:r>
              <a:rPr lang="en-GB" dirty="0" smtClean="0">
                <a:effectLst/>
              </a:rPr>
              <a:t>, on which </a:t>
            </a:r>
            <a:r>
              <a:rPr lang="en-GB" dirty="0">
                <a:effectLst/>
              </a:rPr>
              <a:t>you </a:t>
            </a:r>
            <a:r>
              <a:rPr lang="en-GB" dirty="0" smtClean="0">
                <a:effectLst/>
              </a:rPr>
              <a:t>have an </a:t>
            </a:r>
            <a:r>
              <a:rPr lang="en-GB" dirty="0" smtClean="0">
                <a:effectLst/>
              </a:rPr>
              <a:t>account</a:t>
            </a:r>
            <a:endParaRPr lang="en-GB" dirty="0" smtClean="0">
              <a:effectLst/>
            </a:endParaRPr>
          </a:p>
        </p:txBody>
      </p:sp>
      <p:sp>
        <p:nvSpPr>
          <p:cNvPr id="5" name="Rectangle 1"/>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smtClean="0">
                <a:ln>
                  <a:noFill/>
                </a:ln>
                <a:solidFill>
                  <a:srgbClr val="222222"/>
                </a:solidFill>
                <a:effectLst/>
                <a:latin typeface="Arial" panose="020B0604020202020204" pitchFamily="34" charset="0"/>
                <a:cs typeface="Arial" panose="020B0604020202020204" pitchFamily="34" charset="0"/>
              </a:rPr>
              <a:t>open Windows PowerShell and list available Linux distributions with: </a:t>
            </a:r>
            <a:r>
              <a:rPr kumimoji="0" lang="en-US" altLang="en-US" sz="1000" b="0" i="0" u="none" strike="noStrike" cap="none" normalizeH="0" baseline="0" smtClean="0">
                <a:ln>
                  <a:noFill/>
                </a:ln>
                <a:solidFill>
                  <a:srgbClr val="222222"/>
                </a:solidFill>
                <a:effectLst/>
                <a:latin typeface="Arial Unicode MS"/>
                <a:cs typeface="Arial" panose="020B0604020202020204" pitchFamily="34" charset="0"/>
              </a:rPr>
              <a:t>wsl --list --online</a:t>
            </a:r>
            <a:endParaRPr kumimoji="0" lang="en-US" altLang="en-US" sz="600" b="0" i="0" u="none" strike="noStrike" cap="none" normalizeH="0" baseline="0" smtClean="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32625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Free advert (#2)</a:t>
            </a:r>
            <a:endParaRPr lang="en-US" sz="3200" dirty="0"/>
          </a:p>
        </p:txBody>
      </p:sp>
      <p:sp>
        <p:nvSpPr>
          <p:cNvPr id="3" name="Content Placeholder 2"/>
          <p:cNvSpPr>
            <a:spLocks noGrp="1"/>
          </p:cNvSpPr>
          <p:nvPr>
            <p:ph idx="1"/>
          </p:nvPr>
        </p:nvSpPr>
        <p:spPr>
          <a:xfrm>
            <a:off x="304800" y="1371600"/>
            <a:ext cx="8686800" cy="990600"/>
          </a:xfrm>
        </p:spPr>
        <p:txBody>
          <a:bodyPr>
            <a:normAutofit/>
          </a:bodyPr>
          <a:lstStyle/>
          <a:p>
            <a:r>
              <a:rPr lang="da-DK" dirty="0" smtClean="0"/>
              <a:t>Is this a right course for you?</a:t>
            </a:r>
            <a:endParaRPr lang="en-US" dirty="0" smtClean="0"/>
          </a:p>
          <a:p>
            <a:pPr lvl="1"/>
            <a:r>
              <a:rPr lang="en-GB" dirty="0" smtClean="0"/>
              <a:t>If, after you have opened a terminal in Linux </a:t>
            </a:r>
            <a:r>
              <a:rPr lang="en-DE" dirty="0" smtClean="0"/>
              <a:t>…</a:t>
            </a:r>
            <a:endParaRPr lang="en-US" dirty="0"/>
          </a:p>
          <a:p>
            <a:pPr lvl="1"/>
            <a:endParaRPr lang="en-GB"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20</a:t>
            </a:fld>
            <a:endParaRPr lang="en-US" dirty="0"/>
          </a:p>
        </p:txBody>
      </p:sp>
      <p:sp>
        <p:nvSpPr>
          <p:cNvPr id="6" name="Content Placeholder 2"/>
          <p:cNvSpPr txBox="1">
            <a:spLocks/>
          </p:cNvSpPr>
          <p:nvPr/>
        </p:nvSpPr>
        <p:spPr>
          <a:xfrm>
            <a:off x="304800" y="5715000"/>
            <a:ext cx="8686800" cy="990600"/>
          </a:xfrm>
          <a:prstGeom prst="rect">
            <a:avLst/>
          </a:prstGeom>
        </p:spPr>
        <p:txBody>
          <a:bodyPr vert="horz">
            <a:normAutofit/>
          </a:bodyPr>
          <a:lstStyle>
            <a:lvl1pPr marL="365760" indent="-256032" algn="l" rtl="0" eaLnBrk="1" latinLnBrk="0" hangingPunct="1">
              <a:spcBef>
                <a:spcPts val="300"/>
              </a:spcBef>
              <a:buClr>
                <a:schemeClr val="tx1"/>
              </a:buClr>
              <a:buSzPct val="125000"/>
              <a:buFont typeface="Arial" panose="020B0604020202020204" pitchFamily="34" charset="0"/>
              <a:buChar char="•"/>
              <a:defRPr kumimoji="0" sz="2400" kern="1200">
                <a:solidFill>
                  <a:schemeClr val="tx1"/>
                </a:solidFill>
                <a:latin typeface="Helvetica" pitchFamily="34" charset="0"/>
                <a:ea typeface="+mn-ea"/>
                <a:cs typeface="+mn-cs"/>
              </a:defRPr>
            </a:lvl1pPr>
            <a:lvl2pPr marL="658368" indent="-246888" algn="l" rtl="0" eaLnBrk="1" latinLnBrk="0" hangingPunct="1">
              <a:spcBef>
                <a:spcPts val="300"/>
              </a:spcBef>
              <a:buClr>
                <a:schemeClr val="accent2"/>
              </a:buClr>
              <a:buSzPct val="90000"/>
              <a:buFont typeface="Courier New" panose="02070309020205020404" pitchFamily="49" charset="0"/>
              <a:buChar char="o"/>
              <a:defRPr kumimoji="0" sz="2200" kern="1200">
                <a:solidFill>
                  <a:schemeClr val="accent2"/>
                </a:solidFill>
                <a:latin typeface="Helvetica" pitchFamily="34" charset="0"/>
                <a:ea typeface="+mn-ea"/>
                <a:cs typeface="+mn-cs"/>
              </a:defRPr>
            </a:lvl2pPr>
            <a:lvl3pPr marL="923544" indent="-219456" algn="l" rtl="0" eaLnBrk="1" latinLnBrk="0" hangingPunct="1">
              <a:spcBef>
                <a:spcPts val="300"/>
              </a:spcBef>
              <a:buClr>
                <a:schemeClr val="accent1"/>
              </a:buClr>
              <a:buFont typeface="Wingdings 2"/>
              <a:buChar char=""/>
              <a:defRPr kumimoji="0" sz="1800" kern="1200">
                <a:solidFill>
                  <a:schemeClr val="accent1"/>
                </a:solidFill>
                <a:latin typeface="Helvetica" pitchFamily="34" charset="0"/>
                <a:ea typeface="+mn-ea"/>
                <a:cs typeface="+mn-cs"/>
              </a:defRPr>
            </a:lvl3pPr>
            <a:lvl4pPr marL="1179576" indent="-201168" algn="l" rtl="0" eaLnBrk="1" latinLnBrk="0" hangingPunct="1">
              <a:spcBef>
                <a:spcPts val="300"/>
              </a:spcBef>
              <a:buClr>
                <a:schemeClr val="accent1"/>
              </a:buClr>
              <a:buFont typeface="Wingdings 2"/>
              <a:buChar char=""/>
              <a:defRPr kumimoji="0" sz="1400" kern="1200">
                <a:solidFill>
                  <a:schemeClr val="accent1"/>
                </a:solidFill>
                <a:latin typeface="Helvetica" pitchFamily="34" charset="0"/>
                <a:ea typeface="+mn-ea"/>
                <a:cs typeface="+mn-cs"/>
              </a:defRPr>
            </a:lvl4pPr>
            <a:lvl5pPr marL="1389888" indent="-182880" algn="l" rtl="0" eaLnBrk="1" latinLnBrk="0" hangingPunct="1">
              <a:spcBef>
                <a:spcPts val="300"/>
              </a:spcBef>
              <a:buClr>
                <a:schemeClr val="accent3"/>
              </a:buClr>
              <a:buFont typeface="Georgia"/>
              <a:buChar char="▫"/>
              <a:defRPr kumimoji="0" sz="1400" kern="1200">
                <a:solidFill>
                  <a:schemeClr val="accent3"/>
                </a:solidFill>
                <a:latin typeface="Helvetica" pitchFamily="34" charset="0"/>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11480" lvl="1" indent="0" fontAlgn="auto">
              <a:spcAft>
                <a:spcPts val="0"/>
              </a:spcAft>
              <a:buNone/>
            </a:pPr>
            <a:r>
              <a:rPr lang="en-DE" dirty="0" smtClean="0">
                <a:effectLst/>
              </a:rPr>
              <a:t>…</a:t>
            </a:r>
            <a:r>
              <a:rPr lang="en-GB" dirty="0" smtClean="0">
                <a:effectLst/>
              </a:rPr>
              <a:t> you have asked yourself: ‘What now?’, then this is the right course for you! </a:t>
            </a:r>
            <a:endParaRPr lang="en-US" dirty="0" smtClean="0">
              <a:effectLst/>
            </a:endParaRPr>
          </a:p>
          <a:p>
            <a:pPr lvl="1" fontAlgn="auto">
              <a:spcAft>
                <a:spcPts val="0"/>
              </a:spcAft>
            </a:pPr>
            <a:endParaRPr lang="en-GB" dirty="0">
              <a:effectLst/>
            </a:endParaRPr>
          </a:p>
        </p:txBody>
      </p:sp>
      <p:pic>
        <p:nvPicPr>
          <p:cNvPr id="7" name="Picture 6"/>
          <p:cNvPicPr>
            <a:picLocks noChangeAspect="1"/>
          </p:cNvPicPr>
          <p:nvPr/>
        </p:nvPicPr>
        <p:blipFill>
          <a:blip r:embed="rId2"/>
          <a:stretch>
            <a:fillRect/>
          </a:stretch>
        </p:blipFill>
        <p:spPr>
          <a:xfrm>
            <a:off x="1371600" y="2279466"/>
            <a:ext cx="6248400" cy="3435534"/>
          </a:xfrm>
          <a:prstGeom prst="rect">
            <a:avLst/>
          </a:prstGeom>
        </p:spPr>
      </p:pic>
    </p:spTree>
    <p:extLst>
      <p:ext uri="{BB962C8B-B14F-4D97-AF65-F5344CB8AC3E}">
        <p14:creationId xmlns:p14="http://schemas.microsoft.com/office/powerpoint/2010/main" val="7303431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Free advert (#2)</a:t>
            </a:r>
            <a:endParaRPr lang="en-US" sz="3200" dirty="0"/>
          </a:p>
        </p:txBody>
      </p:sp>
      <p:sp>
        <p:nvSpPr>
          <p:cNvPr id="3" name="Content Placeholder 2"/>
          <p:cNvSpPr>
            <a:spLocks noGrp="1"/>
          </p:cNvSpPr>
          <p:nvPr>
            <p:ph idx="1"/>
          </p:nvPr>
        </p:nvSpPr>
        <p:spPr>
          <a:xfrm>
            <a:off x="304800" y="1371600"/>
            <a:ext cx="8686800" cy="4648200"/>
          </a:xfrm>
        </p:spPr>
        <p:txBody>
          <a:bodyPr>
            <a:normAutofit/>
          </a:bodyPr>
          <a:lstStyle/>
          <a:p>
            <a:r>
              <a:rPr lang="en-GB" dirty="0" smtClean="0"/>
              <a:t>What can we do in the terminal?</a:t>
            </a:r>
            <a:endParaRPr lang="en-US" dirty="0" smtClean="0"/>
          </a:p>
          <a:p>
            <a:pPr lvl="1"/>
            <a:r>
              <a:rPr lang="en-GB" dirty="0" smtClean="0"/>
              <a:t>Not that much with the mouse</a:t>
            </a:r>
            <a:r>
              <a:rPr lang="en-DE" dirty="0" smtClean="0"/>
              <a:t>…</a:t>
            </a:r>
            <a:endParaRPr lang="en-GB" dirty="0" smtClean="0"/>
          </a:p>
          <a:p>
            <a:r>
              <a:rPr lang="en-GB" dirty="0"/>
              <a:t>Next, you can start typing and pressing ‘Enter’, </a:t>
            </a:r>
            <a:r>
              <a:rPr lang="en-GB" dirty="0" smtClean="0"/>
              <a:t>but most </a:t>
            </a:r>
            <a:r>
              <a:rPr lang="en-GB" dirty="0"/>
              <a:t>likely whatever you have typed in the terminal will produce </a:t>
            </a:r>
            <a:r>
              <a:rPr lang="en-GB" dirty="0" smtClean="0"/>
              <a:t>only </a:t>
            </a:r>
            <a:r>
              <a:rPr lang="en-GB" dirty="0"/>
              <a:t>error </a:t>
            </a:r>
            <a:r>
              <a:rPr lang="en-GB" dirty="0" smtClean="0"/>
              <a:t>messages</a:t>
            </a:r>
          </a:p>
          <a:p>
            <a:pPr lvl="1"/>
            <a:r>
              <a:rPr lang="en-GB" dirty="0" smtClean="0"/>
              <a:t>Still</a:t>
            </a:r>
            <a:r>
              <a:rPr lang="en-GB" dirty="0"/>
              <a:t>, that is something, as it clearly means that there is some secret/magic language which is trying to respond to, or to interpret, your command input, as soon as you have typed something in the terminal and pressed ‘Enter’. What is that secret built-in language available in the terminal</a:t>
            </a:r>
            <a:r>
              <a:rPr lang="en-GB" dirty="0" smtClean="0"/>
              <a:t>?</a:t>
            </a:r>
            <a:endParaRPr lang="en-US" dirty="0"/>
          </a:p>
          <a:p>
            <a:pPr lvl="1"/>
            <a:endParaRPr lang="en-GB"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21</a:t>
            </a:fld>
            <a:endParaRPr lang="en-US" dirty="0"/>
          </a:p>
        </p:txBody>
      </p:sp>
    </p:spTree>
    <p:extLst>
      <p:ext uri="{BB962C8B-B14F-4D97-AF65-F5344CB8AC3E}">
        <p14:creationId xmlns:p14="http://schemas.microsoft.com/office/powerpoint/2010/main" val="35872982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839200" cy="838200"/>
          </a:xfrm>
        </p:spPr>
        <p:txBody>
          <a:bodyPr>
            <a:noAutofit/>
          </a:bodyPr>
          <a:lstStyle/>
          <a:p>
            <a:r>
              <a:rPr lang="da-DK" sz="3200" b="1" dirty="0" smtClean="0"/>
              <a:t>Linux shells</a:t>
            </a:r>
            <a:endParaRPr lang="en-US" sz="3200" dirty="0"/>
          </a:p>
        </p:txBody>
      </p:sp>
      <p:sp>
        <p:nvSpPr>
          <p:cNvPr id="3" name="Content Placeholder 2"/>
          <p:cNvSpPr>
            <a:spLocks noGrp="1"/>
          </p:cNvSpPr>
          <p:nvPr>
            <p:ph idx="1"/>
          </p:nvPr>
        </p:nvSpPr>
        <p:spPr>
          <a:xfrm>
            <a:off x="304800" y="1371600"/>
            <a:ext cx="8686800" cy="5029200"/>
          </a:xfrm>
        </p:spPr>
        <p:txBody>
          <a:bodyPr>
            <a:normAutofit lnSpcReduction="10000"/>
          </a:bodyPr>
          <a:lstStyle/>
          <a:p>
            <a:r>
              <a:rPr lang="en-US" dirty="0" smtClean="0"/>
              <a:t>Loosely speaking, shell is </a:t>
            </a:r>
            <a:r>
              <a:rPr lang="en-US" dirty="0"/>
              <a:t>any program that </a:t>
            </a:r>
            <a:r>
              <a:rPr lang="en-US" dirty="0" smtClean="0"/>
              <a:t>user employs </a:t>
            </a:r>
            <a:r>
              <a:rPr lang="en-US" dirty="0"/>
              <a:t>to type </a:t>
            </a:r>
            <a:r>
              <a:rPr lang="en-US" dirty="0" smtClean="0"/>
              <a:t>commands in the terminal (text window)</a:t>
            </a:r>
          </a:p>
          <a:p>
            <a:r>
              <a:rPr lang="da-DK" dirty="0" smtClean="0"/>
              <a:t>Example shells:</a:t>
            </a:r>
          </a:p>
          <a:p>
            <a:pPr lvl="1"/>
            <a:r>
              <a:rPr lang="da-DK" dirty="0"/>
              <a:t>s</a:t>
            </a:r>
            <a:r>
              <a:rPr lang="da-DK" dirty="0" smtClean="0"/>
              <a:t>h</a:t>
            </a:r>
          </a:p>
          <a:p>
            <a:pPr lvl="1"/>
            <a:r>
              <a:rPr lang="da-DK" dirty="0"/>
              <a:t>b</a:t>
            </a:r>
            <a:r>
              <a:rPr lang="da-DK" dirty="0" smtClean="0"/>
              <a:t>ash</a:t>
            </a:r>
          </a:p>
          <a:p>
            <a:pPr lvl="1"/>
            <a:r>
              <a:rPr lang="da-DK" dirty="0" smtClean="0"/>
              <a:t>zsh</a:t>
            </a:r>
          </a:p>
          <a:p>
            <a:pPr lvl="1"/>
            <a:r>
              <a:rPr lang="da-DK" dirty="0" smtClean="0"/>
              <a:t>ksh</a:t>
            </a:r>
          </a:p>
          <a:p>
            <a:pPr lvl="1"/>
            <a:r>
              <a:rPr lang="da-DK" dirty="0" smtClean="0"/>
              <a:t>csh</a:t>
            </a:r>
          </a:p>
          <a:p>
            <a:pPr lvl="1"/>
            <a:r>
              <a:rPr lang="da-DK" dirty="0" smtClean="0"/>
              <a:t>fish</a:t>
            </a:r>
          </a:p>
          <a:p>
            <a:pPr lvl="1"/>
            <a:r>
              <a:rPr lang="da-DK" dirty="0" smtClean="0"/>
              <a:t>PowerShell (developed by </a:t>
            </a:r>
            <a:r>
              <a:rPr lang="da-DK" dirty="0" smtClean="0"/>
              <a:t>Microsoft)</a:t>
            </a:r>
            <a:endParaRPr lang="da-DK" dirty="0" smtClean="0"/>
          </a:p>
          <a:p>
            <a:r>
              <a:rPr lang="da-DK" dirty="0" smtClean="0"/>
              <a:t>Since Bash is the default shell on most Linux distributions nowadays, we focus on it</a:t>
            </a:r>
          </a:p>
          <a:p>
            <a:pPr lvl="1"/>
            <a:r>
              <a:rPr lang="da-DK" dirty="0" smtClean="0"/>
              <a:t>If not set by default, just type </a:t>
            </a:r>
            <a:r>
              <a:rPr lang="da-DK" b="1" dirty="0" smtClean="0"/>
              <a:t>bash</a:t>
            </a:r>
            <a:r>
              <a:rPr lang="da-DK" dirty="0" smtClean="0"/>
              <a:t> in the terminal, and you are in the </a:t>
            </a:r>
            <a:r>
              <a:rPr lang="da-DK" dirty="0"/>
              <a:t>B</a:t>
            </a:r>
            <a:r>
              <a:rPr lang="da-DK" dirty="0" smtClean="0"/>
              <a:t>ash wonderland </a:t>
            </a:r>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22</a:t>
            </a:fld>
            <a:endParaRPr lang="en-US" dirty="0"/>
          </a:p>
        </p:txBody>
      </p:sp>
      <p:sp>
        <p:nvSpPr>
          <p:cNvPr id="5" name="AutoShape 2" descr="data:image/jpeg;base64,/9j/4AAQSkZJRgABAQAAAQABAAD/2wCEAAkGBxAPEBUPDxAQEBAPDxAQEA8PEBAQDw4PFREWFhUVFRUYHiggGBomHRYXITEhJSkrLi4uGB8zODMsNygtLisBCgoKDg0OGxAQFzIlHh8tListKy0tMS0tLS0tLS8tLi0tLS0vLSstLS0tLS0tLSstLS0wLS0tNzUtNzcrNy8tLv/AABEIAJ4BPwMBIgACEQEDEQH/xAAbAAACAwEBAQAAAAAAAAAAAAAAAQIEBQYDB//EAEMQAAEEAQMBBQMHCgUDBQAAAAEAAgMRBAUSITEGEyJBUTJhcRQVI4GRstEzUlNic4KSk6HBQkNUcrEHovAWY6Ph8f/EABkBAQEBAQEBAAAAAAAAAAAAAAABBAMCBf/EAC8RAAICAQIEBAUDBQAAAAAAAAABAhEDEiEEMUHwE1GR4SIyYYGxFEJiI0NSodH/2gAMAwEAAhEDEQA/APuKEIQAhCEAIQhACSaRQAkmkgEUJpKASCmkoUSSZQgEkmhCiKSaSgEkmkoASTSUKJJNCAikpJKAikpJKFEkmkoBJJpWEKAYSpdyfUJGVR71S0NxujPx+C8yp96k42psUghnVCbOqA2EIQtRxBCEIAQhCAEIQgEhBQgEkmUKASSaEKIpJpKAEk0kAkJpKFEkmkgEhMpKASSaShRJJpIBJKSShSKE0lAQkdQJ9FRdOvfUXVGT8P8AlYhn96zZZ06OkI2aJnS79Zpn96O/XHxDppNMTKbZllCf3qbZ/eqshNJsxutejOqpae+7+r+6us6rTB2rObVGuhCFsOAIQhACEIQAhCEAJJpFACSaRQAUk0lACRTSQokIKFAJJNBQokk0lAJJNCgEkmkoUSSaSASSkkoBJFNJQpXzot8bmjqWmviOQuNM67krj+1GnGN3fRj6N3tgf4HevwKx8XF1qXQ74WrplTv0d+sc5CXylfO8Q1aDaE69GzrEblLe0HTXzESOFRA3z/me4e73rpjbm6R4klFWzoNKiLYwT1f4vgPJXWdUJs6r6sVSSMbdmshCFrOIIQhACEIQAhCEAIQhAJCChAJBQhQCQhCFEUk0lAJCaSFEhMpKASSy4ceSW3meVtveA1pAa0BxAA49y9Pm1/8AqJv4m/guam3uonql5l9CofNr/wDUzfa38Ejpsn+pm/7PwU1S/wAfwKXmX1EmlROmyf6mb/s/BUs/Ela01kSurmjso1zR4XmWRpXp/B6UU+psd631XhmZrI2l3p6rEh1WM8FwBHUHghUdYzWTMMDHW5xF1zQXCfErTaPaxb7nSadqLZ2GSqYDV31I60vbHyWvBIPAJB+K4zE0zIa3YyTbH6bel9aW/h6RI1u0TvA61tZ1+xTFmyS/aWcIrqX58wDpR+KpS57zYLGOBFEG+QvX5kf+nd/BH+CkNFf+nP8ALj/Be34r6fg8rQupyc+jNJJbbbJpvUAelqo/Qz5O/ou2OiP/AE5/lsS+Y3/pv/iYsr4Nv9p2Wf6mLoXZ3HAD3u72Qc7Dw1p/2+f1rp6WPJAY3ljiHFoDg8DaaPlQV3Cyb4u/etGHTD4ao5zblvZbQ3qhNnVaDkaqEKMjw3r5kD6yaC0nIdrx+VN+qrJPG2zQsdRazNQztrbdQ8LgXPY9jQDI1vtCyDzx6qlLnfSBoJMjXlzQbc5he4xsDwzh0dWeTY4XCWZLY0w4aUlZvjI45FO4Lmgg7WkkWT6cL2Y8Hp5cLlflrW923Y+Nm8BjX7x+UL2uDjyHmxYB4pauBL+cSXVCHWS5wdt8w3wt+rhSGZN0XJw7irNdeQed5b5bA767IUo3X/8AlLyP5U/sh94rQZSwhcPg6zqUbAH40k8jy6y4BrY3hzfDwB4du43zyKtPO7TajC4Mdhs3Oe1jS0SuaXFhdxR5uq8tvnaA7dC4s9o9Uuvm4fl3M9skbBfn9hvolrGbq7oInQxNjm72Xvmx0WmMQF7K33/ipteddRaA7VC4sdodUsj5vBqZ7BTnDe0NcWmzwLIHPvUcXtFqr3MadPa3ewlznF4ax/ebRfurqPcgO2QuU0rVdRkyG97jtZAaZINrmmN/jJLST4qpoJ6GwQqseq6lGXnuJJnGcscx8bGxReJ20ROadzmkBniI43En0QHaoXHs1/UnUW4AFECRr3OaS7cAQw+nN2fRe+h6hnzZA76IxwGMk+HaN+1tcHkc2gOpQhCA8ioqRSXkpS0z2P35PvlXFS0z2P35PvlXLXPH8qPUuY0KG5G5etSJRJV8iOxS9tyRXl0yo5rP0ON5st5TwtFZGeG0uhLAgRhZv08Lujr4rqitDjgeStsbSKTtd4pI5t2TCahuRuXuzyTQkCherBzWvPqR59GN/us3QMovBN/4ir3aIHdIQCajbdc+qzez+K5jS3rtcQT+tfP9bXypt+L6muNaDrGOsA+5SZ1VfEdxSst6rdF2jgzUVLOl2tcQ7oK9oNa11W3c7yB4H1q6s7UQQd5LQG9Xv/JNbbbD23yTzR8l3yP4TzjScjEypDdNcG8vLiXzAsviVoe7w3u2ht+V0s3UtWjxoy6QiERvjm+kqOGJzjT4nOYfpHmya9Vbzxs3GUV4I9xnjdOSwTu8Jc00TyCBVhcT/wBRNzGQT+wzG1V78iRkNhhPsS7HGnAe/jlYYrVPS2fUm9GPUldd9+50Gha5jzOLIZWAR79zojIx8GOXAgmKQWbN80r+k9r8CR7Y4cmIFwmcIg55ETY7txqg1u0E8+a5LSdRxsnVGTt1KTNljxJWl8eHHFCI3dGPeDwb6WFk6Jpgk7PZboYw7IkdLucIy6ZzWz9A702g8BdvCjB8++130yPPPJG2u+33vf1LS+3ulzSjHjzI3SOdtjvftkPo17hTj8Cuj/zT+zb94r5HpHazRn4un4vyY5WQx8LG47IwZMeYcOkd6i+f6r64Pyp/Zt+8VqXIxvmUm6sdoLopLIshrSa9Aos1gkX3Et1YG08mul/0WnFM13LXNcASCWkGiOoU7VJyMyTVvzYZTQcTbSPZF0E36t0LYZXAuId4eW1V8efX+i0HyBoskAepNBDXAixVHmx0KAoO1Mgg93JsMe/2TvB3VVf+dUjrLQaMU11urZzVLRDwfTjrz0TtAZztUsO2RSW3oXtLWk7q+Neafzr/AOzMa60zi/ctC0WgM751H6Kb+Dp0/FeuLqAkO3u5G8E25tNv0VmOVrvZINEg0bojqFMFANCEIDyKSZSXkpR0z2P35PvlWyqWmnwfvyffKuLjD5Ue5cyKzu0ue/GwsnJjDS/HxZ5mB4JaXsjc4WBViwtFVNXwG5WPLjPLmsyIZIXObW5rZGFpIvi+VQcI/thmM0/5Y6WDc+fCiBk07Mx2QNmP0ji177mABFFtDg9bXth9s8uXHYI248s2VqT8HEygyWLFlja0udOYi4upu17du7kt6rbZ2SuFkE2blTxwzYk0IkbjNMRxnbmtBZGLBoA3Z8PFJZPYnHeJAJZ4zJnfOETonNa7Ey9tOdFx0dyS11jkr1tff09zzvXf19jWw2ZjYXiaTGkyPF3T2RyRQnwjbvYXOI5u6PSlxw7YZ0bM1jxi5D8bLxMPGyYmSR48mROWte17S5x+jLhdO93C62LSZBjSQPzMmR8wePlLjE2ePc3b9HsaGtqrHHWysfE7DRsxDguy8mSCo+5BbjRuxpGSCRsrHRxgl+4Akuu/Pqoq6l6Fc9oc9kOfGRivytMNmUNljgfC7HMwd3dk7h7O3cB52rGqavlt06PUGT40DW4TcjIEuNJNve6NrgI6lbt5JFG+oXueyDfk88PyvJ7zNeXZWURAZ52933ewgs2NbtoeFo6KZ7JsdiwYcuRPNFjTQygPEIMzYaMcUm1oBYCAfU0LKe3uPc09AlyH4sL8trG5D4mPmZGCGMe4XtAJPS66+SvoQowTaheb5KWdmansNDz/AKBSU1FblUWzH7QTyMyWiIOJcQPD1oNWjiDaPEA1x5PFWVWOoMDt4bbzxuPWlPvzMQy9pddHrXCxJrU3fPod3ySosYk4dIQ3o1vJ998K+zqvHExWxN2sHvJPVx9SvdvVaoJpbnKT8jTVPMbxwOvmCAS/o0UeD1/oriRC1NWjlF07OSnYWHvAdu3cSSIW950Y83u47x20g1xtVZ2M2R4adwcdkTZC7fP3LD4+9a+tzS4bbF3wuiycIXbW+yI+WiNgc0PJcCSOnmR9io5Wng7RtaSHubuoPDPF3kZc5/iJuuAasrDPEz6mPOmu+/8Apj6fhxxtt1DvGy7e8ijhhD99Rh8Y5LuDRW1p8LejGtY32i1rW13jhZdtNFt8iq814Q6ewU5sRYNu+nhpMW3lschNnlzi4EchauFjFtBwPh7sNJp/LWckP6nzFuTHjd79/c858ka27+yPTD0+FjjIyGNj3clwjja/nysBe/8Amn9m37xXsxlen1Lx/wA0/s2/eK3LkfNZhDR2ObujyOu8AcNYbNgAeQseSUGhNB3HI8DY6JY4NIcd19OjeennS0ToUXkXD4Vz093Hsj+qb9DiLHRguaJK3bdoJAN+nvWTwP4/7N/6nprfoil8xQ0QZrcNpslvhoOuh5DxH4UFW1LSGBoDJwDI4Nt76bdO54uzR46dArruzUQqi7hzS4miXtB6X7xx8CVI9mYDd7yHG6JBaOvAFdOR/CFHhbVaF6nqPERTvxH6Hnk6PG575BNtLn7y0Fo8QYAQT+6PgCfVQxtGYI2MfOSQS8lrqaS+Puxt+y/jyvSPszFTtxdb3SHh26gSQDZA5r7LI56q0NDi2sbbiI2bW9Pfz8fEVVid24L1PDzpKlkfp9DOOiRu+jGSdwa1tA9Swkm+f1ui9fmNnJOQ4l29zSSKG4jn3+zXvsq9JosbnOcS4F7nOsUCC6ro/UvKfs/C8MsvHdivCa3DdfP9ftKvg/wXqP1F/wBx+iKWRpEIBccjb9IHOoii4E8UD18X1cK3pODGyVzo5d5YwRPb1p3tWT6qMXZqFoIt5u6J2+GyORx1469Vd0vS2Y27YXHeQTuryFeQVhiaknpS+5MmZODSm39i8hCFqMJ5FJSKS8lM3TfY/fk++ValfTS6i4hpIaOrqHQe9VNNPg/fk++VYlaXNLQ4sJaQHiiWkjggHix71wh8p0fM4PC/6gSnBn1B8ONIIIw75LjSyuyseTcQY8lrmeCuLeBXB4W9ldsMeFsb54cyJsjYy578WQRwd5J3bRK7o0k+XPBF9QqMvYYz/KH5eWZp8rCdg99HjxY4ZEXB24taTvduA5J6cClV1v8A6eOzXB8+bueYYYnvOJE43FIXtdFZ+hB4Dg32q6rptZ43ov6326hx2ZZigyZ5NPDhKGwvEIeNtNMtEDh1+dAEkKMva5kUj5ZnSxQR6dHlPxZMUtmj3ZLo+8LrvyrZXTnzVyTsq18OfA6V23VJZZXEMAMHeQsjoc+Ktl3x1VDUuxDslsvfZhdJkadFgvkGO1oqPIdKJA0Or/Ftr3Xaiqu/Ir79S9D20xHtcQMgPZPDj9w/HkZkPknbui2xuo05oJs1wDdL2h7UwPwpdQDZmw44nLhJHskJhsPAaT+cC34grne23ZSWR0k8Imn+VZeDJNFAMfvIo8aCRgLBMdkluLTTqrrzS2OzOkyP004edE1jHtmhETRFG8YjiRGJBD4GybTZ28WnQdUVtJ7UZD5mR5TdPiMsTpnYseYX5+OzujI3dGWgP467aq75Ctwds8eTHblRwZ0kUhpmzDlLnjZuLwPzB03dL6WquH2MkbLDJNnSZDcSGeHHD4ImyBssfd/SyNNyENA8h0SzuwwlxMPF+UV83sDAX48c0U/0ezc6F5Ldw6tPO0+qOuhFfU9srt/gxta68iRr8RmaHQ48kgbiuJBkfQ8AFG7pWNL7UDIzpsJsEwbBHC9uTsd3UgkaXWTVNB42mzu56Us/G7BNZC6AZLiH6T817u6Fhu97u9rd18fs+7qtXTuz7sfKOSzIJZJjQQSwGJtPdA0tY8Pu28E23n4q7Dc1MlcprwcCHC+OvwXXShU8jFa7qFlz43NUjtjlpZxsWW0+YW7oDN79/wDhYKvyLj/9WsvN0qISkbfMdCR5D0XXYcDGMDY2hrasAe//AJWbh8bc9+h1ySVbdT1QzqhDeq+gZzTQhC0HIRFqBiF351X/AIF6IQHm2ECutjzs2ePP1UmtA6CvgpISi2CiGC93nVfVdqSEICEIQAhCEAIQhACEihANK0ihAStK1EoUAikmkoUy9P8AY/fk++VbVKAOjBa5jydzjbWOcCC4kchevf8A6kv8t/4LPF0qOr5li0bl4d/+rJ/Lf+CO/H5sn8t/4K6kSj3tFrw78ej/AOW/8Ejkt8w/+W/8E1IUWLRarfKm/rfwP/BHypv638D/AME1LzFFncjcq/ypnv8A4X/gvN+oRN4c8N/3WP8AlNS8xpZc3JFypfOkH6Vn2ps1GF3SRpr0N0prj5l0vyLRKRXj8sj/ADx/VQdqEPTvWA+m4I5R8xTMTUvyx+I+6Fu4Drjb8K+zhc7qM7XSktIcLHI5HQLc0d9x/BxWbC/6jOk18KLqG9UFNvVaziaKEIWg5ghCEAIQhACEIQAhCEAIQhACEIQAkmkUAJJpFACSaRUAJItJQoIQSkSgBFJWglCjpCSRKlglaLXmXKBkU1Cj3tczr3ilP6rWj+/91uOnAWLmlpcSbBcVm4iVxo641TswMhi3+xEVRySfnybR8GD8SVkZreDS3ezcrRjNA8i7d/uuysvDpLLfkdsr+A3ty4XtbFtyy7ykjY76x4T/AMBdf3y5jtYQ6WOuoY6/gXcf3Wji2pYznh2kZcC6vQPYd/u/sudxsf3rpNIbsBB86IWfhVUj3lexeIQ3qmUN6r6BnNBCELucwQhCAEIQgBCEIAQhCAEIQgBCEIAQhCASEFCASiVIopQpBCdIpQEUlOkqQpGkKVIpSgRpRcFMhRcEYPCRyqyzUrUjVWfDfouM76HtGFkauGyuaT5iufKl5T5zSLsLRy9Ehl5fGxx9SOftVT/0vj/mD4FzyPsKwyhlO6lA5/M1dgO1tvd6MFq9omY9jTuaW7nXXpwtiLRo2cNawD3L1+bx7l4jhyJ3Z7c41RWOpH0WFqupfSh7mkNIAvqBXqumOB8F5v0pruoaV6njySVWeYyimZ2BlNoEEG/NaHzkAqbuysR6FzP9j3NH2dE4uykQNl8jvcZHUpGOZckG4PqbuJkh7QfUK2w8qnjYYYAB0A9SrcbFvhqrc4Srof/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362629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839200" cy="838200"/>
          </a:xfrm>
        </p:spPr>
        <p:txBody>
          <a:bodyPr>
            <a:noAutofit/>
          </a:bodyPr>
          <a:lstStyle/>
          <a:p>
            <a:r>
              <a:rPr lang="da-DK" sz="3200" b="1" dirty="0" smtClean="0"/>
              <a:t>Why shell?</a:t>
            </a:r>
            <a:endParaRPr lang="en-US" sz="3200" dirty="0"/>
          </a:p>
        </p:txBody>
      </p:sp>
      <p:sp>
        <p:nvSpPr>
          <p:cNvPr id="3" name="Content Placeholder 2"/>
          <p:cNvSpPr>
            <a:spLocks noGrp="1"/>
          </p:cNvSpPr>
          <p:nvPr>
            <p:ph idx="1"/>
          </p:nvPr>
        </p:nvSpPr>
        <p:spPr>
          <a:xfrm>
            <a:off x="304800" y="1371600"/>
            <a:ext cx="8686800" cy="1600200"/>
          </a:xfrm>
        </p:spPr>
        <p:txBody>
          <a:bodyPr>
            <a:normAutofit/>
          </a:bodyPr>
          <a:lstStyle/>
          <a:p>
            <a:r>
              <a:rPr lang="en-GB" dirty="0"/>
              <a:t>The shell translates the commands you type </a:t>
            </a:r>
            <a:r>
              <a:rPr lang="en-GB" dirty="0" smtClean="0"/>
              <a:t>into </a:t>
            </a:r>
            <a:r>
              <a:rPr lang="en-GB" dirty="0"/>
              <a:t>a format which the computer can </a:t>
            </a:r>
            <a:r>
              <a:rPr lang="en-GB" dirty="0" smtClean="0"/>
              <a:t>understand</a:t>
            </a:r>
          </a:p>
          <a:p>
            <a:pPr lvl="1"/>
            <a:r>
              <a:rPr lang="en-GB" dirty="0" smtClean="0"/>
              <a:t>It works both ways: User is shielded from Linux kernel, and Linux kernel is shielded from user</a:t>
            </a:r>
            <a:endParaRPr lang="en-US"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23</a:t>
            </a:fld>
            <a:endParaRPr lang="en-US" dirty="0"/>
          </a:p>
        </p:txBody>
      </p:sp>
      <p:sp>
        <p:nvSpPr>
          <p:cNvPr id="5" name="AutoShape 2" descr="data:image/jpeg;base64,/9j/4AAQSkZJRgABAQAAAQABAAD/2wCEAAkGBxAPEBUPDxAQEBAPDxAQEA8PEBAQDw4PFREWFhUVFRUYHiggGBomHRYXITEhJSkrLi4uGB8zODMsNygtLisBCgoKDg0OGxAQFzIlHh8tListKy0tMS0tLS0tLS8tLi0tLS0vLSstLS0tLS0tLSstLS0wLS0tNzUtNzcrNy8tLv/AABEIAJ4BPwMBIgACEQEDEQH/xAAbAAACAwEBAQAAAAAAAAAAAAAAAQIEBQYDB//EAEMQAAEEAQMBBQMHCgUDBQAAAAEAAgMRBAUSITEGEyJBUTJhcRQVI4GRstEzUlNic4KSk6HBQkNUcrEHovAWY6Ph8f/EABkBAQEBAQEBAAAAAAAAAAAAAAABBAMCBf/EAC8RAAICAQIEBAUDBQAAAAAAAAABAhEDEiEEMUHwE1GR4SIyYYGxFEJiI0NSodH/2gAMAwEAAhEDEQA/APuKEIQAhCEAIQhACSaRQAkmkgEUJpKASCmkoUSSZQgEkmhCiKSaSgEkmkoASTSUKJJNCAikpJKAikpJKFEkmkoBJJpWEKAYSpdyfUJGVR71S0NxujPx+C8yp96k42psUghnVCbOqA2EIQtRxBCEIAQhCAEIQgEhBQgEkmUKASSaEKIpJpKAEk0kAkJpKFEkmkgEhMpKASSaShRJJpIBJKSShSKE0lAQkdQJ9FRdOvfUXVGT8P8AlYhn96zZZ06OkI2aJnS79Zpn96O/XHxDppNMTKbZllCf3qbZ/eqshNJsxutejOqpae+7+r+6us6rTB2rObVGuhCFsOAIQhACEIQAhCEAJJpFACSaRQAUk0lACRTSQokIKFAJJNBQokk0lAJJNCgEkmkoUSSaSASSkkoBJFNJQpXzot8bmjqWmviOQuNM67krj+1GnGN3fRj6N3tgf4HevwKx8XF1qXQ74WrplTv0d+sc5CXylfO8Q1aDaE69GzrEblLe0HTXzESOFRA3z/me4e73rpjbm6R4klFWzoNKiLYwT1f4vgPJXWdUJs6r6sVSSMbdmshCFrOIIQhACEIQAhCEAIQhAJCChAJBQhQCQhCFEUk0lAJCaSFEhMpKASSy4ceSW3meVtveA1pAa0BxAA49y9Pm1/8AqJv4m/guam3uonql5l9CofNr/wDUzfa38Ejpsn+pm/7PwU1S/wAfwKXmX1EmlROmyf6mb/s/BUs/Ela01kSurmjso1zR4XmWRpXp/B6UU+psd631XhmZrI2l3p6rEh1WM8FwBHUHghUdYzWTMMDHW5xF1zQXCfErTaPaxb7nSadqLZ2GSqYDV31I60vbHyWvBIPAJB+K4zE0zIa3YyTbH6bel9aW/h6RI1u0TvA61tZ1+xTFmyS/aWcIrqX58wDpR+KpS57zYLGOBFEG+QvX5kf+nd/BH+CkNFf+nP8ALj/Be34r6fg8rQupyc+jNJJbbbJpvUAelqo/Qz5O/ou2OiP/AE5/lsS+Y3/pv/iYsr4Nv9p2Wf6mLoXZ3HAD3u72Qc7Dw1p/2+f1rp6WPJAY3ljiHFoDg8DaaPlQV3Cyb4u/etGHTD4ao5zblvZbQ3qhNnVaDkaqEKMjw3r5kD6yaC0nIdrx+VN+qrJPG2zQsdRazNQztrbdQ8LgXPY9jQDI1vtCyDzx6qlLnfSBoJMjXlzQbc5he4xsDwzh0dWeTY4XCWZLY0w4aUlZvjI45FO4Lmgg7WkkWT6cL2Y8Hp5cLlflrW923Y+Nm8BjX7x+UL2uDjyHmxYB4pauBL+cSXVCHWS5wdt8w3wt+rhSGZN0XJw7irNdeQed5b5bA767IUo3X/8AlLyP5U/sh94rQZSwhcPg6zqUbAH40k8jy6y4BrY3hzfDwB4du43zyKtPO7TajC4Mdhs3Oe1jS0SuaXFhdxR5uq8tvnaA7dC4s9o9Uuvm4fl3M9skbBfn9hvolrGbq7oInQxNjm72Xvmx0WmMQF7K33/ipteddRaA7VC4sdodUsj5vBqZ7BTnDe0NcWmzwLIHPvUcXtFqr3MadPa3ewlznF4ax/ebRfurqPcgO2QuU0rVdRkyG97jtZAaZINrmmN/jJLST4qpoJ6GwQqseq6lGXnuJJnGcscx8bGxReJ20ROadzmkBniI43En0QHaoXHs1/UnUW4AFECRr3OaS7cAQw+nN2fRe+h6hnzZA76IxwGMk+HaN+1tcHkc2gOpQhCA8ioqRSXkpS0z2P35PvlXFS0z2P35PvlXLXPH8qPUuY0KG5G5etSJRJV8iOxS9tyRXl0yo5rP0ON5st5TwtFZGeG0uhLAgRhZv08Lujr4rqitDjgeStsbSKTtd4pI5t2TCahuRuXuzyTQkCherBzWvPqR59GN/us3QMovBN/4ir3aIHdIQCajbdc+qzez+K5jS3rtcQT+tfP9bXypt+L6muNaDrGOsA+5SZ1VfEdxSst6rdF2jgzUVLOl2tcQ7oK9oNa11W3c7yB4H1q6s7UQQd5LQG9Xv/JNbbbD23yTzR8l3yP4TzjScjEypDdNcG8vLiXzAsviVoe7w3u2ht+V0s3UtWjxoy6QiERvjm+kqOGJzjT4nOYfpHmya9Vbzxs3GUV4I9xnjdOSwTu8Jc00TyCBVhcT/wBRNzGQT+wzG1V78iRkNhhPsS7HGnAe/jlYYrVPS2fUm9GPUldd9+50Gha5jzOLIZWAR79zojIx8GOXAgmKQWbN80r+k9r8CR7Y4cmIFwmcIg55ETY7txqg1u0E8+a5LSdRxsnVGTt1KTNljxJWl8eHHFCI3dGPeDwb6WFk6Jpgk7PZboYw7IkdLucIy6ZzWz9A702g8BdvCjB8++130yPPPJG2u+33vf1LS+3ulzSjHjzI3SOdtjvftkPo17hTj8Cuj/zT+zb94r5HpHazRn4un4vyY5WQx8LG47IwZMeYcOkd6i+f6r64Pyp/Zt+8VqXIxvmUm6sdoLopLIshrSa9Aos1gkX3Et1YG08mul/0WnFM13LXNcASCWkGiOoU7VJyMyTVvzYZTQcTbSPZF0E36t0LYZXAuId4eW1V8efX+i0HyBoskAepNBDXAixVHmx0KAoO1Mgg93JsMe/2TvB3VVf+dUjrLQaMU11urZzVLRDwfTjrz0TtAZztUsO2RSW3oXtLWk7q+Neafzr/AOzMa60zi/ctC0WgM751H6Kb+Dp0/FeuLqAkO3u5G8E25tNv0VmOVrvZINEg0bojqFMFANCEIDyKSZSXkpR0z2P35PvlWyqWmnwfvyffKuLjD5Ue5cyKzu0ue/GwsnJjDS/HxZ5mB4JaXsjc4WBViwtFVNXwG5WPLjPLmsyIZIXObW5rZGFpIvi+VQcI/thmM0/5Y6WDc+fCiBk07Mx2QNmP0ji177mABFFtDg9bXth9s8uXHYI248s2VqT8HEygyWLFlja0udOYi4upu17du7kt6rbZ2SuFkE2blTxwzYk0IkbjNMRxnbmtBZGLBoA3Z8PFJZPYnHeJAJZ4zJnfOETonNa7Ey9tOdFx0dyS11jkr1tff09zzvXf19jWw2ZjYXiaTGkyPF3T2RyRQnwjbvYXOI5u6PSlxw7YZ0bM1jxi5D8bLxMPGyYmSR48mROWte17S5x+jLhdO93C62LSZBjSQPzMmR8wePlLjE2ePc3b9HsaGtqrHHWysfE7DRsxDguy8mSCo+5BbjRuxpGSCRsrHRxgl+4Akuu/Pqoq6l6Fc9oc9kOfGRivytMNmUNljgfC7HMwd3dk7h7O3cB52rGqavlt06PUGT40DW4TcjIEuNJNve6NrgI6lbt5JFG+oXueyDfk88PyvJ7zNeXZWURAZ52933ewgs2NbtoeFo6KZ7JsdiwYcuRPNFjTQygPEIMzYaMcUm1oBYCAfU0LKe3uPc09AlyH4sL8trG5D4mPmZGCGMe4XtAJPS66+SvoQowTaheb5KWdmansNDz/AKBSU1FblUWzH7QTyMyWiIOJcQPD1oNWjiDaPEA1x5PFWVWOoMDt4bbzxuPWlPvzMQy9pddHrXCxJrU3fPod3ySosYk4dIQ3o1vJ998K+zqvHExWxN2sHvJPVx9SvdvVaoJpbnKT8jTVPMbxwOvmCAS/o0UeD1/oriRC1NWjlF07OSnYWHvAdu3cSSIW950Y83u47x20g1xtVZ2M2R4adwcdkTZC7fP3LD4+9a+tzS4bbF3wuiycIXbW+yI+WiNgc0PJcCSOnmR9io5Wng7RtaSHubuoPDPF3kZc5/iJuuAasrDPEz6mPOmu+/8Apj6fhxxtt1DvGy7e8ijhhD99Rh8Y5LuDRW1p8LejGtY32i1rW13jhZdtNFt8iq814Q6ewU5sRYNu+nhpMW3lschNnlzi4EchauFjFtBwPh7sNJp/LWckP6nzFuTHjd79/c858ka27+yPTD0+FjjIyGNj3clwjja/nysBe/8Amn9m37xXsxlen1Lx/wA0/s2/eK3LkfNZhDR2ObujyOu8AcNYbNgAeQseSUGhNB3HI8DY6JY4NIcd19OjeennS0ToUXkXD4Vz093Hsj+qb9DiLHRguaJK3bdoJAN+nvWTwP4/7N/6nprfoil8xQ0QZrcNpslvhoOuh5DxH4UFW1LSGBoDJwDI4Nt76bdO54uzR46dArruzUQqi7hzS4miXtB6X7xx8CVI9mYDd7yHG6JBaOvAFdOR/CFHhbVaF6nqPERTvxH6Hnk6PG575BNtLn7y0Fo8QYAQT+6PgCfVQxtGYI2MfOSQS8lrqaS+Puxt+y/jyvSPszFTtxdb3SHh26gSQDZA5r7LI56q0NDi2sbbiI2bW9Pfz8fEVVid24L1PDzpKlkfp9DOOiRu+jGSdwa1tA9Swkm+f1ui9fmNnJOQ4l29zSSKG4jn3+zXvsq9JosbnOcS4F7nOsUCC6ro/UvKfs/C8MsvHdivCa3DdfP9ftKvg/wXqP1F/wBx+iKWRpEIBccjb9IHOoii4E8UD18X1cK3pODGyVzo5d5YwRPb1p3tWT6qMXZqFoIt5u6J2+GyORx1469Vd0vS2Y27YXHeQTuryFeQVhiaknpS+5MmZODSm39i8hCFqMJ5FJSKS8lM3TfY/fk++ValfTS6i4hpIaOrqHQe9VNNPg/fk++VYlaXNLQ4sJaQHiiWkjggHix71wh8p0fM4PC/6gSnBn1B8ONIIIw75LjSyuyseTcQY8lrmeCuLeBXB4W9ldsMeFsb54cyJsjYy578WQRwd5J3bRK7o0k+XPBF9QqMvYYz/KH5eWZp8rCdg99HjxY4ZEXB24taTvduA5J6cClV1v8A6eOzXB8+bueYYYnvOJE43FIXtdFZ+hB4Dg32q6rptZ43ov6326hx2ZZigyZ5NPDhKGwvEIeNtNMtEDh1+dAEkKMva5kUj5ZnSxQR6dHlPxZMUtmj3ZLo+8LrvyrZXTnzVyTsq18OfA6V23VJZZXEMAMHeQsjoc+Ktl3x1VDUuxDslsvfZhdJkadFgvkGO1oqPIdKJA0Or/Ftr3Xaiqu/Ir79S9D20xHtcQMgPZPDj9w/HkZkPknbui2xuo05oJs1wDdL2h7UwPwpdQDZmw44nLhJHskJhsPAaT+cC34grne23ZSWR0k8Imn+VZeDJNFAMfvIo8aCRgLBMdkluLTTqrrzS2OzOkyP004edE1jHtmhETRFG8YjiRGJBD4GybTZ28WnQdUVtJ7UZD5mR5TdPiMsTpnYseYX5+OzujI3dGWgP467aq75Ctwds8eTHblRwZ0kUhpmzDlLnjZuLwPzB03dL6WquH2MkbLDJNnSZDcSGeHHD4ImyBssfd/SyNNyENA8h0SzuwwlxMPF+UV83sDAX48c0U/0ezc6F5Ldw6tPO0+qOuhFfU9srt/gxta68iRr8RmaHQ48kgbiuJBkfQ8AFG7pWNL7UDIzpsJsEwbBHC9uTsd3UgkaXWTVNB42mzu56Us/G7BNZC6AZLiH6T817u6Fhu97u9rd18fs+7qtXTuz7sfKOSzIJZJjQQSwGJtPdA0tY8Pu28E23n4q7Dc1MlcprwcCHC+OvwXXShU8jFa7qFlz43NUjtjlpZxsWW0+YW7oDN79/wDhYKvyLj/9WsvN0qISkbfMdCR5D0XXYcDGMDY2hrasAe//AJWbh8bc9+h1ySVbdT1QzqhDeq+gZzTQhC0HIRFqBiF351X/AIF6IQHm2ECutjzs2ePP1UmtA6CvgpISi2CiGC93nVfVdqSEICEIQAhCEAIQhACEihANK0ihAStK1EoUAikmkoUy9P8AY/fk++VbVKAOjBa5jydzjbWOcCC4kchevf8A6kv8t/4LPF0qOr5li0bl4d/+rJ/Lf+CO/H5sn8t/4K6kSj3tFrw78ej/AOW/8Ejkt8w/+W/8E1IUWLRarfKm/rfwP/BHypv638D/AME1LzFFncjcq/ypnv8A4X/gvN+oRN4c8N/3WP8AlNS8xpZc3JFypfOkH6Vn2ps1GF3SRpr0N0prj5l0vyLRKRXj8sj/ADx/VQdqEPTvWA+m4I5R8xTMTUvyx+I+6Fu4Drjb8K+zhc7qM7XSktIcLHI5HQLc0d9x/BxWbC/6jOk18KLqG9UFNvVaziaKEIWg5ghCEAIQhACEIQAhCEAIQhACEIQAkmkUAJJpFACSaRUAJItJQoIQSkSgBFJWglCjpCSRKlglaLXmXKBkU1Cj3tczr3ilP6rWj+/91uOnAWLmlpcSbBcVm4iVxo641TswMhi3+xEVRySfnybR8GD8SVkZreDS3ezcrRjNA8i7d/uuysvDpLLfkdsr+A3ty4XtbFtyy7ykjY76x4T/AMBdf3y5jtYQ6WOuoY6/gXcf3Wji2pYznh2kZcC6vQPYd/u/sudxsf3rpNIbsBB86IWfhVUj3lexeIQ3qmUN6r6BnNBCELucwQhCAEIQgBCEIAQhCAEIQgBCEIAQhCASEFCASiVIopQpBCdIpQEUlOkqQpGkKVIpSgRpRcFMhRcEYPCRyqyzUrUjVWfDfouM76HtGFkauGyuaT5iufKl5T5zSLsLRy9Ehl5fGxx9SOftVT/0vj/mD4FzyPsKwyhlO6lA5/M1dgO1tvd6MFq9omY9jTuaW7nXXpwtiLRo2cNawD3L1+bx7l4jhyJ3Z7c41RWOpH0WFqupfSh7mkNIAvqBXqumOB8F5v0pruoaV6njySVWeYyimZ2BlNoEEG/NaHzkAqbuysR6FzP9j3NH2dE4uykQNl8jvcZHUpGOZckG4PqbuJkh7QfUK2w8qnjYYYAB0A9SrcbFvhqrc4Srof/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2" descr="SHEL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694" y="3048000"/>
            <a:ext cx="4235706" cy="349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39842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839200" cy="838200"/>
          </a:xfrm>
        </p:spPr>
        <p:txBody>
          <a:bodyPr>
            <a:noAutofit/>
          </a:bodyPr>
          <a:lstStyle/>
          <a:p>
            <a:r>
              <a:rPr lang="en-US" sz="3200" b="1" dirty="0" smtClean="0"/>
              <a:t>A </a:t>
            </a:r>
            <a:r>
              <a:rPr lang="en-US" sz="3200" b="1" dirty="0"/>
              <a:t>bit of </a:t>
            </a:r>
            <a:r>
              <a:rPr lang="en-US" sz="3200" b="1" dirty="0" smtClean="0"/>
              <a:t>Bash history</a:t>
            </a:r>
            <a:r>
              <a:rPr lang="en-US" sz="3200" b="1" dirty="0"/>
              <a:t> </a:t>
            </a:r>
            <a:endParaRPr lang="en-US" sz="3200" b="1" dirty="0">
              <a:effectLst/>
            </a:endParaRPr>
          </a:p>
        </p:txBody>
      </p:sp>
      <p:sp>
        <p:nvSpPr>
          <p:cNvPr id="3" name="Content Placeholder 2"/>
          <p:cNvSpPr>
            <a:spLocks noGrp="1"/>
          </p:cNvSpPr>
          <p:nvPr>
            <p:ph idx="1"/>
          </p:nvPr>
        </p:nvSpPr>
        <p:spPr>
          <a:xfrm>
            <a:off x="304800" y="1371600"/>
            <a:ext cx="8686800" cy="3962400"/>
          </a:xfrm>
        </p:spPr>
        <p:txBody>
          <a:bodyPr>
            <a:normAutofit/>
          </a:bodyPr>
          <a:lstStyle/>
          <a:p>
            <a:r>
              <a:rPr lang="da-DK" dirty="0" smtClean="0"/>
              <a:t>Initial development by Brian Fox in 1989 as a part of GNU project... And it’s still alive!</a:t>
            </a:r>
          </a:p>
          <a:p>
            <a:r>
              <a:rPr lang="da-DK" dirty="0" smtClean="0"/>
              <a:t>Bash is an acronym for ‘Bourne-again shell’</a:t>
            </a:r>
          </a:p>
          <a:p>
            <a:pPr lvl="1"/>
            <a:r>
              <a:rPr lang="da-DK" dirty="0"/>
              <a:t>T</a:t>
            </a:r>
            <a:r>
              <a:rPr lang="da-DK" dirty="0" smtClean="0"/>
              <a:t>he </a:t>
            </a:r>
            <a:r>
              <a:rPr lang="da-DK" dirty="0"/>
              <a:t>original </a:t>
            </a:r>
            <a:r>
              <a:rPr lang="da-DK" dirty="0" smtClean="0"/>
              <a:t>shell ‘sh’ </a:t>
            </a:r>
            <a:r>
              <a:rPr lang="da-DK" dirty="0"/>
              <a:t>was </a:t>
            </a:r>
            <a:r>
              <a:rPr lang="da-DK" dirty="0" smtClean="0"/>
              <a:t>written in 1977 by </a:t>
            </a:r>
            <a:r>
              <a:rPr lang="da-DK" dirty="0"/>
              <a:t>Stephen </a:t>
            </a:r>
            <a:r>
              <a:rPr lang="da-DK" dirty="0" smtClean="0"/>
              <a:t>Bourne</a:t>
            </a:r>
            <a:endParaRPr lang="da-DK" dirty="0"/>
          </a:p>
          <a:p>
            <a:r>
              <a:rPr lang="da-DK" dirty="0" smtClean="0"/>
              <a:t>Written entirely in C </a:t>
            </a:r>
          </a:p>
          <a:p>
            <a:pPr lvl="1"/>
            <a:r>
              <a:rPr lang="da-DK" dirty="0" smtClean="0"/>
              <a:t>Linux kernel is mostly written in C</a:t>
            </a:r>
          </a:p>
          <a:p>
            <a:r>
              <a:rPr lang="da-DK" dirty="0" smtClean="0"/>
              <a:t>Executable: /bin/bash</a:t>
            </a:r>
          </a:p>
          <a:p>
            <a:r>
              <a:rPr lang="da-DK" dirty="0" smtClean="0"/>
              <a:t>File extension: .sh</a:t>
            </a:r>
          </a:p>
          <a:p>
            <a:r>
              <a:rPr lang="da-DK" dirty="0" smtClean="0"/>
              <a:t>Command processor / interpreted / scripting language</a:t>
            </a:r>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24</a:t>
            </a:fld>
            <a:endParaRPr lang="en-US" dirty="0"/>
          </a:p>
        </p:txBody>
      </p:sp>
      <p:sp>
        <p:nvSpPr>
          <p:cNvPr id="5" name="AutoShape 2" descr="data:image/jpeg;base64,/9j/4AAQSkZJRgABAQAAAQABAAD/2wCEAAkGBxAPEBUPDxAQEBAPDxAQEA8PEBAQDw4PFREWFhUVFRUYHiggGBomHRYXITEhJSkrLi4uGB8zODMsNygtLisBCgoKDg0OGxAQFzIlHh8tListKy0tMS0tLS0tLS8tLi0tLS0vLSstLS0tLS0tLSstLS0wLS0tNzUtNzcrNy8tLv/AABEIAJ4BPwMBIgACEQEDEQH/xAAbAAACAwEBAQAAAAAAAAAAAAAAAQIEBQYDB//EAEMQAAEEAQMBBQMHCgUDBQAAAAEAAgMRBAUSITEGEyJBUTJhcRQVI4GRstEzUlNic4KSk6HBQkNUcrEHovAWY6Ph8f/EABkBAQEBAQEBAAAAAAAAAAAAAAABBAMCBf/EAC8RAAICAQIEBAUDBQAAAAAAAAABAhEDEiEEMUHwE1GR4SIyYYGxFEJiI0NSodH/2gAMAwEAAhEDEQA/APuKEIQAhCEAIQhACSaRQAkmkgEUJpKASCmkoUSSZQgEkmhCiKSaSgEkmkoASTSUKJJNCAikpJKAikpJKFEkmkoBJJpWEKAYSpdyfUJGVR71S0NxujPx+C8yp96k42psUghnVCbOqA2EIQtRxBCEIAQhCAEIQgEhBQgEkmUKASSaEKIpJpKAEk0kAkJpKFEkmkgEhMpKASSaShRJJpIBJKSShSKE0lAQkdQJ9FRdOvfUXVGT8P8AlYhn96zZZ06OkI2aJnS79Zpn96O/XHxDppNMTKbZllCf3qbZ/eqshNJsxutejOqpae+7+r+6us6rTB2rObVGuhCFsOAIQhACEIQAhCEAJJpFACSaRQAUk0lACRTSQokIKFAJJNBQokk0lAJJNCgEkmkoUSSaSASSkkoBJFNJQpXzot8bmjqWmviOQuNM67krj+1GnGN3fRj6N3tgf4HevwKx8XF1qXQ74WrplTv0d+sc5CXylfO8Q1aDaE69GzrEblLe0HTXzESOFRA3z/me4e73rpjbm6R4klFWzoNKiLYwT1f4vgPJXWdUJs6r6sVSSMbdmshCFrOIIQhACEIQAhCEAIQhAJCChAJBQhQCQhCFEUk0lAJCaSFEhMpKASSy4ceSW3meVtveA1pAa0BxAA49y9Pm1/8AqJv4m/guam3uonql5l9CofNr/wDUzfa38Ejpsn+pm/7PwU1S/wAfwKXmX1EmlROmyf6mb/s/BUs/Ela01kSurmjso1zR4XmWRpXp/B6UU+psd631XhmZrI2l3p6rEh1WM8FwBHUHghUdYzWTMMDHW5xF1zQXCfErTaPaxb7nSadqLZ2GSqYDV31I60vbHyWvBIPAJB+K4zE0zIa3YyTbH6bel9aW/h6RI1u0TvA61tZ1+xTFmyS/aWcIrqX58wDpR+KpS57zYLGOBFEG+QvX5kf+nd/BH+CkNFf+nP8ALj/Be34r6fg8rQupyc+jNJJbbbJpvUAelqo/Qz5O/ou2OiP/AE5/lsS+Y3/pv/iYsr4Nv9p2Wf6mLoXZ3HAD3u72Qc7Dw1p/2+f1rp6WPJAY3ljiHFoDg8DaaPlQV3Cyb4u/etGHTD4ao5zblvZbQ3qhNnVaDkaqEKMjw3r5kD6yaC0nIdrx+VN+qrJPG2zQsdRazNQztrbdQ8LgXPY9jQDI1vtCyDzx6qlLnfSBoJMjXlzQbc5he4xsDwzh0dWeTY4XCWZLY0w4aUlZvjI45FO4Lmgg7WkkWT6cL2Y8Hp5cLlflrW923Y+Nm8BjX7x+UL2uDjyHmxYB4pauBL+cSXVCHWS5wdt8w3wt+rhSGZN0XJw7irNdeQed5b5bA767IUo3X/8AlLyP5U/sh94rQZSwhcPg6zqUbAH40k8jy6y4BrY3hzfDwB4du43zyKtPO7TajC4Mdhs3Oe1jS0SuaXFhdxR5uq8tvnaA7dC4s9o9Uuvm4fl3M9skbBfn9hvolrGbq7oInQxNjm72Xvmx0WmMQF7K33/ipteddRaA7VC4sdodUsj5vBqZ7BTnDe0NcWmzwLIHPvUcXtFqr3MadPa3ewlznF4ax/ebRfurqPcgO2QuU0rVdRkyG97jtZAaZINrmmN/jJLST4qpoJ6GwQqseq6lGXnuJJnGcscx8bGxReJ20ROadzmkBniI43En0QHaoXHs1/UnUW4AFECRr3OaS7cAQw+nN2fRe+h6hnzZA76IxwGMk+HaN+1tcHkc2gOpQhCA8ioqRSXkpS0z2P35PvlXFS0z2P35PvlXLXPH8qPUuY0KG5G5etSJRJV8iOxS9tyRXl0yo5rP0ON5st5TwtFZGeG0uhLAgRhZv08Lujr4rqitDjgeStsbSKTtd4pI5t2TCahuRuXuzyTQkCherBzWvPqR59GN/us3QMovBN/4ir3aIHdIQCajbdc+qzez+K5jS3rtcQT+tfP9bXypt+L6muNaDrGOsA+5SZ1VfEdxSst6rdF2jgzUVLOl2tcQ7oK9oNa11W3c7yB4H1q6s7UQQd5LQG9Xv/JNbbbD23yTzR8l3yP4TzjScjEypDdNcG8vLiXzAsviVoe7w3u2ht+V0s3UtWjxoy6QiERvjm+kqOGJzjT4nOYfpHmya9Vbzxs3GUV4I9xnjdOSwTu8Jc00TyCBVhcT/wBRNzGQT+wzG1V78iRkNhhPsS7HGnAe/jlYYrVPS2fUm9GPUldd9+50Gha5jzOLIZWAR79zojIx8GOXAgmKQWbN80r+k9r8CR7Y4cmIFwmcIg55ETY7txqg1u0E8+a5LSdRxsnVGTt1KTNljxJWl8eHHFCI3dGPeDwb6WFk6Jpgk7PZboYw7IkdLucIy6ZzWz9A702g8BdvCjB8++130yPPPJG2u+33vf1LS+3ulzSjHjzI3SOdtjvftkPo17hTj8Cuj/zT+zb94r5HpHazRn4un4vyY5WQx8LG47IwZMeYcOkd6i+f6r64Pyp/Zt+8VqXIxvmUm6sdoLopLIshrSa9Aos1gkX3Et1YG08mul/0WnFM13LXNcASCWkGiOoU7VJyMyTVvzYZTQcTbSPZF0E36t0LYZXAuId4eW1V8efX+i0HyBoskAepNBDXAixVHmx0KAoO1Mgg93JsMe/2TvB3VVf+dUjrLQaMU11urZzVLRDwfTjrz0TtAZztUsO2RSW3oXtLWk7q+Neafzr/AOzMa60zi/ctC0WgM751H6Kb+Dp0/FeuLqAkO3u5G8E25tNv0VmOVrvZINEg0bojqFMFANCEIDyKSZSXkpR0z2P35PvlWyqWmnwfvyffKuLjD5Ue5cyKzu0ue/GwsnJjDS/HxZ5mB4JaXsjc4WBViwtFVNXwG5WPLjPLmsyIZIXObW5rZGFpIvi+VQcI/thmM0/5Y6WDc+fCiBk07Mx2QNmP0ji177mABFFtDg9bXth9s8uXHYI248s2VqT8HEygyWLFlja0udOYi4upu17du7kt6rbZ2SuFkE2blTxwzYk0IkbjNMRxnbmtBZGLBoA3Z8PFJZPYnHeJAJZ4zJnfOETonNa7Ey9tOdFx0dyS11jkr1tff09zzvXf19jWw2ZjYXiaTGkyPF3T2RyRQnwjbvYXOI5u6PSlxw7YZ0bM1jxi5D8bLxMPGyYmSR48mROWte17S5x+jLhdO93C62LSZBjSQPzMmR8wePlLjE2ePc3b9HsaGtqrHHWysfE7DRsxDguy8mSCo+5BbjRuxpGSCRsrHRxgl+4Akuu/Pqoq6l6Fc9oc9kOfGRivytMNmUNljgfC7HMwd3dk7h7O3cB52rGqavlt06PUGT40DW4TcjIEuNJNve6NrgI6lbt5JFG+oXueyDfk88PyvJ7zNeXZWURAZ52933ewgs2NbtoeFo6KZ7JsdiwYcuRPNFjTQygPEIMzYaMcUm1oBYCAfU0LKe3uPc09AlyH4sL8trG5D4mPmZGCGMe4XtAJPS66+SvoQowTaheb5KWdmansNDz/AKBSU1FblUWzH7QTyMyWiIOJcQPD1oNWjiDaPEA1x5PFWVWOoMDt4bbzxuPWlPvzMQy9pddHrXCxJrU3fPod3ySosYk4dIQ3o1vJ998K+zqvHExWxN2sHvJPVx9SvdvVaoJpbnKT8jTVPMbxwOvmCAS/o0UeD1/oriRC1NWjlF07OSnYWHvAdu3cSSIW950Y83u47x20g1xtVZ2M2R4adwcdkTZC7fP3LD4+9a+tzS4bbF3wuiycIXbW+yI+WiNgc0PJcCSOnmR9io5Wng7RtaSHubuoPDPF3kZc5/iJuuAasrDPEz6mPOmu+/8Apj6fhxxtt1DvGy7e8ijhhD99Rh8Y5LuDRW1p8LejGtY32i1rW13jhZdtNFt8iq814Q6ewU5sRYNu+nhpMW3lschNnlzi4EchauFjFtBwPh7sNJp/LWckP6nzFuTHjd79/c858ka27+yPTD0+FjjIyGNj3clwjja/nysBe/8Amn9m37xXsxlen1Lx/wA0/s2/eK3LkfNZhDR2ObujyOu8AcNYbNgAeQseSUGhNB3HI8DY6JY4NIcd19OjeennS0ToUXkXD4Vz093Hsj+qb9DiLHRguaJK3bdoJAN+nvWTwP4/7N/6nprfoil8xQ0QZrcNpslvhoOuh5DxH4UFW1LSGBoDJwDI4Nt76bdO54uzR46dArruzUQqi7hzS4miXtB6X7xx8CVI9mYDd7yHG6JBaOvAFdOR/CFHhbVaF6nqPERTvxH6Hnk6PG575BNtLn7y0Fo8QYAQT+6PgCfVQxtGYI2MfOSQS8lrqaS+Puxt+y/jyvSPszFTtxdb3SHh26gSQDZA5r7LI56q0NDi2sbbiI2bW9Pfz8fEVVid24L1PDzpKlkfp9DOOiRu+jGSdwa1tA9Swkm+f1ui9fmNnJOQ4l29zSSKG4jn3+zXvsq9JosbnOcS4F7nOsUCC6ro/UvKfs/C8MsvHdivCa3DdfP9ftKvg/wXqP1F/wBx+iKWRpEIBccjb9IHOoii4E8UD18X1cK3pODGyVzo5d5YwRPb1p3tWT6qMXZqFoIt5u6J2+GyORx1469Vd0vS2Y27YXHeQTuryFeQVhiaknpS+5MmZODSm39i8hCFqMJ5FJSKS8lM3TfY/fk++ValfTS6i4hpIaOrqHQe9VNNPg/fk++VYlaXNLQ4sJaQHiiWkjggHix71wh8p0fM4PC/6gSnBn1B8ONIIIw75LjSyuyseTcQY8lrmeCuLeBXB4W9ldsMeFsb54cyJsjYy578WQRwd5J3bRK7o0k+XPBF9QqMvYYz/KH5eWZp8rCdg99HjxY4ZEXB24taTvduA5J6cClV1v8A6eOzXB8+bueYYYnvOJE43FIXtdFZ+hB4Dg32q6rptZ43ov6326hx2ZZigyZ5NPDhKGwvEIeNtNMtEDh1+dAEkKMva5kUj5ZnSxQR6dHlPxZMUtmj3ZLo+8LrvyrZXTnzVyTsq18OfA6V23VJZZXEMAMHeQsjoc+Ktl3x1VDUuxDslsvfZhdJkadFgvkGO1oqPIdKJA0Or/Ftr3Xaiqu/Ir79S9D20xHtcQMgPZPDj9w/HkZkPknbui2xuo05oJs1wDdL2h7UwPwpdQDZmw44nLhJHskJhsPAaT+cC34grne23ZSWR0k8Imn+VZeDJNFAMfvIo8aCRgLBMdkluLTTqrrzS2OzOkyP004edE1jHtmhETRFG8YjiRGJBD4GybTZ28WnQdUVtJ7UZD5mR5TdPiMsTpnYseYX5+OzujI3dGWgP467aq75Ctwds8eTHblRwZ0kUhpmzDlLnjZuLwPzB03dL6WquH2MkbLDJNnSZDcSGeHHD4ImyBssfd/SyNNyENA8h0SzuwwlxMPF+UV83sDAX48c0U/0ezc6F5Ldw6tPO0+qOuhFfU9srt/gxta68iRr8RmaHQ48kgbiuJBkfQ8AFG7pWNL7UDIzpsJsEwbBHC9uTsd3UgkaXWTVNB42mzu56Us/G7BNZC6AZLiH6T817u6Fhu97u9rd18fs+7qtXTuz7sfKOSzIJZJjQQSwGJtPdA0tY8Pu28E23n4q7Dc1MlcprwcCHC+OvwXXShU8jFa7qFlz43NUjtjlpZxsWW0+YW7oDN79/wDhYKvyLj/9WsvN0qISkbfMdCR5D0XXYcDGMDY2hrasAe//AJWbh8bc9+h1ySVbdT1QzqhDeq+gZzTQhC0HIRFqBiF351X/AIF6IQHm2ECutjzs2ePP1UmtA6CvgpISi2CiGC93nVfVdqSEICEIQAhCEAIQhACEihANK0ihAStK1EoUAikmkoUy9P8AY/fk++VbVKAOjBa5jydzjbWOcCC4kchevf8A6kv8t/4LPF0qOr5li0bl4d/+rJ/Lf+CO/H5sn8t/4K6kSj3tFrw78ej/AOW/8Ejkt8w/+W/8E1IUWLRarfKm/rfwP/BHypv638D/AME1LzFFncjcq/ypnv8A4X/gvN+oRN4c8N/3WP8AlNS8xpZc3JFypfOkH6Vn2ps1GF3SRpr0N0prj5l0vyLRKRXj8sj/ADx/VQdqEPTvWA+m4I5R8xTMTUvyx+I+6Fu4Drjb8K+zhc7qM7XSktIcLHI5HQLc0d9x/BxWbC/6jOk18KLqG9UFNvVaziaKEIWg5ghCEAIQhACEIQAhCEAIQhACEIQAkmkUAJJpFACSaRUAJItJQoIQSkSgBFJWglCjpCSRKlglaLXmXKBkU1Cj3tczr3ilP6rWj+/91uOnAWLmlpcSbBcVm4iVxo641TswMhi3+xEVRySfnybR8GD8SVkZreDS3ezcrRjNA8i7d/uuysvDpLLfkdsr+A3ty4XtbFtyy7ykjY76x4T/AMBdf3y5jtYQ6WOuoY6/gXcf3Wji2pYznh2kZcC6vQPYd/u/sudxsf3rpNIbsBB86IWfhVUj3lexeIQ3qmUN6r6BnNBCELucwQhCAEIQgBCEIAQhCAEIQgBCEIAQhCASEFCASiVIopQpBCdIpQEUlOkqQpGkKVIpSgRpRcFMhRcEYPCRyqyzUrUjVWfDfouM76HtGFkauGyuaT5iufKl5T5zSLsLRy9Ehl5fGxx9SOftVT/0vj/mD4FzyPsKwyhlO6lA5/M1dgO1tvd6MFq9omY9jTuaW7nXXpwtiLRo2cNawD3L1+bx7l4jhyJ3Z7c41RWOpH0WFqupfSh7mkNIAvqBXqumOB8F5v0pruoaV6njySVWeYyimZ2BlNoEEG/NaHzkAqbuysR6FzP9j3NH2dE4uykQNl8jvcZHUpGOZckG4PqbuJkh7QfUK2w8qnjYYYAB0A9SrcbFvhqrc4Srof/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https://camo.githubusercontent.com/7c9b27101ba491969d016f2f2427c3e066f7bd0b/68747470733a2f2f63646e2e7261776769742e636f6d2f6f64622f6f6666696369616c2d626173682d6c6f676f2f6d61737465722f6173736574732f4c6f676f732f4964656e746974792f504e472f424153485f6c6f676f2d7472616e73706172656e742d62672d636f6c6f722e706e6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5105400"/>
            <a:ext cx="358140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74895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839200" cy="838200"/>
          </a:xfrm>
        </p:spPr>
        <p:txBody>
          <a:bodyPr>
            <a:noAutofit/>
          </a:bodyPr>
          <a:lstStyle/>
          <a:p>
            <a:r>
              <a:rPr lang="en-US" sz="3200" b="1" dirty="0" smtClean="0"/>
              <a:t>The current status of Bash</a:t>
            </a:r>
            <a:r>
              <a:rPr lang="en-US" sz="3200" b="1" dirty="0"/>
              <a:t> </a:t>
            </a:r>
            <a:endParaRPr lang="en-US" sz="3200" b="1" dirty="0">
              <a:effectLst/>
            </a:endParaRPr>
          </a:p>
        </p:txBody>
      </p:sp>
      <p:sp>
        <p:nvSpPr>
          <p:cNvPr id="3" name="Content Placeholder 2"/>
          <p:cNvSpPr>
            <a:spLocks noGrp="1"/>
          </p:cNvSpPr>
          <p:nvPr>
            <p:ph idx="1"/>
          </p:nvPr>
        </p:nvSpPr>
        <p:spPr>
          <a:xfrm>
            <a:off x="304800" y="1371600"/>
            <a:ext cx="8686800" cy="3962400"/>
          </a:xfrm>
        </p:spPr>
        <p:txBody>
          <a:bodyPr>
            <a:normAutofit/>
          </a:bodyPr>
          <a:lstStyle/>
          <a:p>
            <a:r>
              <a:rPr lang="da-DK" dirty="0" smtClean="0"/>
              <a:t>Bash is well maintained and is under regular development</a:t>
            </a:r>
          </a:p>
          <a:p>
            <a:pPr lvl="1"/>
            <a:r>
              <a:rPr lang="en-US" dirty="0"/>
              <a:t>Webpage: </a:t>
            </a:r>
            <a:r>
              <a:rPr lang="en-US" sz="1800" dirty="0">
                <a:hlinkClick r:id="rId2"/>
              </a:rPr>
              <a:t>https://www.gnu.org/software/bash/</a:t>
            </a:r>
            <a:endParaRPr lang="en-US" sz="1800" dirty="0"/>
          </a:p>
          <a:p>
            <a:pPr lvl="1"/>
            <a:r>
              <a:rPr lang="en-US" dirty="0" smtClean="0"/>
              <a:t>Source code:</a:t>
            </a:r>
            <a:r>
              <a:rPr lang="en-US" dirty="0"/>
              <a:t> </a:t>
            </a:r>
            <a:r>
              <a:rPr lang="en-US" sz="1800" dirty="0">
                <a:hlinkClick r:id="rId3"/>
              </a:rPr>
              <a:t>http://</a:t>
            </a:r>
            <a:r>
              <a:rPr lang="en-US" sz="1800" dirty="0" smtClean="0">
                <a:hlinkClick r:id="rId3"/>
              </a:rPr>
              <a:t>git.savannah.gnu.org/cgit/bash.git</a:t>
            </a:r>
            <a:endParaRPr lang="da-DK" sz="1800" dirty="0" smtClean="0"/>
          </a:p>
          <a:p>
            <a:r>
              <a:rPr lang="da-DK" dirty="0" smtClean="0"/>
              <a:t>Latest release: version </a:t>
            </a:r>
            <a:r>
              <a:rPr lang="en-GB" dirty="0" smtClean="0"/>
              <a:t>5.2.</a:t>
            </a:r>
            <a:r>
              <a:rPr lang="en-DE" dirty="0" smtClean="0"/>
              <a:t>1</a:t>
            </a:r>
            <a:r>
              <a:rPr lang="en-GB" dirty="0" smtClean="0"/>
              <a:t>1 (</a:t>
            </a:r>
            <a:r>
              <a:rPr lang="en-DE" dirty="0" smtClean="0"/>
              <a:t>Nov</a:t>
            </a:r>
            <a:r>
              <a:rPr lang="en-GB" dirty="0" smtClean="0"/>
              <a:t>ember </a:t>
            </a:r>
            <a:r>
              <a:rPr lang="en-DE" dirty="0" smtClean="0"/>
              <a:t>9</a:t>
            </a:r>
            <a:r>
              <a:rPr lang="en-GB" dirty="0" smtClean="0"/>
              <a:t>, 202</a:t>
            </a:r>
            <a:r>
              <a:rPr lang="en-DE" dirty="0" smtClean="0"/>
              <a:t>3</a:t>
            </a:r>
            <a:r>
              <a:rPr lang="en-GB" dirty="0" smtClean="0"/>
              <a:t>)</a:t>
            </a:r>
            <a:endParaRPr lang="en-GB" dirty="0" smtClean="0"/>
          </a:p>
          <a:p>
            <a:pPr lvl="1"/>
            <a:r>
              <a:rPr lang="en-GB" dirty="0" smtClean="0"/>
              <a:t>The current maintainer</a:t>
            </a:r>
            <a:r>
              <a:rPr lang="en-GB" dirty="0"/>
              <a:t>: </a:t>
            </a:r>
            <a:r>
              <a:rPr lang="en-GB" dirty="0" smtClean="0"/>
              <a:t>Chet </a:t>
            </a:r>
            <a:r>
              <a:rPr lang="en-GB" dirty="0"/>
              <a:t>Ramey</a:t>
            </a:r>
            <a:r>
              <a:rPr lang="da-DK" dirty="0" smtClean="0"/>
              <a:t> </a:t>
            </a:r>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25</a:t>
            </a:fld>
            <a:endParaRPr lang="en-US" dirty="0"/>
          </a:p>
        </p:txBody>
      </p:sp>
      <p:sp>
        <p:nvSpPr>
          <p:cNvPr id="5" name="AutoShape 2" descr="data:image/jpeg;base64,/9j/4AAQSkZJRgABAQAAAQABAAD/2wCEAAkGBxAPEBUPDxAQEBAPDxAQEA8PEBAQDw4PFREWFhUVFRUYHiggGBomHRYXITEhJSkrLi4uGB8zODMsNygtLisBCgoKDg0OGxAQFzIlHh8tListKy0tMS0tLS0tLS8tLi0tLS0vLSstLS0tLS0tLSstLS0wLS0tNzUtNzcrNy8tLv/AABEIAJ4BPwMBIgACEQEDEQH/xAAbAAACAwEBAQAAAAAAAAAAAAAAAQIEBQYDB//EAEMQAAEEAQMBBQMHCgUDBQAAAAEAAgMRBAUSITEGEyJBUTJhcRQVI4GRstEzUlNic4KSk6HBQkNUcrEHovAWY6Ph8f/EABkBAQEBAQEBAAAAAAAAAAAAAAABBAMCBf/EAC8RAAICAQIEBAUDBQAAAAAAAAABAhEDEiEEMUHwE1GR4SIyYYGxFEJiI0NSodH/2gAMAwEAAhEDEQA/APuKEIQAhCEAIQhACSaRQAkmkgEUJpKASCmkoUSSZQgEkmhCiKSaSgEkmkoASTSUKJJNCAikpJKAikpJKFEkmkoBJJpWEKAYSpdyfUJGVR71S0NxujPx+C8yp96k42psUghnVCbOqA2EIQtRxBCEIAQhCAEIQgEhBQgEkmUKASSaEKIpJpKAEk0kAkJpKFEkmkgEhMpKASSaShRJJpIBJKSShSKE0lAQkdQJ9FRdOvfUXVGT8P8AlYhn96zZZ06OkI2aJnS79Zpn96O/XHxDppNMTKbZllCf3qbZ/eqshNJsxutejOqpae+7+r+6us6rTB2rObVGuhCFsOAIQhACEIQAhCEAJJpFACSaRQAUk0lACRTSQokIKFAJJNBQokk0lAJJNCgEkmkoUSSaSASSkkoBJFNJQpXzot8bmjqWmviOQuNM67krj+1GnGN3fRj6N3tgf4HevwKx8XF1qXQ74WrplTv0d+sc5CXylfO8Q1aDaE69GzrEblLe0HTXzESOFRA3z/me4e73rpjbm6R4klFWzoNKiLYwT1f4vgPJXWdUJs6r6sVSSMbdmshCFrOIIQhACEIQAhCEAIQhAJCChAJBQhQCQhCFEUk0lAJCaSFEhMpKASSy4ceSW3meVtveA1pAa0BxAA49y9Pm1/8AqJv4m/guam3uonql5l9CofNr/wDUzfa38Ejpsn+pm/7PwU1S/wAfwKXmX1EmlROmyf6mb/s/BUs/Ela01kSurmjso1zR4XmWRpXp/B6UU+psd631XhmZrI2l3p6rEh1WM8FwBHUHghUdYzWTMMDHW5xF1zQXCfErTaPaxb7nSadqLZ2GSqYDV31I60vbHyWvBIPAJB+K4zE0zIa3YyTbH6bel9aW/h6RI1u0TvA61tZ1+xTFmyS/aWcIrqX58wDpR+KpS57zYLGOBFEG+QvX5kf+nd/BH+CkNFf+nP8ALj/Be34r6fg8rQupyc+jNJJbbbJpvUAelqo/Qz5O/ou2OiP/AE5/lsS+Y3/pv/iYsr4Nv9p2Wf6mLoXZ3HAD3u72Qc7Dw1p/2+f1rp6WPJAY3ljiHFoDg8DaaPlQV3Cyb4u/etGHTD4ao5zblvZbQ3qhNnVaDkaqEKMjw3r5kD6yaC0nIdrx+VN+qrJPG2zQsdRazNQztrbdQ8LgXPY9jQDI1vtCyDzx6qlLnfSBoJMjXlzQbc5he4xsDwzh0dWeTY4XCWZLY0w4aUlZvjI45FO4Lmgg7WkkWT6cL2Y8Hp5cLlflrW923Y+Nm8BjX7x+UL2uDjyHmxYB4pauBL+cSXVCHWS5wdt8w3wt+rhSGZN0XJw7irNdeQed5b5bA767IUo3X/8AlLyP5U/sh94rQZSwhcPg6zqUbAH40k8jy6y4BrY3hzfDwB4du43zyKtPO7TajC4Mdhs3Oe1jS0SuaXFhdxR5uq8tvnaA7dC4s9o9Uuvm4fl3M9skbBfn9hvolrGbq7oInQxNjm72Xvmx0WmMQF7K33/ipteddRaA7VC4sdodUsj5vBqZ7BTnDe0NcWmzwLIHPvUcXtFqr3MadPa3ewlznF4ax/ebRfurqPcgO2QuU0rVdRkyG97jtZAaZINrmmN/jJLST4qpoJ6GwQqseq6lGXnuJJnGcscx8bGxReJ20ROadzmkBniI43En0QHaoXHs1/UnUW4AFECRr3OaS7cAQw+nN2fRe+h6hnzZA76IxwGMk+HaN+1tcHkc2gOpQhCA8ioqRSXkpS0z2P35PvlXFS0z2P35PvlXLXPH8qPUuY0KG5G5etSJRJV8iOxS9tyRXl0yo5rP0ON5st5TwtFZGeG0uhLAgRhZv08Lujr4rqitDjgeStsbSKTtd4pI5t2TCahuRuXuzyTQkCherBzWvPqR59GN/us3QMovBN/4ir3aIHdIQCajbdc+qzez+K5jS3rtcQT+tfP9bXypt+L6muNaDrGOsA+5SZ1VfEdxSst6rdF2jgzUVLOl2tcQ7oK9oNa11W3c7yB4H1q6s7UQQd5LQG9Xv/JNbbbD23yTzR8l3yP4TzjScjEypDdNcG8vLiXzAsviVoe7w3u2ht+V0s3UtWjxoy6QiERvjm+kqOGJzjT4nOYfpHmya9Vbzxs3GUV4I9xnjdOSwTu8Jc00TyCBVhcT/wBRNzGQT+wzG1V78iRkNhhPsS7HGnAe/jlYYrVPS2fUm9GPUldd9+50Gha5jzOLIZWAR79zojIx8GOXAgmKQWbN80r+k9r8CR7Y4cmIFwmcIg55ETY7txqg1u0E8+a5LSdRxsnVGTt1KTNljxJWl8eHHFCI3dGPeDwb6WFk6Jpgk7PZboYw7IkdLucIy6ZzWz9A702g8BdvCjB8++130yPPPJG2u+33vf1LS+3ulzSjHjzI3SOdtjvftkPo17hTj8Cuj/zT+zb94r5HpHazRn4un4vyY5WQx8LG47IwZMeYcOkd6i+f6r64Pyp/Zt+8VqXIxvmUm6sdoLopLIshrSa9Aos1gkX3Et1YG08mul/0WnFM13LXNcASCWkGiOoU7VJyMyTVvzYZTQcTbSPZF0E36t0LYZXAuId4eW1V8efX+i0HyBoskAepNBDXAixVHmx0KAoO1Mgg93JsMe/2TvB3VVf+dUjrLQaMU11urZzVLRDwfTjrz0TtAZztUsO2RSW3oXtLWk7q+Neafzr/AOzMa60zi/ctC0WgM751H6Kb+Dp0/FeuLqAkO3u5G8E25tNv0VmOVrvZINEg0bojqFMFANCEIDyKSZSXkpR0z2P35PvlWyqWmnwfvyffKuLjD5Ue5cyKzu0ue/GwsnJjDS/HxZ5mB4JaXsjc4WBViwtFVNXwG5WPLjPLmsyIZIXObW5rZGFpIvi+VQcI/thmM0/5Y6WDc+fCiBk07Mx2QNmP0ji177mABFFtDg9bXth9s8uXHYI248s2VqT8HEygyWLFlja0udOYi4upu17du7kt6rbZ2SuFkE2blTxwzYk0IkbjNMRxnbmtBZGLBoA3Z8PFJZPYnHeJAJZ4zJnfOETonNa7Ey9tOdFx0dyS11jkr1tff09zzvXf19jWw2ZjYXiaTGkyPF3T2RyRQnwjbvYXOI5u6PSlxw7YZ0bM1jxi5D8bLxMPGyYmSR48mROWte17S5x+jLhdO93C62LSZBjSQPzMmR8wePlLjE2ePc3b9HsaGtqrHHWysfE7DRsxDguy8mSCo+5BbjRuxpGSCRsrHRxgl+4Akuu/Pqoq6l6Fc9oc9kOfGRivytMNmUNljgfC7HMwd3dk7h7O3cB52rGqavlt06PUGT40DW4TcjIEuNJNve6NrgI6lbt5JFG+oXueyDfk88PyvJ7zNeXZWURAZ52933ewgs2NbtoeFo6KZ7JsdiwYcuRPNFjTQygPEIMzYaMcUm1oBYCAfU0LKe3uPc09AlyH4sL8trG5D4mPmZGCGMe4XtAJPS66+SvoQowTaheb5KWdmansNDz/AKBSU1FblUWzH7QTyMyWiIOJcQPD1oNWjiDaPEA1x5PFWVWOoMDt4bbzxuPWlPvzMQy9pddHrXCxJrU3fPod3ySosYk4dIQ3o1vJ998K+zqvHExWxN2sHvJPVx9SvdvVaoJpbnKT8jTVPMbxwOvmCAS/o0UeD1/oriRC1NWjlF07OSnYWHvAdu3cSSIW950Y83u47x20g1xtVZ2M2R4adwcdkTZC7fP3LD4+9a+tzS4bbF3wuiycIXbW+yI+WiNgc0PJcCSOnmR9io5Wng7RtaSHubuoPDPF3kZc5/iJuuAasrDPEz6mPOmu+/8Apj6fhxxtt1DvGy7e8ijhhD99Rh8Y5LuDRW1p8LejGtY32i1rW13jhZdtNFt8iq814Q6ewU5sRYNu+nhpMW3lschNnlzi4EchauFjFtBwPh7sNJp/LWckP6nzFuTHjd79/c858ka27+yPTD0+FjjIyGNj3clwjja/nysBe/8Amn9m37xXsxlen1Lx/wA0/s2/eK3LkfNZhDR2ObujyOu8AcNYbNgAeQseSUGhNB3HI8DY6JY4NIcd19OjeennS0ToUXkXD4Vz093Hsj+qb9DiLHRguaJK3bdoJAN+nvWTwP4/7N/6nprfoil8xQ0QZrcNpslvhoOuh5DxH4UFW1LSGBoDJwDI4Nt76bdO54uzR46dArruzUQqi7hzS4miXtB6X7xx8CVI9mYDd7yHG6JBaOvAFdOR/CFHhbVaF6nqPERTvxH6Hnk6PG575BNtLn7y0Fo8QYAQT+6PgCfVQxtGYI2MfOSQS8lrqaS+Puxt+y/jyvSPszFTtxdb3SHh26gSQDZA5r7LI56q0NDi2sbbiI2bW9Pfz8fEVVid24L1PDzpKlkfp9DOOiRu+jGSdwa1tA9Swkm+f1ui9fmNnJOQ4l29zSSKG4jn3+zXvsq9JosbnOcS4F7nOsUCC6ro/UvKfs/C8MsvHdivCa3DdfP9ftKvg/wXqP1F/wBx+iKWRpEIBccjb9IHOoii4E8UD18X1cK3pODGyVzo5d5YwRPb1p3tWT6qMXZqFoIt5u6J2+GyORx1469Vd0vS2Y27YXHeQTuryFeQVhiaknpS+5MmZODSm39i8hCFqMJ5FJSKS8lM3TfY/fk++ValfTS6i4hpIaOrqHQe9VNNPg/fk++VYlaXNLQ4sJaQHiiWkjggHix71wh8p0fM4PC/6gSnBn1B8ONIIIw75LjSyuyseTcQY8lrmeCuLeBXB4W9ldsMeFsb54cyJsjYy578WQRwd5J3bRK7o0k+XPBF9QqMvYYz/KH5eWZp8rCdg99HjxY4ZEXB24taTvduA5J6cClV1v8A6eOzXB8+bueYYYnvOJE43FIXtdFZ+hB4Dg32q6rptZ43ov6326hx2ZZigyZ5NPDhKGwvEIeNtNMtEDh1+dAEkKMva5kUj5ZnSxQR6dHlPxZMUtmj3ZLo+8LrvyrZXTnzVyTsq18OfA6V23VJZZXEMAMHeQsjoc+Ktl3x1VDUuxDslsvfZhdJkadFgvkGO1oqPIdKJA0Or/Ftr3Xaiqu/Ir79S9D20xHtcQMgPZPDj9w/HkZkPknbui2xuo05oJs1wDdL2h7UwPwpdQDZmw44nLhJHskJhsPAaT+cC34grne23ZSWR0k8Imn+VZeDJNFAMfvIo8aCRgLBMdkluLTTqrrzS2OzOkyP004edE1jHtmhETRFG8YjiRGJBD4GybTZ28WnQdUVtJ7UZD5mR5TdPiMsTpnYseYX5+OzujI3dGWgP467aq75Ctwds8eTHblRwZ0kUhpmzDlLnjZuLwPzB03dL6WquH2MkbLDJNnSZDcSGeHHD4ImyBssfd/SyNNyENA8h0SzuwwlxMPF+UV83sDAX48c0U/0ezc6F5Ldw6tPO0+qOuhFfU9srt/gxta68iRr8RmaHQ48kgbiuJBkfQ8AFG7pWNL7UDIzpsJsEwbBHC9uTsd3UgkaXWTVNB42mzu56Us/G7BNZC6AZLiH6T817u6Fhu97u9rd18fs+7qtXTuz7sfKOSzIJZJjQQSwGJtPdA0tY8Pu28E23n4q7Dc1MlcprwcCHC+OvwXXShU8jFa7qFlz43NUjtjlpZxsWW0+YW7oDN79/wDhYKvyLj/9WsvN0qISkbfMdCR5D0XXYcDGMDY2hrasAe//AJWbh8bc9+h1ySVbdT1QzqhDeq+gZzTQhC0HIRFqBiF351X/AIF6IQHm2ECutjzs2ePP1UmtA6CvgpISi2CiGC93nVfVdqSEICEIQAhCEAIQhACEihANK0ihAStK1EoUAikmkoUy9P8AY/fk++VbVKAOjBa5jydzjbWOcCC4kchevf8A6kv8t/4LPF0qOr5li0bl4d/+rJ/Lf+CO/H5sn8t/4K6kSj3tFrw78ej/AOW/8Ejkt8w/+W/8E1IUWLRarfKm/rfwP/BHypv638D/AME1LzFFncjcq/ypnv8A4X/gvN+oRN4c8N/3WP8AlNS8xpZc3JFypfOkH6Vn2ps1GF3SRpr0N0prj5l0vyLRKRXj8sj/ADx/VQdqEPTvWA+m4I5R8xTMTUvyx+I+6Fu4Drjb8K+zhc7qM7XSktIcLHI5HQLc0d9x/BxWbC/6jOk18KLqG9UFNvVaziaKEIWg5ghCEAIQhACEIQAhCEAIQhACEIQAkmkUAJJpFACSaRUAJItJQoIQSkSgBFJWglCjpCSRKlglaLXmXKBkU1Cj3tczr3ilP6rWj+/91uOnAWLmlpcSbBcVm4iVxo641TswMhi3+xEVRySfnybR8GD8SVkZreDS3ezcrRjNA8i7d/uuysvDpLLfkdsr+A3ty4XtbFtyy7ykjY76x4T/AMBdf3y5jtYQ6WOuoY6/gXcf3Wji2pYznh2kZcC6vQPYd/u/sudxsf3rpNIbsBB86IWfhVUj3lexeIQ3qmUN6r6BnNBCELucwQhCAEIQgBCEIAQhCAEIQgBCEIAQhCASEFCASiVIopQpBCdIpQEUlOkqQpGkKVIpSgRpRcFMhRcEYPCRyqyzUrUjVWfDfouM76HtGFkauGyuaT5iufKl5T5zSLsLRy9Ehl5fGxx9SOftVT/0vj/mD4FzyPsKwyhlO6lA5/M1dgO1tvd6MFq9omY9jTuaW7nXXpwtiLRo2cNawD3L1+bx7l4jhyJ3Z7c41RWOpH0WFqupfSh7mkNIAvqBXqumOB8F5v0pruoaV6njySVWeYyimZ2BlNoEEG/NaHzkAqbuysR6FzP9j3NH2dE4uykQNl8jvcZHUpGOZckG4PqbuJkh7QfUK2w8qnjYYYAB0A9SrcbFvhqrc4Srof/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https://camo.githubusercontent.com/7c9b27101ba491969d016f2f2427c3e066f7bd0b/68747470733a2f2f63646e2e7261776769742e636f6d2f6f64622f6f6666696369616c2d626173682d6c6f676f2f6d61737465722f6173736574732f4c6f676f732f4964656e746974792f504e472f424153485f6c6f676f2d7472616e73706172656e742d62672d636f6c6f722e706e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4343400"/>
            <a:ext cx="358140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43727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839200" cy="838200"/>
          </a:xfrm>
        </p:spPr>
        <p:txBody>
          <a:bodyPr>
            <a:noAutofit/>
          </a:bodyPr>
          <a:lstStyle/>
          <a:p>
            <a:r>
              <a:rPr lang="en-US" sz="3200" b="1" dirty="0" smtClean="0"/>
              <a:t>Testing Bash code online?</a:t>
            </a:r>
            <a:endParaRPr lang="en-US" sz="3200" b="1" dirty="0">
              <a:effectLst/>
            </a:endParaRPr>
          </a:p>
        </p:txBody>
      </p:sp>
      <p:sp>
        <p:nvSpPr>
          <p:cNvPr id="3" name="Content Placeholder 2"/>
          <p:cNvSpPr>
            <a:spLocks noGrp="1"/>
          </p:cNvSpPr>
          <p:nvPr>
            <p:ph idx="1"/>
          </p:nvPr>
        </p:nvSpPr>
        <p:spPr>
          <a:xfrm>
            <a:off x="304800" y="1371600"/>
            <a:ext cx="8686800" cy="1828800"/>
          </a:xfrm>
        </p:spPr>
        <p:txBody>
          <a:bodyPr>
            <a:normAutofit/>
          </a:bodyPr>
          <a:lstStyle/>
          <a:p>
            <a:r>
              <a:rPr lang="en-GB" dirty="0" smtClean="0"/>
              <a:t>In the case you do not have currently the access to </a:t>
            </a:r>
            <a:r>
              <a:rPr lang="da-DK" dirty="0" smtClean="0"/>
              <a:t>the computer running Linux, you can test your Bash code online</a:t>
            </a:r>
          </a:p>
          <a:p>
            <a:pPr lvl="1"/>
            <a:r>
              <a:rPr lang="da-DK" dirty="0" smtClean="0"/>
              <a:t>For instance: </a:t>
            </a:r>
            <a:r>
              <a:rPr lang="en-GB" sz="1800" dirty="0">
                <a:hlinkClick r:id="rId2"/>
              </a:rPr>
              <a:t>https://</a:t>
            </a:r>
            <a:r>
              <a:rPr lang="en-GB" sz="1800" dirty="0" smtClean="0">
                <a:hlinkClick r:id="rId2"/>
              </a:rPr>
              <a:t>www.tutorialspoint.com/execute_bash_online.php</a:t>
            </a:r>
            <a:r>
              <a:rPr lang="da-DK" sz="1800" dirty="0" smtClean="0"/>
              <a:t>  </a:t>
            </a:r>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26</a:t>
            </a:fld>
            <a:endParaRPr lang="en-US" dirty="0"/>
          </a:p>
        </p:txBody>
      </p:sp>
      <p:sp>
        <p:nvSpPr>
          <p:cNvPr id="5" name="AutoShape 2" descr="data:image/jpeg;base64,/9j/4AAQSkZJRgABAQAAAQABAAD/2wCEAAkGBxAPEBUPDxAQEBAPDxAQEA8PEBAQDw4PFREWFhUVFRUYHiggGBomHRYXITEhJSkrLi4uGB8zODMsNygtLisBCgoKDg0OGxAQFzIlHh8tListKy0tMS0tLS0tLS8tLi0tLS0vLSstLS0tLS0tLSstLS0wLS0tNzUtNzcrNy8tLv/AABEIAJ4BPwMBIgACEQEDEQH/xAAbAAACAwEBAQAAAAAAAAAAAAAAAQIEBQYDB//EAEMQAAEEAQMBBQMHCgUDBQAAAAEAAgMRBAUSITEGEyJBUTJhcRQVI4GRstEzUlNic4KSk6HBQkNUcrEHovAWY6Ph8f/EABkBAQEBAQEBAAAAAAAAAAAAAAABBAMCBf/EAC8RAAICAQIEBAUDBQAAAAAAAAABAhEDEiEEMUHwE1GR4SIyYYGxFEJiI0NSodH/2gAMAwEAAhEDEQA/APuKEIQAhCEAIQhACSaRQAkmkgEUJpKASCmkoUSSZQgEkmhCiKSaSgEkmkoASTSUKJJNCAikpJKAikpJKFEkmkoBJJpWEKAYSpdyfUJGVR71S0NxujPx+C8yp96k42psUghnVCbOqA2EIQtRxBCEIAQhCAEIQgEhBQgEkmUKASSaEKIpJpKAEk0kAkJpKFEkmkgEhMpKASSaShRJJpIBJKSShSKE0lAQkdQJ9FRdOvfUXVGT8P8AlYhn96zZZ06OkI2aJnS79Zpn96O/XHxDppNMTKbZllCf3qbZ/eqshNJsxutejOqpae+7+r+6us6rTB2rObVGuhCFsOAIQhACEIQAhCEAJJpFACSaRQAUk0lACRTSQokIKFAJJNBQokk0lAJJNCgEkmkoUSSaSASSkkoBJFNJQpXzot8bmjqWmviOQuNM67krj+1GnGN3fRj6N3tgf4HevwKx8XF1qXQ74WrplTv0d+sc5CXylfO8Q1aDaE69GzrEblLe0HTXzESOFRA3z/me4e73rpjbm6R4klFWzoNKiLYwT1f4vgPJXWdUJs6r6sVSSMbdmshCFrOIIQhACEIQAhCEAIQhAJCChAJBQhQCQhCFEUk0lAJCaSFEhMpKASSy4ceSW3meVtveA1pAa0BxAA49y9Pm1/8AqJv4m/guam3uonql5l9CofNr/wDUzfa38Ejpsn+pm/7PwU1S/wAfwKXmX1EmlROmyf6mb/s/BUs/Ela01kSurmjso1zR4XmWRpXp/B6UU+psd631XhmZrI2l3p6rEh1WM8FwBHUHghUdYzWTMMDHW5xF1zQXCfErTaPaxb7nSadqLZ2GSqYDV31I60vbHyWvBIPAJB+K4zE0zIa3YyTbH6bel9aW/h6RI1u0TvA61tZ1+xTFmyS/aWcIrqX58wDpR+KpS57zYLGOBFEG+QvX5kf+nd/BH+CkNFf+nP8ALj/Be34r6fg8rQupyc+jNJJbbbJpvUAelqo/Qz5O/ou2OiP/AE5/lsS+Y3/pv/iYsr4Nv9p2Wf6mLoXZ3HAD3u72Qc7Dw1p/2+f1rp6WPJAY3ljiHFoDg8DaaPlQV3Cyb4u/etGHTD4ao5zblvZbQ3qhNnVaDkaqEKMjw3r5kD6yaC0nIdrx+VN+qrJPG2zQsdRazNQztrbdQ8LgXPY9jQDI1vtCyDzx6qlLnfSBoJMjXlzQbc5he4xsDwzh0dWeTY4XCWZLY0w4aUlZvjI45FO4Lmgg7WkkWT6cL2Y8Hp5cLlflrW923Y+Nm8BjX7x+UL2uDjyHmxYB4pauBL+cSXVCHWS5wdt8w3wt+rhSGZN0XJw7irNdeQed5b5bA767IUo3X/8AlLyP5U/sh94rQZSwhcPg6zqUbAH40k8jy6y4BrY3hzfDwB4du43zyKtPO7TajC4Mdhs3Oe1jS0SuaXFhdxR5uq8tvnaA7dC4s9o9Uuvm4fl3M9skbBfn9hvolrGbq7oInQxNjm72Xvmx0WmMQF7K33/ipteddRaA7VC4sdodUsj5vBqZ7BTnDe0NcWmzwLIHPvUcXtFqr3MadPa3ewlznF4ax/ebRfurqPcgO2QuU0rVdRkyG97jtZAaZINrmmN/jJLST4qpoJ6GwQqseq6lGXnuJJnGcscx8bGxReJ20ROadzmkBniI43En0QHaoXHs1/UnUW4AFECRr3OaS7cAQw+nN2fRe+h6hnzZA76IxwGMk+HaN+1tcHkc2gOpQhCA8ioqRSXkpS0z2P35PvlXFS0z2P35PvlXLXPH8qPUuY0KG5G5etSJRJV8iOxS9tyRXl0yo5rP0ON5st5TwtFZGeG0uhLAgRhZv08Lujr4rqitDjgeStsbSKTtd4pI5t2TCahuRuXuzyTQkCherBzWvPqR59GN/us3QMovBN/4ir3aIHdIQCajbdc+qzez+K5jS3rtcQT+tfP9bXypt+L6muNaDrGOsA+5SZ1VfEdxSst6rdF2jgzUVLOl2tcQ7oK9oNa11W3c7yB4H1q6s7UQQd5LQG9Xv/JNbbbD23yTzR8l3yP4TzjScjEypDdNcG8vLiXzAsviVoe7w3u2ht+V0s3UtWjxoy6QiERvjm+kqOGJzjT4nOYfpHmya9Vbzxs3GUV4I9xnjdOSwTu8Jc00TyCBVhcT/wBRNzGQT+wzG1V78iRkNhhPsS7HGnAe/jlYYrVPS2fUm9GPUldd9+50Gha5jzOLIZWAR79zojIx8GOXAgmKQWbN80r+k9r8CR7Y4cmIFwmcIg55ETY7txqg1u0E8+a5LSdRxsnVGTt1KTNljxJWl8eHHFCI3dGPeDwb6WFk6Jpgk7PZboYw7IkdLucIy6ZzWz9A702g8BdvCjB8++130yPPPJG2u+33vf1LS+3ulzSjHjzI3SOdtjvftkPo17hTj8Cuj/zT+zb94r5HpHazRn4un4vyY5WQx8LG47IwZMeYcOkd6i+f6r64Pyp/Zt+8VqXIxvmUm6sdoLopLIshrSa9Aos1gkX3Et1YG08mul/0WnFM13LXNcASCWkGiOoU7VJyMyTVvzYZTQcTbSPZF0E36t0LYZXAuId4eW1V8efX+i0HyBoskAepNBDXAixVHmx0KAoO1Mgg93JsMe/2TvB3VVf+dUjrLQaMU11urZzVLRDwfTjrz0TtAZztUsO2RSW3oXtLWk7q+Neafzr/AOzMa60zi/ctC0WgM751H6Kb+Dp0/FeuLqAkO3u5G8E25tNv0VmOVrvZINEg0bojqFMFANCEIDyKSZSXkpR0z2P35PvlWyqWmnwfvyffKuLjD5Ue5cyKzu0ue/GwsnJjDS/HxZ5mB4JaXsjc4WBViwtFVNXwG5WPLjPLmsyIZIXObW5rZGFpIvi+VQcI/thmM0/5Y6WDc+fCiBk07Mx2QNmP0ji177mABFFtDg9bXth9s8uXHYI248s2VqT8HEygyWLFlja0udOYi4upu17du7kt6rbZ2SuFkE2blTxwzYk0IkbjNMRxnbmtBZGLBoA3Z8PFJZPYnHeJAJZ4zJnfOETonNa7Ey9tOdFx0dyS11jkr1tff09zzvXf19jWw2ZjYXiaTGkyPF3T2RyRQnwjbvYXOI5u6PSlxw7YZ0bM1jxi5D8bLxMPGyYmSR48mROWte17S5x+jLhdO93C62LSZBjSQPzMmR8wePlLjE2ePc3b9HsaGtqrHHWysfE7DRsxDguy8mSCo+5BbjRuxpGSCRsrHRxgl+4Akuu/Pqoq6l6Fc9oc9kOfGRivytMNmUNljgfC7HMwd3dk7h7O3cB52rGqavlt06PUGT40DW4TcjIEuNJNve6NrgI6lbt5JFG+oXueyDfk88PyvJ7zNeXZWURAZ52933ewgs2NbtoeFo6KZ7JsdiwYcuRPNFjTQygPEIMzYaMcUm1oBYCAfU0LKe3uPc09AlyH4sL8trG5D4mPmZGCGMe4XtAJPS66+SvoQowTaheb5KWdmansNDz/AKBSU1FblUWzH7QTyMyWiIOJcQPD1oNWjiDaPEA1x5PFWVWOoMDt4bbzxuPWlPvzMQy9pddHrXCxJrU3fPod3ySosYk4dIQ3o1vJ998K+zqvHExWxN2sHvJPVx9SvdvVaoJpbnKT8jTVPMbxwOvmCAS/o0UeD1/oriRC1NWjlF07OSnYWHvAdu3cSSIW950Y83u47x20g1xtVZ2M2R4adwcdkTZC7fP3LD4+9a+tzS4bbF3wuiycIXbW+yI+WiNgc0PJcCSOnmR9io5Wng7RtaSHubuoPDPF3kZc5/iJuuAasrDPEz6mPOmu+/8Apj6fhxxtt1DvGy7e8ijhhD99Rh8Y5LuDRW1p8LejGtY32i1rW13jhZdtNFt8iq814Q6ewU5sRYNu+nhpMW3lschNnlzi4EchauFjFtBwPh7sNJp/LWckP6nzFuTHjd79/c858ka27+yPTD0+FjjIyGNj3clwjja/nysBe/8Amn9m37xXsxlen1Lx/wA0/s2/eK3LkfNZhDR2ObujyOu8AcNYbNgAeQseSUGhNB3HI8DY6JY4NIcd19OjeennS0ToUXkXD4Vz093Hsj+qb9DiLHRguaJK3bdoJAN+nvWTwP4/7N/6nprfoil8xQ0QZrcNpslvhoOuh5DxH4UFW1LSGBoDJwDI4Nt76bdO54uzR46dArruzUQqi7hzS4miXtB6X7xx8CVI9mYDd7yHG6JBaOvAFdOR/CFHhbVaF6nqPERTvxH6Hnk6PG575BNtLn7y0Fo8QYAQT+6PgCfVQxtGYI2MfOSQS8lrqaS+Puxt+y/jyvSPszFTtxdb3SHh26gSQDZA5r7LI56q0NDi2sbbiI2bW9Pfz8fEVVid24L1PDzpKlkfp9DOOiRu+jGSdwa1tA9Swkm+f1ui9fmNnJOQ4l29zSSKG4jn3+zXvsq9JosbnOcS4F7nOsUCC6ro/UvKfs/C8MsvHdivCa3DdfP9ftKvg/wXqP1F/wBx+iKWRpEIBccjb9IHOoii4E8UD18X1cK3pODGyVzo5d5YwRPb1p3tWT6qMXZqFoIt5u6J2+GyORx1469Vd0vS2Y27YXHeQTuryFeQVhiaknpS+5MmZODSm39i8hCFqMJ5FJSKS8lM3TfY/fk++ValfTS6i4hpIaOrqHQe9VNNPg/fk++VYlaXNLQ4sJaQHiiWkjggHix71wh8p0fM4PC/6gSnBn1B8ONIIIw75LjSyuyseTcQY8lrmeCuLeBXB4W9ldsMeFsb54cyJsjYy578WQRwd5J3bRK7o0k+XPBF9QqMvYYz/KH5eWZp8rCdg99HjxY4ZEXB24taTvduA5J6cClV1v8A6eOzXB8+bueYYYnvOJE43FIXtdFZ+hB4Dg32q6rptZ43ov6326hx2ZZigyZ5NPDhKGwvEIeNtNMtEDh1+dAEkKMva5kUj5ZnSxQR6dHlPxZMUtmj3ZLo+8LrvyrZXTnzVyTsq18OfA6V23VJZZXEMAMHeQsjoc+Ktl3x1VDUuxDslsvfZhdJkadFgvkGO1oqPIdKJA0Or/Ftr3Xaiqu/Ir79S9D20xHtcQMgPZPDj9w/HkZkPknbui2xuo05oJs1wDdL2h7UwPwpdQDZmw44nLhJHskJhsPAaT+cC34grne23ZSWR0k8Imn+VZeDJNFAMfvIo8aCRgLBMdkluLTTqrrzS2OzOkyP004edE1jHtmhETRFG8YjiRGJBD4GybTZ28WnQdUVtJ7UZD5mR5TdPiMsTpnYseYX5+OzujI3dGWgP467aq75Ctwds8eTHblRwZ0kUhpmzDlLnjZuLwPzB03dL6WquH2MkbLDJNnSZDcSGeHHD4ImyBssfd/SyNNyENA8h0SzuwwlxMPF+UV83sDAX48c0U/0ezc6F5Ldw6tPO0+qOuhFfU9srt/gxta68iRr8RmaHQ48kgbiuJBkfQ8AFG7pWNL7UDIzpsJsEwbBHC9uTsd3UgkaXWTVNB42mzu56Us/G7BNZC6AZLiH6T817u6Fhu97u9rd18fs+7qtXTuz7sfKOSzIJZJjQQSwGJtPdA0tY8Pu28E23n4q7Dc1MlcprwcCHC+OvwXXShU8jFa7qFlz43NUjtjlpZxsWW0+YW7oDN79/wDhYKvyLj/9WsvN0qISkbfMdCR5D0XXYcDGMDY2hrasAe//AJWbh8bc9+h1ySVbdT1QzqhDeq+gZzTQhC0HIRFqBiF351X/AIF6IQHm2ECutjzs2ePP1UmtA6CvgpISi2CiGC93nVfVdqSEICEIQAhCEAIQhACEihANK0ihAStK1EoUAikmkoUy9P8AY/fk++VbVKAOjBa5jydzjbWOcCC4kchevf8A6kv8t/4LPF0qOr5li0bl4d/+rJ/Lf+CO/H5sn8t/4K6kSj3tFrw78ej/AOW/8Ejkt8w/+W/8E1IUWLRarfKm/rfwP/BHypv638D/AME1LzFFncjcq/ypnv8A4X/gvN+oRN4c8N/3WP8AlNS8xpZc3JFypfOkH6Vn2ps1GF3SRpr0N0prj5l0vyLRKRXj8sj/ADx/VQdqEPTvWA+m4I5R8xTMTUvyx+I+6Fu4Drjb8K+zhc7qM7XSktIcLHI5HQLc0d9x/BxWbC/6jOk18KLqG9UFNvVaziaKEIWg5ghCEAIQhACEIQAhCEAIQhACEIQAkmkUAJJpFACSaRUAJItJQoIQSkSgBFJWglCjpCSRKlglaLXmXKBkU1Cj3tczr3ilP6rWj+/91uOnAWLmlpcSbBcVm4iVxo641TswMhi3+xEVRySfnybR8GD8SVkZreDS3ezcrRjNA8i7d/uuysvDpLLfkdsr+A3ty4XtbFtyy7ykjY76x4T/AMBdf3y5jtYQ6WOuoY6/gXcf3Wji2pYznh2kZcC6vQPYd/u/sudxsf3rpNIbsBB86IWfhVUj3lexeIQ3qmUN6r6BnNBCELucwQhCAEIQgBCEIAQhCAEIQgBCEIAQhCASEFCASiVIopQpBCdIpQEUlOkqQpGkKVIpSgRpRcFMhRcEYPCRyqyzUrUjVWfDfouM76HtGFkauGyuaT5iufKl5T5zSLsLRy9Ehl5fGxx9SOftVT/0vj/mD4FzyPsKwyhlO6lA5/M1dgO1tvd6MFq9omY9jTuaW7nXXpwtiLRo2cNawD3L1+bx7l4jhyJ3Z7c41RWOpH0WFqupfSh7mkNIAvqBXqumOB8F5v0pruoaV6njySVWeYyimZ2BlNoEEG/NaHzkAqbuysR6FzP9j3NH2dE4uykQNl8jvcZHUpGOZckG4PqbuJkh7QfUK2w8qnjYYYAB0A9SrcbFvhqrc4Srof/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https://camo.githubusercontent.com/7c9b27101ba491969d016f2f2427c3e066f7bd0b/68747470733a2f2f63646e2e7261776769742e636f6d2f6f64622f6f6666696369616c2d626173682d6c6f676f2f6d61737465722f6173736574732f4c6f676f732f4964656e746974792f504e472f424153485f6c6f676f2d7472616e73706172656e742d62672d636f6c6f722e706e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4352925"/>
            <a:ext cx="3581400" cy="151447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304800" y="2590800"/>
            <a:ext cx="8686800" cy="1828800"/>
          </a:xfrm>
          <a:prstGeom prst="rect">
            <a:avLst/>
          </a:prstGeom>
        </p:spPr>
        <p:txBody>
          <a:bodyPr vert="horz">
            <a:normAutofit/>
          </a:bodyPr>
          <a:lstStyle>
            <a:lvl1pPr marL="365760" indent="-256032" algn="l" rtl="0" eaLnBrk="1" latinLnBrk="0" hangingPunct="1">
              <a:spcBef>
                <a:spcPts val="300"/>
              </a:spcBef>
              <a:buClr>
                <a:schemeClr val="tx1"/>
              </a:buClr>
              <a:buSzPct val="125000"/>
              <a:buFont typeface="Arial" panose="020B0604020202020204" pitchFamily="34" charset="0"/>
              <a:buChar char="•"/>
              <a:defRPr kumimoji="0" sz="2400" kern="1200">
                <a:solidFill>
                  <a:schemeClr val="tx1"/>
                </a:solidFill>
                <a:latin typeface="Helvetica" pitchFamily="34" charset="0"/>
                <a:ea typeface="+mn-ea"/>
                <a:cs typeface="+mn-cs"/>
              </a:defRPr>
            </a:lvl1pPr>
            <a:lvl2pPr marL="658368" indent="-246888" algn="l" rtl="0" eaLnBrk="1" latinLnBrk="0" hangingPunct="1">
              <a:spcBef>
                <a:spcPts val="300"/>
              </a:spcBef>
              <a:buClr>
                <a:schemeClr val="accent2"/>
              </a:buClr>
              <a:buSzPct val="90000"/>
              <a:buFont typeface="Courier New" panose="02070309020205020404" pitchFamily="49" charset="0"/>
              <a:buChar char="o"/>
              <a:defRPr kumimoji="0" sz="2200" kern="1200">
                <a:solidFill>
                  <a:schemeClr val="accent2"/>
                </a:solidFill>
                <a:latin typeface="Helvetica" pitchFamily="34" charset="0"/>
                <a:ea typeface="+mn-ea"/>
                <a:cs typeface="+mn-cs"/>
              </a:defRPr>
            </a:lvl2pPr>
            <a:lvl3pPr marL="923544" indent="-219456" algn="l" rtl="0" eaLnBrk="1" latinLnBrk="0" hangingPunct="1">
              <a:spcBef>
                <a:spcPts val="300"/>
              </a:spcBef>
              <a:buClr>
                <a:schemeClr val="accent1"/>
              </a:buClr>
              <a:buFont typeface="Wingdings 2"/>
              <a:buChar char=""/>
              <a:defRPr kumimoji="0" sz="1800" kern="1200">
                <a:solidFill>
                  <a:schemeClr val="accent1"/>
                </a:solidFill>
                <a:latin typeface="Helvetica" pitchFamily="34" charset="0"/>
                <a:ea typeface="+mn-ea"/>
                <a:cs typeface="+mn-cs"/>
              </a:defRPr>
            </a:lvl3pPr>
            <a:lvl4pPr marL="1179576" indent="-201168" algn="l" rtl="0" eaLnBrk="1" latinLnBrk="0" hangingPunct="1">
              <a:spcBef>
                <a:spcPts val="300"/>
              </a:spcBef>
              <a:buClr>
                <a:schemeClr val="accent1"/>
              </a:buClr>
              <a:buFont typeface="Wingdings 2"/>
              <a:buChar char=""/>
              <a:defRPr kumimoji="0" sz="1400" kern="1200">
                <a:solidFill>
                  <a:schemeClr val="accent1"/>
                </a:solidFill>
                <a:latin typeface="Helvetica" pitchFamily="34" charset="0"/>
                <a:ea typeface="+mn-ea"/>
                <a:cs typeface="+mn-cs"/>
              </a:defRPr>
            </a:lvl4pPr>
            <a:lvl5pPr marL="1389888" indent="-182880" algn="l" rtl="0" eaLnBrk="1" latinLnBrk="0" hangingPunct="1">
              <a:spcBef>
                <a:spcPts val="300"/>
              </a:spcBef>
              <a:buClr>
                <a:schemeClr val="accent3"/>
              </a:buClr>
              <a:buFont typeface="Georgia"/>
              <a:buChar char="▫"/>
              <a:defRPr kumimoji="0" sz="1400" kern="1200">
                <a:solidFill>
                  <a:schemeClr val="accent3"/>
                </a:solidFill>
                <a:latin typeface="Helvetica" pitchFamily="34" charset="0"/>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fontAlgn="auto">
              <a:spcAft>
                <a:spcPts val="0"/>
              </a:spcAft>
            </a:pPr>
            <a:r>
              <a:rPr lang="en-GB" dirty="0" smtClean="0">
                <a:effectLst/>
              </a:rPr>
              <a:t>Use this link only as a temporary solution, as this is not a development environment</a:t>
            </a:r>
            <a:endParaRPr lang="da-DK" dirty="0" smtClean="0">
              <a:effectLst/>
            </a:endParaRPr>
          </a:p>
        </p:txBody>
      </p:sp>
    </p:spTree>
    <p:extLst>
      <p:ext uri="{BB962C8B-B14F-4D97-AF65-F5344CB8AC3E}">
        <p14:creationId xmlns:p14="http://schemas.microsoft.com/office/powerpoint/2010/main" val="26226884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839200" cy="838200"/>
          </a:xfrm>
        </p:spPr>
        <p:txBody>
          <a:bodyPr>
            <a:noAutofit/>
          </a:bodyPr>
          <a:lstStyle/>
          <a:p>
            <a:r>
              <a:rPr lang="en-US" sz="3200" b="1" dirty="0" smtClean="0"/>
              <a:t>Interpreted vs. compiled languages</a:t>
            </a:r>
            <a:r>
              <a:rPr lang="en-US" sz="3200" dirty="0" smtClean="0"/>
              <a:t> </a:t>
            </a:r>
            <a:r>
              <a:rPr lang="en-US" sz="3200" b="1" dirty="0"/>
              <a:t> </a:t>
            </a:r>
            <a:endParaRPr lang="en-US" sz="3200" b="1" dirty="0">
              <a:effectLst/>
            </a:endParaRPr>
          </a:p>
        </p:txBody>
      </p:sp>
      <p:sp>
        <p:nvSpPr>
          <p:cNvPr id="3" name="Content Placeholder 2"/>
          <p:cNvSpPr>
            <a:spLocks noGrp="1"/>
          </p:cNvSpPr>
          <p:nvPr>
            <p:ph idx="1"/>
          </p:nvPr>
        </p:nvSpPr>
        <p:spPr>
          <a:xfrm>
            <a:off x="304800" y="1371600"/>
            <a:ext cx="8686800" cy="3962400"/>
          </a:xfrm>
        </p:spPr>
        <p:txBody>
          <a:bodyPr>
            <a:normAutofit/>
          </a:bodyPr>
          <a:lstStyle/>
          <a:p>
            <a:r>
              <a:rPr lang="da-DK" dirty="0" smtClean="0"/>
              <a:t>Interpreted: </a:t>
            </a:r>
          </a:p>
          <a:p>
            <a:pPr lvl="1"/>
            <a:r>
              <a:rPr lang="da-DK" dirty="0"/>
              <a:t>w</a:t>
            </a:r>
            <a:r>
              <a:rPr lang="da-DK" dirty="0" smtClean="0"/>
              <a:t>rite code &amp; execute line-by-line</a:t>
            </a:r>
          </a:p>
          <a:p>
            <a:pPr lvl="1"/>
            <a:r>
              <a:rPr lang="da-DK" dirty="0" smtClean="0"/>
              <a:t>less reliable (there is no compiler to catch the errors!)  </a:t>
            </a:r>
          </a:p>
          <a:p>
            <a:pPr lvl="1"/>
            <a:r>
              <a:rPr lang="da-DK" dirty="0" smtClean="0"/>
              <a:t>source code can be easily read and copied </a:t>
            </a:r>
          </a:p>
          <a:p>
            <a:pPr lvl="1"/>
            <a:r>
              <a:rPr lang="da-DK" dirty="0"/>
              <a:t>e</a:t>
            </a:r>
            <a:r>
              <a:rPr lang="da-DK" dirty="0" smtClean="0"/>
              <a:t>xamples: Bash, Python, Mathematica, JavaScript</a:t>
            </a:r>
          </a:p>
          <a:p>
            <a:r>
              <a:rPr lang="da-DK" dirty="0" smtClean="0"/>
              <a:t>Compiled: </a:t>
            </a:r>
          </a:p>
          <a:p>
            <a:pPr lvl="1"/>
            <a:r>
              <a:rPr lang="da-DK" dirty="0"/>
              <a:t>w</a:t>
            </a:r>
            <a:r>
              <a:rPr lang="da-DK" dirty="0" smtClean="0"/>
              <a:t>rite code &amp; compile &amp; execute the compiled file (‘binaries’)</a:t>
            </a:r>
          </a:p>
          <a:p>
            <a:pPr lvl="1"/>
            <a:r>
              <a:rPr lang="en-US" dirty="0" smtClean="0"/>
              <a:t>generally runs faster than interpreted code</a:t>
            </a:r>
          </a:p>
          <a:p>
            <a:pPr lvl="1"/>
            <a:r>
              <a:rPr lang="da-DK" dirty="0"/>
              <a:t>e</a:t>
            </a:r>
            <a:r>
              <a:rPr lang="da-DK" dirty="0" smtClean="0"/>
              <a:t>xamples: C, C++, Java, Go</a:t>
            </a:r>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27</a:t>
            </a:fld>
            <a:endParaRPr lang="en-US" dirty="0"/>
          </a:p>
        </p:txBody>
      </p:sp>
      <p:sp>
        <p:nvSpPr>
          <p:cNvPr id="5" name="AutoShape 2" descr="data:image/jpeg;base64,/9j/4AAQSkZJRgABAQAAAQABAAD/2wCEAAkGBxAPEBUPDxAQEBAPDxAQEA8PEBAQDw4PFREWFhUVFRUYHiggGBomHRYXITEhJSkrLi4uGB8zODMsNygtLisBCgoKDg0OGxAQFzIlHh8tListKy0tMS0tLS0tLS8tLi0tLS0vLSstLS0tLS0tLSstLS0wLS0tNzUtNzcrNy8tLv/AABEIAJ4BPwMBIgACEQEDEQH/xAAbAAACAwEBAQAAAAAAAAAAAAAAAQIEBQYDB//EAEMQAAEEAQMBBQMHCgUDBQAAAAEAAgMRBAUSITEGEyJBUTJhcRQVI4GRstEzUlNic4KSk6HBQkNUcrEHovAWY6Ph8f/EABkBAQEBAQEBAAAAAAAAAAAAAAABBAMCBf/EAC8RAAICAQIEBAUDBQAAAAAAAAABAhEDEiEEMUHwE1GR4SIyYYGxFEJiI0NSodH/2gAMAwEAAhEDEQA/APuKEIQAhCEAIQhACSaRQAkmkgEUJpKASCmkoUSSZQgEkmhCiKSaSgEkmkoASTSUKJJNCAikpJKAikpJKFEkmkoBJJpWEKAYSpdyfUJGVR71S0NxujPx+C8yp96k42psUghnVCbOqA2EIQtRxBCEIAQhCAEIQgEhBQgEkmUKASSaEKIpJpKAEk0kAkJpKFEkmkgEhMpKASSaShRJJpIBJKSShSKE0lAQkdQJ9FRdOvfUXVGT8P8AlYhn96zZZ06OkI2aJnS79Zpn96O/XHxDppNMTKbZllCf3qbZ/eqshNJsxutejOqpae+7+r+6us6rTB2rObVGuhCFsOAIQhACEIQAhCEAJJpFACSaRQAUk0lACRTSQokIKFAJJNBQokk0lAJJNCgEkmkoUSSaSASSkkoBJFNJQpXzot8bmjqWmviOQuNM67krj+1GnGN3fRj6N3tgf4HevwKx8XF1qXQ74WrplTv0d+sc5CXylfO8Q1aDaE69GzrEblLe0HTXzESOFRA3z/me4e73rpjbm6R4klFWzoNKiLYwT1f4vgPJXWdUJs6r6sVSSMbdmshCFrOIIQhACEIQAhCEAIQhAJCChAJBQhQCQhCFEUk0lAJCaSFEhMpKASSy4ceSW3meVtveA1pAa0BxAA49y9Pm1/8AqJv4m/guam3uonql5l9CofNr/wDUzfa38Ejpsn+pm/7PwU1S/wAfwKXmX1EmlROmyf6mb/s/BUs/Ela01kSurmjso1zR4XmWRpXp/B6UU+psd631XhmZrI2l3p6rEh1WM8FwBHUHghUdYzWTMMDHW5xF1zQXCfErTaPaxb7nSadqLZ2GSqYDV31I60vbHyWvBIPAJB+K4zE0zIa3YyTbH6bel9aW/h6RI1u0TvA61tZ1+xTFmyS/aWcIrqX58wDpR+KpS57zYLGOBFEG+QvX5kf+nd/BH+CkNFf+nP8ALj/Be34r6fg8rQupyc+jNJJbbbJpvUAelqo/Qz5O/ou2OiP/AE5/lsS+Y3/pv/iYsr4Nv9p2Wf6mLoXZ3HAD3u72Qc7Dw1p/2+f1rp6WPJAY3ljiHFoDg8DaaPlQV3Cyb4u/etGHTD4ao5zblvZbQ3qhNnVaDkaqEKMjw3r5kD6yaC0nIdrx+VN+qrJPG2zQsdRazNQztrbdQ8LgXPY9jQDI1vtCyDzx6qlLnfSBoJMjXlzQbc5he4xsDwzh0dWeTY4XCWZLY0w4aUlZvjI45FO4Lmgg7WkkWT6cL2Y8Hp5cLlflrW923Y+Nm8BjX7x+UL2uDjyHmxYB4pauBL+cSXVCHWS5wdt8w3wt+rhSGZN0XJw7irNdeQed5b5bA767IUo3X/8AlLyP5U/sh94rQZSwhcPg6zqUbAH40k8jy6y4BrY3hzfDwB4du43zyKtPO7TajC4Mdhs3Oe1jS0SuaXFhdxR5uq8tvnaA7dC4s9o9Uuvm4fl3M9skbBfn9hvolrGbq7oInQxNjm72Xvmx0WmMQF7K33/ipteddRaA7VC4sdodUsj5vBqZ7BTnDe0NcWmzwLIHPvUcXtFqr3MadPa3ewlznF4ax/ebRfurqPcgO2QuU0rVdRkyG97jtZAaZINrmmN/jJLST4qpoJ6GwQqseq6lGXnuJJnGcscx8bGxReJ20ROadzmkBniI43En0QHaoXHs1/UnUW4AFECRr3OaS7cAQw+nN2fRe+h6hnzZA76IxwGMk+HaN+1tcHkc2gOpQhCA8ioqRSXkpS0z2P35PvlXFS0z2P35PvlXLXPH8qPUuY0KG5G5etSJRJV8iOxS9tyRXl0yo5rP0ON5st5TwtFZGeG0uhLAgRhZv08Lujr4rqitDjgeStsbSKTtd4pI5t2TCahuRuXuzyTQkCherBzWvPqR59GN/us3QMovBN/4ir3aIHdIQCajbdc+qzez+K5jS3rtcQT+tfP9bXypt+L6muNaDrGOsA+5SZ1VfEdxSst6rdF2jgzUVLOl2tcQ7oK9oNa11W3c7yB4H1q6s7UQQd5LQG9Xv/JNbbbD23yTzR8l3yP4TzjScjEypDdNcG8vLiXzAsviVoe7w3u2ht+V0s3UtWjxoy6QiERvjm+kqOGJzjT4nOYfpHmya9Vbzxs3GUV4I9xnjdOSwTu8Jc00TyCBVhcT/wBRNzGQT+wzG1V78iRkNhhPsS7HGnAe/jlYYrVPS2fUm9GPUldd9+50Gha5jzOLIZWAR79zojIx8GOXAgmKQWbN80r+k9r8CR7Y4cmIFwmcIg55ETY7txqg1u0E8+a5LSdRxsnVGTt1KTNljxJWl8eHHFCI3dGPeDwb6WFk6Jpgk7PZboYw7IkdLucIy6ZzWz9A702g8BdvCjB8++130yPPPJG2u+33vf1LS+3ulzSjHjzI3SOdtjvftkPo17hTj8Cuj/zT+zb94r5HpHazRn4un4vyY5WQx8LG47IwZMeYcOkd6i+f6r64Pyp/Zt+8VqXIxvmUm6sdoLopLIshrSa9Aos1gkX3Et1YG08mul/0WnFM13LXNcASCWkGiOoU7VJyMyTVvzYZTQcTbSPZF0E36t0LYZXAuId4eW1V8efX+i0HyBoskAepNBDXAixVHmx0KAoO1Mgg93JsMe/2TvB3VVf+dUjrLQaMU11urZzVLRDwfTjrz0TtAZztUsO2RSW3oXtLWk7q+Neafzr/AOzMa60zi/ctC0WgM751H6Kb+Dp0/FeuLqAkO3u5G8E25tNv0VmOVrvZINEg0bojqFMFANCEIDyKSZSXkpR0z2P35PvlWyqWmnwfvyffKuLjD5Ue5cyKzu0ue/GwsnJjDS/HxZ5mB4JaXsjc4WBViwtFVNXwG5WPLjPLmsyIZIXObW5rZGFpIvi+VQcI/thmM0/5Y6WDc+fCiBk07Mx2QNmP0ji177mABFFtDg9bXth9s8uXHYI248s2VqT8HEygyWLFlja0udOYi4upu17du7kt6rbZ2SuFkE2blTxwzYk0IkbjNMRxnbmtBZGLBoA3Z8PFJZPYnHeJAJZ4zJnfOETonNa7Ey9tOdFx0dyS11jkr1tff09zzvXf19jWw2ZjYXiaTGkyPF3T2RyRQnwjbvYXOI5u6PSlxw7YZ0bM1jxi5D8bLxMPGyYmSR48mROWte17S5x+jLhdO93C62LSZBjSQPzMmR8wePlLjE2ePc3b9HsaGtqrHHWysfE7DRsxDguy8mSCo+5BbjRuxpGSCRsrHRxgl+4Akuu/Pqoq6l6Fc9oc9kOfGRivytMNmUNljgfC7HMwd3dk7h7O3cB52rGqavlt06PUGT40DW4TcjIEuNJNve6NrgI6lbt5JFG+oXueyDfk88PyvJ7zNeXZWURAZ52933ewgs2NbtoeFo6KZ7JsdiwYcuRPNFjTQygPEIMzYaMcUm1oBYCAfU0LKe3uPc09AlyH4sL8trG5D4mPmZGCGMe4XtAJPS66+SvoQowTaheb5KWdmansNDz/AKBSU1FblUWzH7QTyMyWiIOJcQPD1oNWjiDaPEA1x5PFWVWOoMDt4bbzxuPWlPvzMQy9pddHrXCxJrU3fPod3ySosYk4dIQ3o1vJ998K+zqvHExWxN2sHvJPVx9SvdvVaoJpbnKT8jTVPMbxwOvmCAS/o0UeD1/oriRC1NWjlF07OSnYWHvAdu3cSSIW950Y83u47x20g1xtVZ2M2R4adwcdkTZC7fP3LD4+9a+tzS4bbF3wuiycIXbW+yI+WiNgc0PJcCSOnmR9io5Wng7RtaSHubuoPDPF3kZc5/iJuuAasrDPEz6mPOmu+/8Apj6fhxxtt1DvGy7e8ijhhD99Rh8Y5LuDRW1p8LejGtY32i1rW13jhZdtNFt8iq814Q6ewU5sRYNu+nhpMW3lschNnlzi4EchauFjFtBwPh7sNJp/LWckP6nzFuTHjd79/c858ka27+yPTD0+FjjIyGNj3clwjja/nysBe/8Amn9m37xXsxlen1Lx/wA0/s2/eK3LkfNZhDR2ObujyOu8AcNYbNgAeQseSUGhNB3HI8DY6JY4NIcd19OjeennS0ToUXkXD4Vz093Hsj+qb9DiLHRguaJK3bdoJAN+nvWTwP4/7N/6nprfoil8xQ0QZrcNpslvhoOuh5DxH4UFW1LSGBoDJwDI4Nt76bdO54uzR46dArruzUQqi7hzS4miXtB6X7xx8CVI9mYDd7yHG6JBaOvAFdOR/CFHhbVaF6nqPERTvxH6Hnk6PG575BNtLn7y0Fo8QYAQT+6PgCfVQxtGYI2MfOSQS8lrqaS+Puxt+y/jyvSPszFTtxdb3SHh26gSQDZA5r7LI56q0NDi2sbbiI2bW9Pfz8fEVVid24L1PDzpKlkfp9DOOiRu+jGSdwa1tA9Swkm+f1ui9fmNnJOQ4l29zSSKG4jn3+zXvsq9JosbnOcS4F7nOsUCC6ro/UvKfs/C8MsvHdivCa3DdfP9ftKvg/wXqP1F/wBx+iKWRpEIBccjb9IHOoii4E8UD18X1cK3pODGyVzo5d5YwRPb1p3tWT6qMXZqFoIt5u6J2+GyORx1469Vd0vS2Y27YXHeQTuryFeQVhiaknpS+5MmZODSm39i8hCFqMJ5FJSKS8lM3TfY/fk++ValfTS6i4hpIaOrqHQe9VNNPg/fk++VYlaXNLQ4sJaQHiiWkjggHix71wh8p0fM4PC/6gSnBn1B8ONIIIw75LjSyuyseTcQY8lrmeCuLeBXB4W9ldsMeFsb54cyJsjYy578WQRwd5J3bRK7o0k+XPBF9QqMvYYz/KH5eWZp8rCdg99HjxY4ZEXB24taTvduA5J6cClV1v8A6eOzXB8+bueYYYnvOJE43FIXtdFZ+hB4Dg32q6rptZ43ov6326hx2ZZigyZ5NPDhKGwvEIeNtNMtEDh1+dAEkKMva5kUj5ZnSxQR6dHlPxZMUtmj3ZLo+8LrvyrZXTnzVyTsq18OfA6V23VJZZXEMAMHeQsjoc+Ktl3x1VDUuxDslsvfZhdJkadFgvkGO1oqPIdKJA0Or/Ftr3Xaiqu/Ir79S9D20xHtcQMgPZPDj9w/HkZkPknbui2xuo05oJs1wDdL2h7UwPwpdQDZmw44nLhJHskJhsPAaT+cC34grne23ZSWR0k8Imn+VZeDJNFAMfvIo8aCRgLBMdkluLTTqrrzS2OzOkyP004edE1jHtmhETRFG8YjiRGJBD4GybTZ28WnQdUVtJ7UZD5mR5TdPiMsTpnYseYX5+OzujI3dGWgP467aq75Ctwds8eTHblRwZ0kUhpmzDlLnjZuLwPzB03dL6WquH2MkbLDJNnSZDcSGeHHD4ImyBssfd/SyNNyENA8h0SzuwwlxMPF+UV83sDAX48c0U/0ezc6F5Ldw6tPO0+qOuhFfU9srt/gxta68iRr8RmaHQ48kgbiuJBkfQ8AFG7pWNL7UDIzpsJsEwbBHC9uTsd3UgkaXWTVNB42mzu56Us/G7BNZC6AZLiH6T817u6Fhu97u9rd18fs+7qtXTuz7sfKOSzIJZJjQQSwGJtPdA0tY8Pu28E23n4q7Dc1MlcprwcCHC+OvwXXShU8jFa7qFlz43NUjtjlpZxsWW0+YW7oDN79/wDhYKvyLj/9WsvN0qISkbfMdCR5D0XXYcDGMDY2hrasAe//AJWbh8bc9+h1ySVbdT1QzqhDeq+gZzTQhC0HIRFqBiF351X/AIF6IQHm2ECutjzs2ePP1UmtA6CvgpISi2CiGC93nVfVdqSEICEIQAhCEAIQhACEihANK0ihAStK1EoUAikmkoUy9P8AY/fk++VbVKAOjBa5jydzjbWOcCC4kchevf8A6kv8t/4LPF0qOr5li0bl4d/+rJ/Lf+CO/H5sn8t/4K6kSj3tFrw78ej/AOW/8Ejkt8w/+W/8E1IUWLRarfKm/rfwP/BHypv638D/AME1LzFFncjcq/ypnv8A4X/gvN+oRN4c8N/3WP8AlNS8xpZc3JFypfOkH6Vn2ps1GF3SRpr0N0prj5l0vyLRKRXj8sj/ADx/VQdqEPTvWA+m4I5R8xTMTUvyx+I+6Fu4Drjb8K+zhc7qM7XSktIcLHI5HQLc0d9x/BxWbC/6jOk18KLqG9UFNvVaziaKEIWg5ghCEAIQhACEIQAhCEAIQhACEIQAkmkUAJJpFACSaRUAJItJQoIQSkSgBFJWglCjpCSRKlglaLXmXKBkU1Cj3tczr3ilP6rWj+/91uOnAWLmlpcSbBcVm4iVxo641TswMhi3+xEVRySfnybR8GD8SVkZreDS3ezcrRjNA8i7d/uuysvDpLLfkdsr+A3ty4XtbFtyy7ykjY76x4T/AMBdf3y5jtYQ6WOuoY6/gXcf3Wji2pYznh2kZcC6vQPYd/u/sudxsf3rpNIbsBB86IWfhVUj3lexeIQ3qmUN6r6BnNBCELucwQhCAEIQgBCEIAQhCAEIQgBCEIAQhCASEFCASiVIopQpBCdIpQEUlOkqQpGkKVIpSgRpRcFMhRcEYPCRyqyzUrUjVWfDfouM76HtGFkauGyuaT5iufKl5T5zSLsLRy9Ehl5fGxx9SOftVT/0vj/mD4FzyPsKwyhlO6lA5/M1dgO1tvd6MFq9omY9jTuaW7nXXpwtiLRo2cNawD3L1+bx7l4jhyJ3Z7c41RWOpH0WFqupfSh7mkNIAvqBXqumOB8F5v0pruoaV6njySVWeYyimZ2BlNoEEG/NaHzkAqbuysR6FzP9j3NH2dE4uykQNl8jvcZHUpGOZckG4PqbuJkh7QfUK2w8qnjYYYAB0A9SrcbFvhqrc4Srof/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440191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839200" cy="838200"/>
          </a:xfrm>
        </p:spPr>
        <p:txBody>
          <a:bodyPr>
            <a:noAutofit/>
          </a:bodyPr>
          <a:lstStyle/>
          <a:p>
            <a:r>
              <a:rPr lang="en-US" sz="3200" b="1" dirty="0" smtClean="0"/>
              <a:t>Intermezzo: Popularity of languages</a:t>
            </a:r>
            <a:endParaRPr lang="en-US" sz="3200" b="1" dirty="0">
              <a:effectLst/>
            </a:endParaRPr>
          </a:p>
        </p:txBody>
      </p:sp>
      <p:sp>
        <p:nvSpPr>
          <p:cNvPr id="3" name="Content Placeholder 2"/>
          <p:cNvSpPr>
            <a:spLocks noGrp="1"/>
          </p:cNvSpPr>
          <p:nvPr>
            <p:ph idx="1"/>
          </p:nvPr>
        </p:nvSpPr>
        <p:spPr>
          <a:xfrm>
            <a:off x="304800" y="1447800"/>
            <a:ext cx="8686800" cy="3962400"/>
          </a:xfrm>
        </p:spPr>
        <p:txBody>
          <a:bodyPr>
            <a:normAutofit/>
          </a:bodyPr>
          <a:lstStyle/>
          <a:p>
            <a:r>
              <a:rPr lang="da-DK" sz="2000" dirty="0" smtClean="0"/>
              <a:t>As of recently, Python is the most popular programming language...</a:t>
            </a:r>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28</a:t>
            </a:fld>
            <a:endParaRPr lang="en-US" dirty="0"/>
          </a:p>
        </p:txBody>
      </p:sp>
      <p:sp>
        <p:nvSpPr>
          <p:cNvPr id="5" name="AutoShape 2" descr="data:image/jpeg;base64,/9j/4AAQSkZJRgABAQAAAQABAAD/2wCEAAkGBxAPEBUPDxAQEBAPDxAQEA8PEBAQDw4PFREWFhUVFRUYHiggGBomHRYXITEhJSkrLi4uGB8zODMsNygtLisBCgoKDg0OGxAQFzIlHh8tListKy0tMS0tLS0tLS8tLi0tLS0vLSstLS0tLS0tLSstLS0wLS0tNzUtNzcrNy8tLv/AABEIAJ4BPwMBIgACEQEDEQH/xAAbAAACAwEBAQAAAAAAAAAAAAAAAQIEBQYDB//EAEMQAAEEAQMBBQMHCgUDBQAAAAEAAgMRBAUSITEGEyJBUTJhcRQVI4GRstEzUlNic4KSk6HBQkNUcrEHovAWY6Ph8f/EABkBAQEBAQEBAAAAAAAAAAAAAAABBAMCBf/EAC8RAAICAQIEBAUDBQAAAAAAAAABAhEDEiEEMUHwE1GR4SIyYYGxFEJiI0NSodH/2gAMAwEAAhEDEQA/APuKEIQAhCEAIQhACSaRQAkmkgEUJpKASCmkoUSSZQgEkmhCiKSaSgEkmkoASTSUKJJNCAikpJKAikpJKFEkmkoBJJpWEKAYSpdyfUJGVR71S0NxujPx+C8yp96k42psUghnVCbOqA2EIQtRxBCEIAQhCAEIQgEhBQgEkmUKASSaEKIpJpKAEk0kAkJpKFEkmkgEhMpKASSaShRJJpIBJKSShSKE0lAQkdQJ9FRdOvfUXVGT8P8AlYhn96zZZ06OkI2aJnS79Zpn96O/XHxDppNMTKbZllCf3qbZ/eqshNJsxutejOqpae+7+r+6us6rTB2rObVGuhCFsOAIQhACEIQAhCEAJJpFACSaRQAUk0lACRTSQokIKFAJJNBQokk0lAJJNCgEkmkoUSSaSASSkkoBJFNJQpXzot8bmjqWmviOQuNM67krj+1GnGN3fRj6N3tgf4HevwKx8XF1qXQ74WrplTv0d+sc5CXylfO8Q1aDaE69GzrEblLe0HTXzESOFRA3z/me4e73rpjbm6R4klFWzoNKiLYwT1f4vgPJXWdUJs6r6sVSSMbdmshCFrOIIQhACEIQAhCEAIQhAJCChAJBQhQCQhCFEUk0lAJCaSFEhMpKASSy4ceSW3meVtveA1pAa0BxAA49y9Pm1/8AqJv4m/guam3uonql5l9CofNr/wDUzfa38Ejpsn+pm/7PwU1S/wAfwKXmX1EmlROmyf6mb/s/BUs/Ela01kSurmjso1zR4XmWRpXp/B6UU+psd631XhmZrI2l3p6rEh1WM8FwBHUHghUdYzWTMMDHW5xF1zQXCfErTaPaxb7nSadqLZ2GSqYDV31I60vbHyWvBIPAJB+K4zE0zIa3YyTbH6bel9aW/h6RI1u0TvA61tZ1+xTFmyS/aWcIrqX58wDpR+KpS57zYLGOBFEG+QvX5kf+nd/BH+CkNFf+nP8ALj/Be34r6fg8rQupyc+jNJJbbbJpvUAelqo/Qz5O/ou2OiP/AE5/lsS+Y3/pv/iYsr4Nv9p2Wf6mLoXZ3HAD3u72Qc7Dw1p/2+f1rp6WPJAY3ljiHFoDg8DaaPlQV3Cyb4u/etGHTD4ao5zblvZbQ3qhNnVaDkaqEKMjw3r5kD6yaC0nIdrx+VN+qrJPG2zQsdRazNQztrbdQ8LgXPY9jQDI1vtCyDzx6qlLnfSBoJMjXlzQbc5he4xsDwzh0dWeTY4XCWZLY0w4aUlZvjI45FO4Lmgg7WkkWT6cL2Y8Hp5cLlflrW923Y+Nm8BjX7x+UL2uDjyHmxYB4pauBL+cSXVCHWS5wdt8w3wt+rhSGZN0XJw7irNdeQed5b5bA767IUo3X/8AlLyP5U/sh94rQZSwhcPg6zqUbAH40k8jy6y4BrY3hzfDwB4du43zyKtPO7TajC4Mdhs3Oe1jS0SuaXFhdxR5uq8tvnaA7dC4s9o9Uuvm4fl3M9skbBfn9hvolrGbq7oInQxNjm72Xvmx0WmMQF7K33/ipteddRaA7VC4sdodUsj5vBqZ7BTnDe0NcWmzwLIHPvUcXtFqr3MadPa3ewlznF4ax/ebRfurqPcgO2QuU0rVdRkyG97jtZAaZINrmmN/jJLST4qpoJ6GwQqseq6lGXnuJJnGcscx8bGxReJ20ROadzmkBniI43En0QHaoXHs1/UnUW4AFECRr3OaS7cAQw+nN2fRe+h6hnzZA76IxwGMk+HaN+1tcHkc2gOpQhCA8ioqRSXkpS0z2P35PvlXFS0z2P35PvlXLXPH8qPUuY0KG5G5etSJRJV8iOxS9tyRXl0yo5rP0ON5st5TwtFZGeG0uhLAgRhZv08Lujr4rqitDjgeStsbSKTtd4pI5t2TCahuRuXuzyTQkCherBzWvPqR59GN/us3QMovBN/4ir3aIHdIQCajbdc+qzez+K5jS3rtcQT+tfP9bXypt+L6muNaDrGOsA+5SZ1VfEdxSst6rdF2jgzUVLOl2tcQ7oK9oNa11W3c7yB4H1q6s7UQQd5LQG9Xv/JNbbbD23yTzR8l3yP4TzjScjEypDdNcG8vLiXzAsviVoe7w3u2ht+V0s3UtWjxoy6QiERvjm+kqOGJzjT4nOYfpHmya9Vbzxs3GUV4I9xnjdOSwTu8Jc00TyCBVhcT/wBRNzGQT+wzG1V78iRkNhhPsS7HGnAe/jlYYrVPS2fUm9GPUldd9+50Gha5jzOLIZWAR79zojIx8GOXAgmKQWbN80r+k9r8CR7Y4cmIFwmcIg55ETY7txqg1u0E8+a5LSdRxsnVGTt1KTNljxJWl8eHHFCI3dGPeDwb6WFk6Jpgk7PZboYw7IkdLucIy6ZzWz9A702g8BdvCjB8++130yPPPJG2u+33vf1LS+3ulzSjHjzI3SOdtjvftkPo17hTj8Cuj/zT+zb94r5HpHazRn4un4vyY5WQx8LG47IwZMeYcOkd6i+f6r64Pyp/Zt+8VqXIxvmUm6sdoLopLIshrSa9Aos1gkX3Et1YG08mul/0WnFM13LXNcASCWkGiOoU7VJyMyTVvzYZTQcTbSPZF0E36t0LYZXAuId4eW1V8efX+i0HyBoskAepNBDXAixVHmx0KAoO1Mgg93JsMe/2TvB3VVf+dUjrLQaMU11urZzVLRDwfTjrz0TtAZztUsO2RSW3oXtLWk7q+Neafzr/AOzMa60zi/ctC0WgM751H6Kb+Dp0/FeuLqAkO3u5G8E25tNv0VmOVrvZINEg0bojqFMFANCEIDyKSZSXkpR0z2P35PvlWyqWmnwfvyffKuLjD5Ue5cyKzu0ue/GwsnJjDS/HxZ5mB4JaXsjc4WBViwtFVNXwG5WPLjPLmsyIZIXObW5rZGFpIvi+VQcI/thmM0/5Y6WDc+fCiBk07Mx2QNmP0ji177mABFFtDg9bXth9s8uXHYI248s2VqT8HEygyWLFlja0udOYi4upu17du7kt6rbZ2SuFkE2blTxwzYk0IkbjNMRxnbmtBZGLBoA3Z8PFJZPYnHeJAJZ4zJnfOETonNa7Ey9tOdFx0dyS11jkr1tff09zzvXf19jWw2ZjYXiaTGkyPF3T2RyRQnwjbvYXOI5u6PSlxw7YZ0bM1jxi5D8bLxMPGyYmSR48mROWte17S5x+jLhdO93C62LSZBjSQPzMmR8wePlLjE2ePc3b9HsaGtqrHHWysfE7DRsxDguy8mSCo+5BbjRuxpGSCRsrHRxgl+4Akuu/Pqoq6l6Fc9oc9kOfGRivytMNmUNljgfC7HMwd3dk7h7O3cB52rGqavlt06PUGT40DW4TcjIEuNJNve6NrgI6lbt5JFG+oXueyDfk88PyvJ7zNeXZWURAZ52933ewgs2NbtoeFo6KZ7JsdiwYcuRPNFjTQygPEIMzYaMcUm1oBYCAfU0LKe3uPc09AlyH4sL8trG5D4mPmZGCGMe4XtAJPS66+SvoQowTaheb5KWdmansNDz/AKBSU1FblUWzH7QTyMyWiIOJcQPD1oNWjiDaPEA1x5PFWVWOoMDt4bbzxuPWlPvzMQy9pddHrXCxJrU3fPod3ySosYk4dIQ3o1vJ998K+zqvHExWxN2sHvJPVx9SvdvVaoJpbnKT8jTVPMbxwOvmCAS/o0UeD1/oriRC1NWjlF07OSnYWHvAdu3cSSIW950Y83u47x20g1xtVZ2M2R4adwcdkTZC7fP3LD4+9a+tzS4bbF3wuiycIXbW+yI+WiNgc0PJcCSOnmR9io5Wng7RtaSHubuoPDPF3kZc5/iJuuAasrDPEz6mPOmu+/8Apj6fhxxtt1DvGy7e8ijhhD99Rh8Y5LuDRW1p8LejGtY32i1rW13jhZdtNFt8iq814Q6ewU5sRYNu+nhpMW3lschNnlzi4EchauFjFtBwPh7sNJp/LWckP6nzFuTHjd79/c858ka27+yPTD0+FjjIyGNj3clwjja/nysBe/8Amn9m37xXsxlen1Lx/wA0/s2/eK3LkfNZhDR2ObujyOu8AcNYbNgAeQseSUGhNB3HI8DY6JY4NIcd19OjeennS0ToUXkXD4Vz093Hsj+qb9DiLHRguaJK3bdoJAN+nvWTwP4/7N/6nprfoil8xQ0QZrcNpslvhoOuh5DxH4UFW1LSGBoDJwDI4Nt76bdO54uzR46dArruzUQqi7hzS4miXtB6X7xx8CVI9mYDd7yHG6JBaOvAFdOR/CFHhbVaF6nqPERTvxH6Hnk6PG575BNtLn7y0Fo8QYAQT+6PgCfVQxtGYI2MfOSQS8lrqaS+Puxt+y/jyvSPszFTtxdb3SHh26gSQDZA5r7LI56q0NDi2sbbiI2bW9Pfz8fEVVid24L1PDzpKlkfp9DOOiRu+jGSdwa1tA9Swkm+f1ui9fmNnJOQ4l29zSSKG4jn3+zXvsq9JosbnOcS4F7nOsUCC6ro/UvKfs/C8MsvHdivCa3DdfP9ftKvg/wXqP1F/wBx+iKWRpEIBccjb9IHOoii4E8UD18X1cK3pODGyVzo5d5YwRPb1p3tWT6qMXZqFoIt5u6J2+GyORx1469Vd0vS2Y27YXHeQTuryFeQVhiaknpS+5MmZODSm39i8hCFqMJ5FJSKS8lM3TfY/fk++ValfTS6i4hpIaOrqHQe9VNNPg/fk++VYlaXNLQ4sJaQHiiWkjggHix71wh8p0fM4PC/6gSnBn1B8ONIIIw75LjSyuyseTcQY8lrmeCuLeBXB4W9ldsMeFsb54cyJsjYy578WQRwd5J3bRK7o0k+XPBF9QqMvYYz/KH5eWZp8rCdg99HjxY4ZEXB24taTvduA5J6cClV1v8A6eOzXB8+bueYYYnvOJE43FIXtdFZ+hB4Dg32q6rptZ43ov6326hx2ZZigyZ5NPDhKGwvEIeNtNMtEDh1+dAEkKMva5kUj5ZnSxQR6dHlPxZMUtmj3ZLo+8LrvyrZXTnzVyTsq18OfA6V23VJZZXEMAMHeQsjoc+Ktl3x1VDUuxDslsvfZhdJkadFgvkGO1oqPIdKJA0Or/Ftr3Xaiqu/Ir79S9D20xHtcQMgPZPDj9w/HkZkPknbui2xuo05oJs1wDdL2h7UwPwpdQDZmw44nLhJHskJhsPAaT+cC34grne23ZSWR0k8Imn+VZeDJNFAMfvIo8aCRgLBMdkluLTTqrrzS2OzOkyP004edE1jHtmhETRFG8YjiRGJBD4GybTZ28WnQdUVtJ7UZD5mR5TdPiMsTpnYseYX5+OzujI3dGWgP467aq75Ctwds8eTHblRwZ0kUhpmzDlLnjZuLwPzB03dL6WquH2MkbLDJNnSZDcSGeHHD4ImyBssfd/SyNNyENA8h0SzuwwlxMPF+UV83sDAX48c0U/0ezc6F5Ldw6tPO0+qOuhFfU9srt/gxta68iRr8RmaHQ48kgbiuJBkfQ8AFG7pWNL7UDIzpsJsEwbBHC9uTsd3UgkaXWTVNB42mzu56Us/G7BNZC6AZLiH6T817u6Fhu97u9rd18fs+7qtXTuz7sfKOSzIJZJjQQSwGJtPdA0tY8Pu28E23n4q7Dc1MlcprwcCHC+OvwXXShU8jFa7qFlz43NUjtjlpZxsWW0+YW7oDN79/wDhYKvyLj/9WsvN0qISkbfMdCR5D0XXYcDGMDY2hrasAe//AJWbh8bc9+h1ySVbdT1QzqhDeq+gZzTQhC0HIRFqBiF351X/AIF6IQHm2ECutjzs2ePP1UmtA6CvgpISi2CiGC93nVfVdqSEICEIQAhCEAIQhACEihANK0ihAStK1EoUAikmkoUy9P8AY/fk++VbVKAOjBa5jydzjbWOcCC4kchevf8A6kv8t/4LPF0qOr5li0bl4d/+rJ/Lf+CO/H5sn8t/4K6kSj3tFrw78ej/AOW/8Ejkt8w/+W/8E1IUWLRarfKm/rfwP/BHypv638D/AME1LzFFncjcq/ypnv8A4X/gvN+oRN4c8N/3WP8AlNS8xpZc3JFypfOkH6Vn2ps1GF3SRpr0N0prj5l0vyLRKRXj8sj/ADx/VQdqEPTvWA+m4I5R8xTMTUvyx+I+6Fu4Drjb8K+zhc7qM7XSktIcLHI5HQLc0d9x/BxWbC/6jOk18KLqG9UFNvVaziaKEIWg5ghCEAIQhACEIQAhCEAIQhACEIQAkmkUAJJpFACSaRUAJItJQoIQSkSgBFJWglCjpCSRKlglaLXmXKBkU1Cj3tczr3ilP6rWj+/91uOnAWLmlpcSbBcVm4iVxo641TswMhi3+xEVRySfnybR8GD8SVkZreDS3ezcrRjNA8i7d/uuysvDpLLfkdsr+A3ty4XtbFtyy7ykjY76x4T/AMBdf3y5jtYQ6WOuoY6/gXcf3Wji2pYznh2kZcC6vQPYd/u/sudxsf3rpNIbsBB86IWfhVUj3lexeIQ3qmUN6r6BnNBCELucwQhCAEIQgBCEIAQhCAEIQgBCEIAQhCASEFCASiVIopQpBCdIpQEUlOkqQpGkKVIpSgRpRcFMhRcEYPCRyqyzUrUjVWfDfouM76HtGFkauGyuaT5iufKl5T5zSLsLRy9Ehl5fGxx9SOftVT/0vj/mD4FzyPsKwyhlO6lA5/M1dgO1tvd6MFq9omY9jTuaW7nXXpwtiLRo2cNawD3L1+bx7l4jhyJ3Z7c41RWOpH0WFqupfSh7mkNIAvqBXqumOB8F5v0pruoaV6njySVWeYyimZ2BlNoEEG/NaHzkAqbuysR6FzP9j3NH2dE4uykQNl8jvcZHUpGOZckG4PqbuJkh7QfUK2w8qnjYYYAB0A9SrcbFvhqrc4Srof/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p:cNvSpPr txBox="1"/>
          <p:nvPr/>
        </p:nvSpPr>
        <p:spPr>
          <a:xfrm>
            <a:off x="2873027" y="6324600"/>
            <a:ext cx="3299173" cy="584775"/>
          </a:xfrm>
          <a:prstGeom prst="rect">
            <a:avLst/>
          </a:prstGeom>
          <a:noFill/>
        </p:spPr>
        <p:txBody>
          <a:bodyPr wrap="none" rtlCol="0">
            <a:spAutoFit/>
          </a:bodyPr>
          <a:lstStyle/>
          <a:p>
            <a:r>
              <a:rPr lang="en-GB" sz="1600" dirty="0">
                <a:effectLst/>
                <a:hlinkClick r:id="rId2"/>
              </a:rPr>
              <a:t>https://www.tiobe.com/tiobe-index</a:t>
            </a:r>
            <a:r>
              <a:rPr lang="en-GB" sz="1600" dirty="0" smtClean="0">
                <a:effectLst/>
                <a:hlinkClick r:id="rId2"/>
              </a:rPr>
              <a:t>/</a:t>
            </a:r>
            <a:endParaRPr lang="en-GB" sz="1600" dirty="0" smtClean="0">
              <a:effectLst/>
            </a:endParaRPr>
          </a:p>
          <a:p>
            <a:endParaRPr lang="en-GB" sz="1600" dirty="0" smtClean="0">
              <a:effectLst/>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57400"/>
            <a:ext cx="9144000" cy="3927445"/>
          </a:xfrm>
          <a:prstGeom prst="rect">
            <a:avLst/>
          </a:prstGeom>
        </p:spPr>
      </p:pic>
    </p:spTree>
    <p:extLst>
      <p:ext uri="{BB962C8B-B14F-4D97-AF65-F5344CB8AC3E}">
        <p14:creationId xmlns:p14="http://schemas.microsoft.com/office/powerpoint/2010/main" val="9052237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839200" cy="838200"/>
          </a:xfrm>
        </p:spPr>
        <p:txBody>
          <a:bodyPr>
            <a:noAutofit/>
          </a:bodyPr>
          <a:lstStyle/>
          <a:p>
            <a:r>
              <a:rPr lang="en-US" sz="3200" b="1" dirty="0" smtClean="0"/>
              <a:t>Intermezzo: Popularity of languages</a:t>
            </a:r>
            <a:endParaRPr lang="en-US" sz="3200" b="1" dirty="0">
              <a:effectLst/>
            </a:endParaRPr>
          </a:p>
        </p:txBody>
      </p:sp>
      <p:sp>
        <p:nvSpPr>
          <p:cNvPr id="3" name="Content Placeholder 2"/>
          <p:cNvSpPr>
            <a:spLocks noGrp="1"/>
          </p:cNvSpPr>
          <p:nvPr>
            <p:ph idx="1"/>
          </p:nvPr>
        </p:nvSpPr>
        <p:spPr>
          <a:xfrm>
            <a:off x="304800" y="1447800"/>
            <a:ext cx="8686800" cy="3962400"/>
          </a:xfrm>
        </p:spPr>
        <p:txBody>
          <a:bodyPr>
            <a:normAutofit/>
          </a:bodyPr>
          <a:lstStyle/>
          <a:p>
            <a:pPr marL="109728" indent="0">
              <a:buNone/>
            </a:pPr>
            <a:r>
              <a:rPr lang="da-DK" sz="2000" dirty="0" smtClean="0"/>
              <a:t>... but some very old languages, like Fortran, are still </a:t>
            </a:r>
            <a:r>
              <a:rPr lang="da-DK" sz="2000" dirty="0" smtClean="0"/>
              <a:t>alive!  </a:t>
            </a:r>
            <a:endParaRPr lang="da-DK" sz="2000"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29</a:t>
            </a:fld>
            <a:endParaRPr lang="en-US" dirty="0"/>
          </a:p>
        </p:txBody>
      </p:sp>
      <p:sp>
        <p:nvSpPr>
          <p:cNvPr id="5" name="AutoShape 2" descr="data:image/jpeg;base64,/9j/4AAQSkZJRgABAQAAAQABAAD/2wCEAAkGBxAPEBUPDxAQEBAPDxAQEA8PEBAQDw4PFREWFhUVFRUYHiggGBomHRYXITEhJSkrLi4uGB8zODMsNygtLisBCgoKDg0OGxAQFzIlHh8tListKy0tMS0tLS0tLS8tLi0tLS0vLSstLS0tLS0tLSstLS0wLS0tNzUtNzcrNy8tLv/AABEIAJ4BPwMBIgACEQEDEQH/xAAbAAACAwEBAQAAAAAAAAAAAAAAAQIEBQYDB//EAEMQAAEEAQMBBQMHCgUDBQAAAAEAAgMRBAUSITEGEyJBUTJhcRQVI4GRstEzUlNic4KSk6HBQkNUcrEHovAWY6Ph8f/EABkBAQEBAQEBAAAAAAAAAAAAAAABBAMCBf/EAC8RAAICAQIEBAUDBQAAAAAAAAABAhEDEiEEMUHwE1GR4SIyYYGxFEJiI0NSodH/2gAMAwEAAhEDEQA/APuKEIQAhCEAIQhACSaRQAkmkgEUJpKASCmkoUSSZQgEkmhCiKSaSgEkmkoASTSUKJJNCAikpJKAikpJKFEkmkoBJJpWEKAYSpdyfUJGVR71S0NxujPx+C8yp96k42psUghnVCbOqA2EIQtRxBCEIAQhCAEIQgEhBQgEkmUKASSaEKIpJpKAEk0kAkJpKFEkmkgEhMpKASSaShRJJpIBJKSShSKE0lAQkdQJ9FRdOvfUXVGT8P8AlYhn96zZZ06OkI2aJnS79Zpn96O/XHxDppNMTKbZllCf3qbZ/eqshNJsxutejOqpae+7+r+6us6rTB2rObVGuhCFsOAIQhACEIQAhCEAJJpFACSaRQAUk0lACRTSQokIKFAJJNBQokk0lAJJNCgEkmkoUSSaSASSkkoBJFNJQpXzot8bmjqWmviOQuNM67krj+1GnGN3fRj6N3tgf4HevwKx8XF1qXQ74WrplTv0d+sc5CXylfO8Q1aDaE69GzrEblLe0HTXzESOFRA3z/me4e73rpjbm6R4klFWzoNKiLYwT1f4vgPJXWdUJs6r6sVSSMbdmshCFrOIIQhACEIQAhCEAIQhAJCChAJBQhQCQhCFEUk0lAJCaSFEhMpKASSy4ceSW3meVtveA1pAa0BxAA49y9Pm1/8AqJv4m/guam3uonql5l9CofNr/wDUzfa38Ejpsn+pm/7PwU1S/wAfwKXmX1EmlROmyf6mb/s/BUs/Ela01kSurmjso1zR4XmWRpXp/B6UU+psd631XhmZrI2l3p6rEh1WM8FwBHUHghUdYzWTMMDHW5xF1zQXCfErTaPaxb7nSadqLZ2GSqYDV31I60vbHyWvBIPAJB+K4zE0zIa3YyTbH6bel9aW/h6RI1u0TvA61tZ1+xTFmyS/aWcIrqX58wDpR+KpS57zYLGOBFEG+QvX5kf+nd/BH+CkNFf+nP8ALj/Be34r6fg8rQupyc+jNJJbbbJpvUAelqo/Qz5O/ou2OiP/AE5/lsS+Y3/pv/iYsr4Nv9p2Wf6mLoXZ3HAD3u72Qc7Dw1p/2+f1rp6WPJAY3ljiHFoDg8DaaPlQV3Cyb4u/etGHTD4ao5zblvZbQ3qhNnVaDkaqEKMjw3r5kD6yaC0nIdrx+VN+qrJPG2zQsdRazNQztrbdQ8LgXPY9jQDI1vtCyDzx6qlLnfSBoJMjXlzQbc5he4xsDwzh0dWeTY4XCWZLY0w4aUlZvjI45FO4Lmgg7WkkWT6cL2Y8Hp5cLlflrW923Y+Nm8BjX7x+UL2uDjyHmxYB4pauBL+cSXVCHWS5wdt8w3wt+rhSGZN0XJw7irNdeQed5b5bA767IUo3X/8AlLyP5U/sh94rQZSwhcPg6zqUbAH40k8jy6y4BrY3hzfDwB4du43zyKtPO7TajC4Mdhs3Oe1jS0SuaXFhdxR5uq8tvnaA7dC4s9o9Uuvm4fl3M9skbBfn9hvolrGbq7oInQxNjm72Xvmx0WmMQF7K33/ipteddRaA7VC4sdodUsj5vBqZ7BTnDe0NcWmzwLIHPvUcXtFqr3MadPa3ewlznF4ax/ebRfurqPcgO2QuU0rVdRkyG97jtZAaZINrmmN/jJLST4qpoJ6GwQqseq6lGXnuJJnGcscx8bGxReJ20ROadzmkBniI43En0QHaoXHs1/UnUW4AFECRr3OaS7cAQw+nN2fRe+h6hnzZA76IxwGMk+HaN+1tcHkc2gOpQhCA8ioqRSXkpS0z2P35PvlXFS0z2P35PvlXLXPH8qPUuY0KG5G5etSJRJV8iOxS9tyRXl0yo5rP0ON5st5TwtFZGeG0uhLAgRhZv08Lujr4rqitDjgeStsbSKTtd4pI5t2TCahuRuXuzyTQkCherBzWvPqR59GN/us3QMovBN/4ir3aIHdIQCajbdc+qzez+K5jS3rtcQT+tfP9bXypt+L6muNaDrGOsA+5SZ1VfEdxSst6rdF2jgzUVLOl2tcQ7oK9oNa11W3c7yB4H1q6s7UQQd5LQG9Xv/JNbbbD23yTzR8l3yP4TzjScjEypDdNcG8vLiXzAsviVoe7w3u2ht+V0s3UtWjxoy6QiERvjm+kqOGJzjT4nOYfpHmya9Vbzxs3GUV4I9xnjdOSwTu8Jc00TyCBVhcT/wBRNzGQT+wzG1V78iRkNhhPsS7HGnAe/jlYYrVPS2fUm9GPUldd9+50Gha5jzOLIZWAR79zojIx8GOXAgmKQWbN80r+k9r8CR7Y4cmIFwmcIg55ETY7txqg1u0E8+a5LSdRxsnVGTt1KTNljxJWl8eHHFCI3dGPeDwb6WFk6Jpgk7PZboYw7IkdLucIy6ZzWz9A702g8BdvCjB8++130yPPPJG2u+33vf1LS+3ulzSjHjzI3SOdtjvftkPo17hTj8Cuj/zT+zb94r5HpHazRn4un4vyY5WQx8LG47IwZMeYcOkd6i+f6r64Pyp/Zt+8VqXIxvmUm6sdoLopLIshrSa9Aos1gkX3Et1YG08mul/0WnFM13LXNcASCWkGiOoU7VJyMyTVvzYZTQcTbSPZF0E36t0LYZXAuId4eW1V8efX+i0HyBoskAepNBDXAixVHmx0KAoO1Mgg93JsMe/2TvB3VVf+dUjrLQaMU11urZzVLRDwfTjrz0TtAZztUsO2RSW3oXtLWk7q+Neafzr/AOzMa60zi/ctC0WgM751H6Kb+Dp0/FeuLqAkO3u5G8E25tNv0VmOVrvZINEg0bojqFMFANCEIDyKSZSXkpR0z2P35PvlWyqWmnwfvyffKuLjD5Ue5cyKzu0ue/GwsnJjDS/HxZ5mB4JaXsjc4WBViwtFVNXwG5WPLjPLmsyIZIXObW5rZGFpIvi+VQcI/thmM0/5Y6WDc+fCiBk07Mx2QNmP0ji177mABFFtDg9bXth9s8uXHYI248s2VqT8HEygyWLFlja0udOYi4upu17du7kt6rbZ2SuFkE2blTxwzYk0IkbjNMRxnbmtBZGLBoA3Z8PFJZPYnHeJAJZ4zJnfOETonNa7Ey9tOdFx0dyS11jkr1tff09zzvXf19jWw2ZjYXiaTGkyPF3T2RyRQnwjbvYXOI5u6PSlxw7YZ0bM1jxi5D8bLxMPGyYmSR48mROWte17S5x+jLhdO93C62LSZBjSQPzMmR8wePlLjE2ePc3b9HsaGtqrHHWysfE7DRsxDguy8mSCo+5BbjRuxpGSCRsrHRxgl+4Akuu/Pqoq6l6Fc9oc9kOfGRivytMNmUNljgfC7HMwd3dk7h7O3cB52rGqavlt06PUGT40DW4TcjIEuNJNve6NrgI6lbt5JFG+oXueyDfk88PyvJ7zNeXZWURAZ52933ewgs2NbtoeFo6KZ7JsdiwYcuRPNFjTQygPEIMzYaMcUm1oBYCAfU0LKe3uPc09AlyH4sL8trG5D4mPmZGCGMe4XtAJPS66+SvoQowTaheb5KWdmansNDz/AKBSU1FblUWzH7QTyMyWiIOJcQPD1oNWjiDaPEA1x5PFWVWOoMDt4bbzxuPWlPvzMQy9pddHrXCxJrU3fPod3ySosYk4dIQ3o1vJ998K+zqvHExWxN2sHvJPVx9SvdvVaoJpbnKT8jTVPMbxwOvmCAS/o0UeD1/oriRC1NWjlF07OSnYWHvAdu3cSSIW950Y83u47x20g1xtVZ2M2R4adwcdkTZC7fP3LD4+9a+tzS4bbF3wuiycIXbW+yI+WiNgc0PJcCSOnmR9io5Wng7RtaSHubuoPDPF3kZc5/iJuuAasrDPEz6mPOmu+/8Apj6fhxxtt1DvGy7e8ijhhD99Rh8Y5LuDRW1p8LejGtY32i1rW13jhZdtNFt8iq814Q6ewU5sRYNu+nhpMW3lschNnlzi4EchauFjFtBwPh7sNJp/LWckP6nzFuTHjd79/c858ka27+yPTD0+FjjIyGNj3clwjja/nysBe/8Amn9m37xXsxlen1Lx/wA0/s2/eK3LkfNZhDR2ObujyOu8AcNYbNgAeQseSUGhNB3HI8DY6JY4NIcd19OjeennS0ToUXkXD4Vz093Hsj+qb9DiLHRguaJK3bdoJAN+nvWTwP4/7N/6nprfoil8xQ0QZrcNpslvhoOuh5DxH4UFW1LSGBoDJwDI4Nt76bdO54uzR46dArruzUQqi7hzS4miXtB6X7xx8CVI9mYDd7yHG6JBaOvAFdOR/CFHhbVaF6nqPERTvxH6Hnk6PG575BNtLn7y0Fo8QYAQT+6PgCfVQxtGYI2MfOSQS8lrqaS+Puxt+y/jyvSPszFTtxdb3SHh26gSQDZA5r7LI56q0NDi2sbbiI2bW9Pfz8fEVVid24L1PDzpKlkfp9DOOiRu+jGSdwa1tA9Swkm+f1ui9fmNnJOQ4l29zSSKG4jn3+zXvsq9JosbnOcS4F7nOsUCC6ro/UvKfs/C8MsvHdivCa3DdfP9ftKvg/wXqP1F/wBx+iKWRpEIBccjb9IHOoii4E8UD18X1cK3pODGyVzo5d5YwRPb1p3tWT6qMXZqFoIt5u6J2+GyORx1469Vd0vS2Y27YXHeQTuryFeQVhiaknpS+5MmZODSm39i8hCFqMJ5FJSKS8lM3TfY/fk++ValfTS6i4hpIaOrqHQe9VNNPg/fk++VYlaXNLQ4sJaQHiiWkjggHix71wh8p0fM4PC/6gSnBn1B8ONIIIw75LjSyuyseTcQY8lrmeCuLeBXB4W9ldsMeFsb54cyJsjYy578WQRwd5J3bRK7o0k+XPBF9QqMvYYz/KH5eWZp8rCdg99HjxY4ZEXB24taTvduA5J6cClV1v8A6eOzXB8+bueYYYnvOJE43FIXtdFZ+hB4Dg32q6rptZ43ov6326hx2ZZigyZ5NPDhKGwvEIeNtNMtEDh1+dAEkKMva5kUj5ZnSxQR6dHlPxZMUtmj3ZLo+8LrvyrZXTnzVyTsq18OfA6V23VJZZXEMAMHeQsjoc+Ktl3x1VDUuxDslsvfZhdJkadFgvkGO1oqPIdKJA0Or/Ftr3Xaiqu/Ir79S9D20xHtcQMgPZPDj9w/HkZkPknbui2xuo05oJs1wDdL2h7UwPwpdQDZmw44nLhJHskJhsPAaT+cC34grne23ZSWR0k8Imn+VZeDJNFAMfvIo8aCRgLBMdkluLTTqrrzS2OzOkyP004edE1jHtmhETRFG8YjiRGJBD4GybTZ28WnQdUVtJ7UZD5mR5TdPiMsTpnYseYX5+OzujI3dGWgP467aq75Ctwds8eTHblRwZ0kUhpmzDlLnjZuLwPzB03dL6WquH2MkbLDJNnSZDcSGeHHD4ImyBssfd/SyNNyENA8h0SzuwwlxMPF+UV83sDAX48c0U/0ezc6F5Ldw6tPO0+qOuhFfU9srt/gxta68iRr8RmaHQ48kgbiuJBkfQ8AFG7pWNL7UDIzpsJsEwbBHC9uTsd3UgkaXWTVNB42mzu56Us/G7BNZC6AZLiH6T817u6Fhu97u9rd18fs+7qtXTuz7sfKOSzIJZJjQQSwGJtPdA0tY8Pu28E23n4q7Dc1MlcprwcCHC+OvwXXShU8jFa7qFlz43NUjtjlpZxsWW0+YW7oDN79/wDhYKvyLj/9WsvN0qISkbfMdCR5D0XXYcDGMDY2hrasAe//AJWbh8bc9+h1ySVbdT1QzqhDeq+gZzTQhC0HIRFqBiF351X/AIF6IQHm2ECutjzs2ePP1UmtA6CvgpISi2CiGC93nVfVdqSEICEIQAhCEAIQhACEihANK0ihAStK1EoUAikmkoUy9P8AY/fk++VbVKAOjBa5jydzjbWOcCC4kchevf8A6kv8t/4LPF0qOr5li0bl4d/+rJ/Lf+CO/H5sn8t/4K6kSj3tFrw78ej/AOW/8Ejkt8w/+W/8E1IUWLRarfKm/rfwP/BHypv638D/AME1LzFFncjcq/ypnv8A4X/gvN+oRN4c8N/3WP8AlNS8xpZc3JFypfOkH6Vn2ps1GF3SRpr0N0prj5l0vyLRKRXj8sj/ADx/VQdqEPTvWA+m4I5R8xTMTUvyx+I+6Fu4Drjb8K+zhc7qM7XSktIcLHI5HQLc0d9x/BxWbC/6jOk18KLqG9UFNvVaziaKEIWg5ghCEAIQhACEIQAhCEAIQhACEIQAkmkUAJJpFACSaRUAJItJQoIQSkSgBFJWglCjpCSRKlglaLXmXKBkU1Cj3tczr3ilP6rWj+/91uOnAWLmlpcSbBcVm4iVxo641TswMhi3+xEVRySfnybR8GD8SVkZreDS3ezcrRjNA8i7d/uuysvDpLLfkdsr+A3ty4XtbFtyy7ykjY76x4T/AMBdf3y5jtYQ6WOuoY6/gXcf3Wji2pYznh2kZcC6vQPYd/u/sudxsf3rpNIbsBB86IWfhVUj3lexeIQ3qmUN6r6BnNBCELucwQhCAEIQgBCEIAQhCAEIQgBCEIAQhCASEFCASiVIopQpBCdIpQEUlOkqQpGkKVIpSgRpRcFMhRcEYPCRyqyzUrUjVWfDfouM76HtGFkauGyuaT5iufKl5T5zSLsLRy9Ehl5fGxx9SOftVT/0vj/mD4FzyPsKwyhlO6lA5/M1dgO1tvd6MFq9omY9jTuaW7nXXpwtiLRo2cNawD3L1+bx7l4jhyJ3Z7c41RWOpH0WFqupfSh7mkNIAvqBXqumOB8F5v0pruoaV6njySVWeYyimZ2BlNoEEG/NaHzkAqbuysR6FzP9j3NH2dE4uykQNl8jvcZHUpGOZckG4PqbuJkh7QfUK2w8qnjYYYAB0A9SrcbFvhqrc4Srof/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p:cNvSpPr txBox="1"/>
          <p:nvPr/>
        </p:nvSpPr>
        <p:spPr>
          <a:xfrm>
            <a:off x="2873027" y="6324600"/>
            <a:ext cx="3299173" cy="584775"/>
          </a:xfrm>
          <a:prstGeom prst="rect">
            <a:avLst/>
          </a:prstGeom>
          <a:noFill/>
        </p:spPr>
        <p:txBody>
          <a:bodyPr wrap="none" rtlCol="0">
            <a:spAutoFit/>
          </a:bodyPr>
          <a:lstStyle/>
          <a:p>
            <a:r>
              <a:rPr lang="en-GB" sz="1600" dirty="0">
                <a:effectLst/>
                <a:hlinkClick r:id="rId2"/>
              </a:rPr>
              <a:t>https://www.tiobe.com/tiobe-index</a:t>
            </a:r>
            <a:r>
              <a:rPr lang="en-GB" sz="1600" dirty="0" smtClean="0">
                <a:effectLst/>
                <a:hlinkClick r:id="rId2"/>
              </a:rPr>
              <a:t>/</a:t>
            </a:r>
            <a:endParaRPr lang="en-GB" sz="1600" dirty="0" smtClean="0">
              <a:effectLst/>
            </a:endParaRPr>
          </a:p>
          <a:p>
            <a:endParaRPr lang="en-GB" sz="1600" dirty="0" smtClean="0">
              <a:effectLst/>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33600"/>
            <a:ext cx="9144000" cy="3686989"/>
          </a:xfrm>
          <a:prstGeom prst="rect">
            <a:avLst/>
          </a:prstGeom>
        </p:spPr>
      </p:pic>
    </p:spTree>
    <p:extLst>
      <p:ext uri="{BB962C8B-B14F-4D97-AF65-F5344CB8AC3E}">
        <p14:creationId xmlns:p14="http://schemas.microsoft.com/office/powerpoint/2010/main" val="13753963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mp;lt;strong&amp;gt;Figure 3.&amp;lt;/strong&amp;gt; Di-photon (&amp;amp;gamma;&amp;amp;gamma;) invariant mass distribution for the CMS data of 2011 and 2012 (black points with error bars). The data are weighted by the signal to background ratio for each sub-category of events. The solid red line shows the fit result for signal plus background; the dashed red line shows only the background.&amp;lt;br /&amp;gt;&amp;lt;a href=&amp;quot;https://cdsweb.cern.ch/record/1459463/files/Fig3-MassFactSoBWeightedMass.png&amp;quot;&amp;gt;DOWNLOAD this plot&amp;lt;/a&amp;g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6146" y="2350598"/>
            <a:ext cx="3291173" cy="317422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28600" y="381000"/>
            <a:ext cx="8686800" cy="1066800"/>
          </a:xfrm>
        </p:spPr>
        <p:txBody>
          <a:bodyPr>
            <a:normAutofit/>
          </a:bodyPr>
          <a:lstStyle/>
          <a:p>
            <a:r>
              <a:rPr lang="da-DK" sz="3200" b="1" dirty="0"/>
              <a:t>Free advert </a:t>
            </a:r>
            <a:r>
              <a:rPr lang="da-DK" sz="3200" b="1" dirty="0" smtClean="0"/>
              <a:t>(#3)</a:t>
            </a:r>
            <a:endParaRPr lang="en-US" sz="3200" dirty="0"/>
          </a:p>
        </p:txBody>
      </p:sp>
      <p:sp>
        <p:nvSpPr>
          <p:cNvPr id="3" name="Content Placeholder 2"/>
          <p:cNvSpPr>
            <a:spLocks noGrp="1"/>
          </p:cNvSpPr>
          <p:nvPr>
            <p:ph idx="1"/>
          </p:nvPr>
        </p:nvSpPr>
        <p:spPr>
          <a:xfrm>
            <a:off x="304800" y="1371600"/>
            <a:ext cx="8686800" cy="1752600"/>
          </a:xfrm>
        </p:spPr>
        <p:txBody>
          <a:bodyPr>
            <a:normAutofit/>
          </a:bodyPr>
          <a:lstStyle/>
          <a:p>
            <a:r>
              <a:rPr lang="da-DK" dirty="0" smtClean="0"/>
              <a:t>Is this a right course for you? ROOT, what’s that?</a:t>
            </a:r>
            <a:endParaRPr lang="en-US" dirty="0" smtClean="0"/>
          </a:p>
          <a:p>
            <a:pPr lvl="1"/>
            <a:r>
              <a:rPr lang="en-GB" dirty="0" smtClean="0"/>
              <a:t>If you have ever asked yourself what is the software in which the Higgs discovery plots were actually made </a:t>
            </a:r>
            <a:r>
              <a:rPr lang="en-DE" dirty="0" smtClean="0"/>
              <a:t>…</a:t>
            </a:r>
            <a:r>
              <a:rPr lang="en-GB" dirty="0" smtClean="0"/>
              <a:t> </a:t>
            </a:r>
            <a:endParaRPr lang="en-US" dirty="0"/>
          </a:p>
          <a:p>
            <a:pPr lvl="1"/>
            <a:endParaRPr lang="en-GB"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30</a:t>
            </a:fld>
            <a:endParaRPr lang="en-US" dirty="0"/>
          </a:p>
        </p:txBody>
      </p:sp>
      <p:pic>
        <p:nvPicPr>
          <p:cNvPr id="1026" name="Picture 2" descr="http://atlas.web.cern.ch/Atlas/GROUPS/PHYSICS/PAPERS/HIGG-2013-02/fig_0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881" y="2514600"/>
            <a:ext cx="4033919" cy="2895600"/>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304800" y="5486400"/>
            <a:ext cx="8686800" cy="1076069"/>
          </a:xfrm>
          <a:prstGeom prst="rect">
            <a:avLst/>
          </a:prstGeom>
        </p:spPr>
        <p:txBody>
          <a:bodyPr vert="horz">
            <a:normAutofit lnSpcReduction="10000"/>
          </a:bodyPr>
          <a:lstStyle>
            <a:lvl1pPr marL="365760" indent="-256032" algn="l" rtl="0" eaLnBrk="1" latinLnBrk="0" hangingPunct="1">
              <a:spcBef>
                <a:spcPts val="300"/>
              </a:spcBef>
              <a:buClr>
                <a:schemeClr val="tx1"/>
              </a:buClr>
              <a:buSzPct val="125000"/>
              <a:buFont typeface="Arial" panose="020B0604020202020204" pitchFamily="34" charset="0"/>
              <a:buChar char="•"/>
              <a:defRPr kumimoji="0" sz="2400" kern="1200">
                <a:solidFill>
                  <a:schemeClr val="tx1"/>
                </a:solidFill>
                <a:latin typeface="Helvetica" pitchFamily="34" charset="0"/>
                <a:ea typeface="+mn-ea"/>
                <a:cs typeface="+mn-cs"/>
              </a:defRPr>
            </a:lvl1pPr>
            <a:lvl2pPr marL="658368" indent="-246888" algn="l" rtl="0" eaLnBrk="1" latinLnBrk="0" hangingPunct="1">
              <a:spcBef>
                <a:spcPts val="300"/>
              </a:spcBef>
              <a:buClr>
                <a:schemeClr val="accent2"/>
              </a:buClr>
              <a:buSzPct val="90000"/>
              <a:buFont typeface="Courier New" panose="02070309020205020404" pitchFamily="49" charset="0"/>
              <a:buChar char="o"/>
              <a:defRPr kumimoji="0" sz="2200" kern="1200">
                <a:solidFill>
                  <a:schemeClr val="accent2"/>
                </a:solidFill>
                <a:latin typeface="Helvetica" pitchFamily="34" charset="0"/>
                <a:ea typeface="+mn-ea"/>
                <a:cs typeface="+mn-cs"/>
              </a:defRPr>
            </a:lvl2pPr>
            <a:lvl3pPr marL="923544" indent="-219456" algn="l" rtl="0" eaLnBrk="1" latinLnBrk="0" hangingPunct="1">
              <a:spcBef>
                <a:spcPts val="300"/>
              </a:spcBef>
              <a:buClr>
                <a:schemeClr val="accent1"/>
              </a:buClr>
              <a:buFont typeface="Wingdings 2"/>
              <a:buChar char=""/>
              <a:defRPr kumimoji="0" sz="1800" kern="1200">
                <a:solidFill>
                  <a:schemeClr val="accent1"/>
                </a:solidFill>
                <a:latin typeface="Helvetica" pitchFamily="34" charset="0"/>
                <a:ea typeface="+mn-ea"/>
                <a:cs typeface="+mn-cs"/>
              </a:defRPr>
            </a:lvl3pPr>
            <a:lvl4pPr marL="1179576" indent="-201168" algn="l" rtl="0" eaLnBrk="1" latinLnBrk="0" hangingPunct="1">
              <a:spcBef>
                <a:spcPts val="300"/>
              </a:spcBef>
              <a:buClr>
                <a:schemeClr val="accent1"/>
              </a:buClr>
              <a:buFont typeface="Wingdings 2"/>
              <a:buChar char=""/>
              <a:defRPr kumimoji="0" sz="1400" kern="1200">
                <a:solidFill>
                  <a:schemeClr val="accent1"/>
                </a:solidFill>
                <a:latin typeface="Helvetica" pitchFamily="34" charset="0"/>
                <a:ea typeface="+mn-ea"/>
                <a:cs typeface="+mn-cs"/>
              </a:defRPr>
            </a:lvl4pPr>
            <a:lvl5pPr marL="1389888" indent="-182880" algn="l" rtl="0" eaLnBrk="1" latinLnBrk="0" hangingPunct="1">
              <a:spcBef>
                <a:spcPts val="300"/>
              </a:spcBef>
              <a:buClr>
                <a:schemeClr val="accent3"/>
              </a:buClr>
              <a:buFont typeface="Georgia"/>
              <a:buChar char="▫"/>
              <a:defRPr kumimoji="0" sz="1400" kern="1200">
                <a:solidFill>
                  <a:schemeClr val="accent3"/>
                </a:solidFill>
                <a:latin typeface="Helvetica" pitchFamily="34" charset="0"/>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11480" lvl="1" indent="0" fontAlgn="auto">
              <a:spcAft>
                <a:spcPts val="0"/>
              </a:spcAft>
              <a:buNone/>
            </a:pPr>
            <a:r>
              <a:rPr lang="en-GB" dirty="0" smtClean="0">
                <a:effectLst/>
              </a:rPr>
              <a:t>   </a:t>
            </a:r>
            <a:r>
              <a:rPr lang="en-DE" dirty="0" smtClean="0">
                <a:effectLst/>
              </a:rPr>
              <a:t>…</a:t>
            </a:r>
            <a:r>
              <a:rPr lang="en-GB" dirty="0" smtClean="0">
                <a:effectLst/>
              </a:rPr>
              <a:t> then this is the right course for you!</a:t>
            </a:r>
          </a:p>
          <a:p>
            <a:pPr lvl="1" fontAlgn="auto">
              <a:spcAft>
                <a:spcPts val="0"/>
              </a:spcAft>
            </a:pPr>
            <a:r>
              <a:rPr lang="en-GB" dirty="0" smtClean="0">
                <a:effectLst/>
              </a:rPr>
              <a:t>At the very basic level, we can use ROOT for plotting, </a:t>
            </a:r>
            <a:r>
              <a:rPr lang="en-GB" dirty="0" err="1" smtClean="0">
                <a:effectLst/>
              </a:rPr>
              <a:t>histogramming</a:t>
            </a:r>
            <a:r>
              <a:rPr lang="en-GB" dirty="0">
                <a:effectLst/>
              </a:rPr>
              <a:t>,</a:t>
            </a:r>
            <a:r>
              <a:rPr lang="en-GB" dirty="0" smtClean="0">
                <a:effectLst/>
              </a:rPr>
              <a:t> fitting, etc.</a:t>
            </a:r>
          </a:p>
          <a:p>
            <a:pPr lvl="1" fontAlgn="auto">
              <a:spcAft>
                <a:spcPts val="0"/>
              </a:spcAft>
            </a:pPr>
            <a:endParaRPr lang="en-US" dirty="0" smtClean="0">
              <a:effectLst/>
            </a:endParaRPr>
          </a:p>
        </p:txBody>
      </p:sp>
    </p:spTree>
    <p:extLst>
      <p:ext uri="{BB962C8B-B14F-4D97-AF65-F5344CB8AC3E}">
        <p14:creationId xmlns:p14="http://schemas.microsoft.com/office/powerpoint/2010/main" val="377315724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https://cds.cern.ch/record/2202730/files/PbPb5TeV_redOnWhite.png?subformat=icon-144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2600" y="2209800"/>
            <a:ext cx="5292347"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28600" y="381000"/>
            <a:ext cx="8686800" cy="1066800"/>
          </a:xfrm>
        </p:spPr>
        <p:txBody>
          <a:bodyPr>
            <a:normAutofit/>
          </a:bodyPr>
          <a:lstStyle/>
          <a:p>
            <a:r>
              <a:rPr lang="da-DK" sz="3200" b="1" dirty="0"/>
              <a:t>Free advert (#3)</a:t>
            </a:r>
            <a:endParaRPr lang="en-US" sz="3200" dirty="0"/>
          </a:p>
        </p:txBody>
      </p:sp>
      <p:sp>
        <p:nvSpPr>
          <p:cNvPr id="3" name="Content Placeholder 2"/>
          <p:cNvSpPr>
            <a:spLocks noGrp="1"/>
          </p:cNvSpPr>
          <p:nvPr>
            <p:ph idx="1"/>
          </p:nvPr>
        </p:nvSpPr>
        <p:spPr>
          <a:xfrm>
            <a:off x="304800" y="1371600"/>
            <a:ext cx="8686800" cy="1295399"/>
          </a:xfrm>
        </p:spPr>
        <p:txBody>
          <a:bodyPr>
            <a:normAutofit/>
          </a:bodyPr>
          <a:lstStyle/>
          <a:p>
            <a:r>
              <a:rPr lang="da-DK" dirty="0" smtClean="0"/>
              <a:t>This is the typical heavy-ion event at Large Hadron Collider reconstructed by ALICE Collaboration</a:t>
            </a:r>
            <a:endParaRPr lang="en-US"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31</a:t>
            </a:fld>
            <a:endParaRPr lang="en-US" dirty="0"/>
          </a:p>
        </p:txBody>
      </p:sp>
    </p:spTree>
    <p:extLst>
      <p:ext uri="{BB962C8B-B14F-4D97-AF65-F5344CB8AC3E}">
        <p14:creationId xmlns:p14="http://schemas.microsoft.com/office/powerpoint/2010/main" val="23540576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a:t>Free advert (#3)</a:t>
            </a:r>
            <a:endParaRPr lang="en-US" sz="3200" dirty="0"/>
          </a:p>
        </p:txBody>
      </p:sp>
      <p:sp>
        <p:nvSpPr>
          <p:cNvPr id="3" name="Content Placeholder 2"/>
          <p:cNvSpPr>
            <a:spLocks noGrp="1"/>
          </p:cNvSpPr>
          <p:nvPr>
            <p:ph idx="1"/>
          </p:nvPr>
        </p:nvSpPr>
        <p:spPr>
          <a:xfrm>
            <a:off x="304800" y="1371600"/>
            <a:ext cx="8686800" cy="3581400"/>
          </a:xfrm>
        </p:spPr>
        <p:txBody>
          <a:bodyPr>
            <a:normAutofit/>
          </a:bodyPr>
          <a:lstStyle/>
          <a:p>
            <a:r>
              <a:rPr lang="da-DK" dirty="0" smtClean="0"/>
              <a:t>Trajectories of more than 10000 particles are reconstructed by AliROOT (C++ code specific to ALICE Collaboration built on top of ROOT)</a:t>
            </a:r>
          </a:p>
          <a:p>
            <a:r>
              <a:rPr lang="da-DK" dirty="0" smtClean="0"/>
              <a:t>Most important major collaborations worldwide in high-energy physics currently use ROOT </a:t>
            </a:r>
          </a:p>
          <a:p>
            <a:pPr lvl="1"/>
            <a:r>
              <a:rPr lang="en-GB" dirty="0" smtClean="0"/>
              <a:t>Also the future ones (e.g. CBM at GSI is developing CbmRoot) </a:t>
            </a:r>
            <a:endParaRPr lang="en-US"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32</a:t>
            </a:fld>
            <a:endParaRPr lang="en-US" dirty="0"/>
          </a:p>
        </p:txBody>
      </p:sp>
    </p:spTree>
    <p:extLst>
      <p:ext uri="{BB962C8B-B14F-4D97-AF65-F5344CB8AC3E}">
        <p14:creationId xmlns:p14="http://schemas.microsoft.com/office/powerpoint/2010/main" val="203644000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a:t>Free advert </a:t>
            </a:r>
            <a:r>
              <a:rPr lang="da-DK" sz="3200" b="1" dirty="0" smtClean="0"/>
              <a:t>(#4)</a:t>
            </a:r>
            <a:endParaRPr lang="en-US" sz="3200" dirty="0"/>
          </a:p>
        </p:txBody>
      </p:sp>
      <p:sp>
        <p:nvSpPr>
          <p:cNvPr id="3" name="Content Placeholder 2"/>
          <p:cNvSpPr>
            <a:spLocks noGrp="1"/>
          </p:cNvSpPr>
          <p:nvPr>
            <p:ph idx="1"/>
          </p:nvPr>
        </p:nvSpPr>
        <p:spPr>
          <a:xfrm>
            <a:off x="304800" y="1371600"/>
            <a:ext cx="8686800" cy="1295399"/>
          </a:xfrm>
        </p:spPr>
        <p:txBody>
          <a:bodyPr>
            <a:normAutofit/>
          </a:bodyPr>
          <a:lstStyle/>
          <a:p>
            <a:r>
              <a:rPr lang="da-DK" dirty="0" smtClean="0"/>
              <a:t>In terms of histogramming quality and performance, it’s difficult to beat ROOT...</a:t>
            </a:r>
            <a:endParaRPr lang="en-US"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33</a:t>
            </a:fld>
            <a:endParaRPr lang="en-US" dirty="0"/>
          </a:p>
        </p:txBody>
      </p:sp>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470562"/>
            <a:ext cx="6905625" cy="3930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73039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686800" cy="1066800"/>
          </a:xfrm>
        </p:spPr>
        <p:txBody>
          <a:bodyPr>
            <a:normAutofit/>
          </a:bodyPr>
          <a:lstStyle/>
          <a:p>
            <a:r>
              <a:rPr lang="da-DK" sz="3200" b="1" dirty="0" smtClean="0"/>
              <a:t>ROOT</a:t>
            </a:r>
            <a:endParaRPr lang="en-US" sz="3200" dirty="0"/>
          </a:p>
        </p:txBody>
      </p:sp>
      <p:sp>
        <p:nvSpPr>
          <p:cNvPr id="3" name="Content Placeholder 2"/>
          <p:cNvSpPr>
            <a:spLocks noGrp="1"/>
          </p:cNvSpPr>
          <p:nvPr>
            <p:ph idx="1"/>
          </p:nvPr>
        </p:nvSpPr>
        <p:spPr>
          <a:xfrm>
            <a:off x="304800" y="1371600"/>
            <a:ext cx="8686800" cy="3124200"/>
          </a:xfrm>
        </p:spPr>
        <p:txBody>
          <a:bodyPr>
            <a:normAutofit lnSpcReduction="10000"/>
          </a:bodyPr>
          <a:lstStyle/>
          <a:p>
            <a:r>
              <a:rPr lang="en-GB" dirty="0" smtClean="0"/>
              <a:t>Object-oriented framework, written in </a:t>
            </a:r>
            <a:r>
              <a:rPr lang="en-GB" dirty="0"/>
              <a:t>C++ and developed at </a:t>
            </a:r>
            <a:r>
              <a:rPr lang="en-GB" dirty="0" smtClean="0"/>
              <a:t>CERN, </a:t>
            </a:r>
            <a:r>
              <a:rPr lang="en-GB" dirty="0"/>
              <a:t>for data analysis in high-energy </a:t>
            </a:r>
            <a:r>
              <a:rPr lang="en-GB" dirty="0" smtClean="0"/>
              <a:t>physics</a:t>
            </a:r>
          </a:p>
          <a:p>
            <a:r>
              <a:rPr lang="en-GB" dirty="0" smtClean="0"/>
              <a:t>The </a:t>
            </a:r>
            <a:r>
              <a:rPr lang="en-GB" dirty="0"/>
              <a:t>development was initiated by René </a:t>
            </a:r>
            <a:r>
              <a:rPr lang="en-GB" dirty="0" err="1"/>
              <a:t>Brun</a:t>
            </a:r>
            <a:r>
              <a:rPr lang="en-GB" dirty="0"/>
              <a:t> and </a:t>
            </a:r>
            <a:r>
              <a:rPr lang="en-GB" dirty="0" err="1"/>
              <a:t>Fons</a:t>
            </a:r>
            <a:r>
              <a:rPr lang="en-GB" dirty="0"/>
              <a:t> </a:t>
            </a:r>
            <a:r>
              <a:rPr lang="en-GB" dirty="0" err="1"/>
              <a:t>Rademakers</a:t>
            </a:r>
            <a:r>
              <a:rPr lang="en-GB" dirty="0"/>
              <a:t> in </a:t>
            </a:r>
            <a:r>
              <a:rPr lang="en-GB" dirty="0" smtClean="0"/>
              <a:t>1994, and is still under active development</a:t>
            </a:r>
          </a:p>
          <a:p>
            <a:pPr lvl="1"/>
            <a:r>
              <a:rPr lang="en-GB" dirty="0" smtClean="0"/>
              <a:t>Latest release</a:t>
            </a:r>
            <a:r>
              <a:rPr lang="en-GB" dirty="0"/>
              <a:t>: Version </a:t>
            </a:r>
            <a:r>
              <a:rPr lang="en-GB" dirty="0" smtClean="0"/>
              <a:t>6.28/00 (February 3, 2023)</a:t>
            </a:r>
          </a:p>
          <a:p>
            <a:r>
              <a:rPr lang="en-GB" dirty="0" smtClean="0"/>
              <a:t>Webpage: </a:t>
            </a:r>
            <a:r>
              <a:rPr lang="en-US" sz="1800" dirty="0">
                <a:hlinkClick r:id="rId2"/>
              </a:rPr>
              <a:t>https://root.cern.ch</a:t>
            </a:r>
            <a:r>
              <a:rPr lang="en-US" sz="1800" dirty="0" smtClean="0">
                <a:hlinkClick r:id="rId2"/>
              </a:rPr>
              <a:t>/</a:t>
            </a:r>
            <a:r>
              <a:rPr lang="en-US" sz="1800" dirty="0" smtClean="0"/>
              <a:t> </a:t>
            </a:r>
          </a:p>
          <a:p>
            <a:r>
              <a:rPr lang="en-GB" dirty="0" smtClean="0"/>
              <a:t>Root forum: </a:t>
            </a:r>
            <a:r>
              <a:rPr lang="en-US" sz="1800" dirty="0">
                <a:hlinkClick r:id="rId3"/>
              </a:rPr>
              <a:t>https://root-forum.cern.ch</a:t>
            </a:r>
            <a:r>
              <a:rPr lang="en-US" sz="1800" dirty="0" smtClean="0">
                <a:hlinkClick r:id="rId3"/>
              </a:rPr>
              <a:t>/</a:t>
            </a:r>
            <a:endParaRPr lang="en-US" sz="1800" dirty="0" smtClean="0"/>
          </a:p>
          <a:p>
            <a:r>
              <a:rPr lang="en-US" dirty="0"/>
              <a:t>Source code: </a:t>
            </a:r>
            <a:r>
              <a:rPr lang="en-US" sz="1800" dirty="0">
                <a:hlinkClick r:id="rId4"/>
              </a:rPr>
              <a:t>https://</a:t>
            </a:r>
            <a:r>
              <a:rPr lang="en-US" sz="1800" dirty="0" smtClean="0">
                <a:hlinkClick r:id="rId4"/>
              </a:rPr>
              <a:t>github.com/root-project/root</a:t>
            </a:r>
            <a:endParaRPr lang="en-US" sz="1800" dirty="0" smtClean="0"/>
          </a:p>
          <a:p>
            <a:endParaRPr lang="en-US" dirty="0" smtClean="0"/>
          </a:p>
          <a:p>
            <a:endParaRPr lang="en-US" dirty="0" smtClean="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34</a:t>
            </a:fld>
            <a:endParaRPr lang="en-US" dirty="0"/>
          </a:p>
        </p:txBody>
      </p:sp>
      <p:pic>
        <p:nvPicPr>
          <p:cNvPr id="5122" name="Picture 2" descr="https://root.cern.ch/img/logos/ROOT_Logo/misc/logo_full-plus-text-hor.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4343400"/>
            <a:ext cx="6626225" cy="2264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85735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895600"/>
            <a:ext cx="8839200" cy="838200"/>
          </a:xfrm>
        </p:spPr>
        <p:txBody>
          <a:bodyPr>
            <a:noAutofit/>
          </a:bodyPr>
          <a:lstStyle/>
          <a:p>
            <a:pPr algn="ctr"/>
            <a:r>
              <a:rPr lang="da-DK" b="1" dirty="0" smtClean="0"/>
              <a:t>Thanks!</a:t>
            </a:r>
            <a:endParaRPr lang="en-US" dirty="0"/>
          </a:p>
        </p:txBody>
      </p:sp>
      <p:sp>
        <p:nvSpPr>
          <p:cNvPr id="4" name="Slide Number Placeholder 3"/>
          <p:cNvSpPr>
            <a:spLocks noGrp="1"/>
          </p:cNvSpPr>
          <p:nvPr>
            <p:ph type="sldNum" sz="quarter" idx="12"/>
          </p:nvPr>
        </p:nvSpPr>
        <p:spPr/>
        <p:txBody>
          <a:bodyPr/>
          <a:lstStyle/>
          <a:p>
            <a:pPr>
              <a:defRPr/>
            </a:pPr>
            <a:fld id="{B3B39CE4-1B0F-442B-AED0-7E4EF4FD7138}" type="slidenum">
              <a:rPr lang="en-US" smtClean="0"/>
              <a:pPr>
                <a:defRPr/>
              </a:pPr>
              <a:t>35</a:t>
            </a:fld>
            <a:endParaRPr lang="en-US" dirty="0"/>
          </a:p>
        </p:txBody>
      </p:sp>
    </p:spTree>
    <p:extLst>
      <p:ext uri="{BB962C8B-B14F-4D97-AF65-F5344CB8AC3E}">
        <p14:creationId xmlns:p14="http://schemas.microsoft.com/office/powerpoint/2010/main" val="299056168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0</TotalTime>
  <Words>1635</Words>
  <Application>Microsoft Office PowerPoint</Application>
  <PresentationFormat>On-screen Show (4:3)</PresentationFormat>
  <Paragraphs>249</Paragraphs>
  <Slides>35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Arial Unicode MS</vt:lpstr>
      <vt:lpstr>Courier New</vt:lpstr>
      <vt:lpstr>Georgia</vt:lpstr>
      <vt:lpstr>Helvetica</vt:lpstr>
      <vt:lpstr>Trebuchet MS</vt:lpstr>
      <vt:lpstr>Wingdings 2</vt:lpstr>
      <vt:lpstr>Urban</vt:lpstr>
      <vt:lpstr>Scientific computing in  high-energy physics Lecture 1, 18.04.2024</vt:lpstr>
      <vt:lpstr>Outline of today’s lecture</vt:lpstr>
      <vt:lpstr>Course trivia</vt:lpstr>
      <vt:lpstr>Course trivia</vt:lpstr>
      <vt:lpstr>Webpage</vt:lpstr>
      <vt:lpstr>Webpage</vt:lpstr>
      <vt:lpstr>Course trivia</vt:lpstr>
      <vt:lpstr>Course trivia</vt:lpstr>
      <vt:lpstr>Course trivia</vt:lpstr>
      <vt:lpstr>Course trivia</vt:lpstr>
      <vt:lpstr>Trivia</vt:lpstr>
      <vt:lpstr>Free adverts</vt:lpstr>
      <vt:lpstr>Free advert (#1)</vt:lpstr>
      <vt:lpstr>Free advert (#1)</vt:lpstr>
      <vt:lpstr>Free advert (#1)</vt:lpstr>
      <vt:lpstr>Free advert (#1)</vt:lpstr>
      <vt:lpstr>Free advert (#1)</vt:lpstr>
      <vt:lpstr>Key people</vt:lpstr>
      <vt:lpstr>Getting Ubuntu for Windows users</vt:lpstr>
      <vt:lpstr>Free advert (#2)</vt:lpstr>
      <vt:lpstr>Free advert (#2)</vt:lpstr>
      <vt:lpstr>Linux shells</vt:lpstr>
      <vt:lpstr>Why shell?</vt:lpstr>
      <vt:lpstr>A bit of Bash history </vt:lpstr>
      <vt:lpstr>The current status of Bash </vt:lpstr>
      <vt:lpstr>Testing Bash code online?</vt:lpstr>
      <vt:lpstr>Interpreted vs. compiled languages  </vt:lpstr>
      <vt:lpstr>Intermezzo: Popularity of languages</vt:lpstr>
      <vt:lpstr>Intermezzo: Popularity of languages</vt:lpstr>
      <vt:lpstr>Free advert (#3)</vt:lpstr>
      <vt:lpstr>Free advert (#3)</vt:lpstr>
      <vt:lpstr>Free advert (#3)</vt:lpstr>
      <vt:lpstr>Free advert (#4)</vt:lpstr>
      <vt:lpstr>ROOT</vt:lpstr>
      <vt:lpstr>Thanks!</vt:lpstr>
    </vt:vector>
  </TitlesOfParts>
  <Company>NIKHEF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adminuser</dc:creator>
  <cp:lastModifiedBy>Ante</cp:lastModifiedBy>
  <cp:revision>4874</cp:revision>
  <dcterms:created xsi:type="dcterms:W3CDTF">2011-04-15T12:26:50Z</dcterms:created>
  <dcterms:modified xsi:type="dcterms:W3CDTF">2024-04-08T10:52:32Z</dcterms:modified>
</cp:coreProperties>
</file>